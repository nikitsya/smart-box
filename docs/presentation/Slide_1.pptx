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1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a Bokariuk" userId="fd5399e8-0949-4b9d-b255-fc007b27d60c" providerId="ADAL" clId="{8C1C02D4-1D0A-483D-B224-A1E06DCB062F}"/>
    <pc:docChg chg="modSld">
      <pc:chgData name="Hanna Bokariuk" userId="fd5399e8-0949-4b9d-b255-fc007b27d60c" providerId="ADAL" clId="{8C1C02D4-1D0A-483D-B224-A1E06DCB062F}" dt="2026-10-05T22:30:04.809" v="2" actId="1076"/>
      <pc:docMkLst>
        <pc:docMk/>
      </pc:docMkLst>
      <pc:sldChg chg="modSp mod">
        <pc:chgData name="Hanna Bokariuk" userId="fd5399e8-0949-4b9d-b255-fc007b27d60c" providerId="ADAL" clId="{8C1C02D4-1D0A-483D-B224-A1E06DCB062F}" dt="2026-10-05T22:30:04.809" v="2" actId="1076"/>
        <pc:sldMkLst>
          <pc:docMk/>
          <pc:sldMk cId="0" sldId="256"/>
        </pc:sldMkLst>
        <pc:spChg chg="mod">
          <ac:chgData name="Hanna Bokariuk" userId="fd5399e8-0949-4b9d-b255-fc007b27d60c" providerId="ADAL" clId="{8C1C02D4-1D0A-483D-B224-A1E06DCB062F}" dt="2026-10-05T22:30:04.809" v="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Hanna Bokariuk" userId="fd5399e8-0949-4b9d-b255-fc007b27d60c" providerId="ADAL" clId="{8C1C02D4-1D0A-483D-B224-A1E06DCB062F}" dt="2026-10-05T22:29:57.236" v="1" actId="1076"/>
          <ac:spMkLst>
            <pc:docMk/>
            <pc:sldMk cId="0" sldId="256"/>
            <ac:spMk id="29" creationId="{A6127068-4B25-9293-33A4-97EF49858F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78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73152"/>
            <a:ext cx="12006072" cy="6702552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B7AACD">
                <a:alpha val="2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pic>
        <p:nvPicPr>
          <p:cNvPr id="3" name="Image 0" descr="/mnt/data/tempsafe_photo_pane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37160"/>
            <a:ext cx="3346704" cy="65653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02736" y="182880"/>
            <a:ext cx="18288" cy="6492240"/>
          </a:xfrm>
          <a:prstGeom prst="rect">
            <a:avLst/>
          </a:prstGeom>
          <a:solidFill>
            <a:srgbClr val="EEEAF6"/>
          </a:solidFill>
          <a:ln w="12700">
            <a:solidFill>
              <a:srgbClr val="EEEA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" name="Text 2"/>
          <p:cNvSpPr/>
          <p:nvPr/>
        </p:nvSpPr>
        <p:spPr>
          <a:xfrm>
            <a:off x="3794760" y="3154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42C8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TempSafe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421632" y="95840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temperature monitoring for a Controlled Drug Box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886200" y="1138428"/>
            <a:ext cx="7744968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36492" y="4050792"/>
            <a:ext cx="2514600" cy="16916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8890">
            <a:solidFill>
              <a:srgbClr val="E3DDF0"/>
            </a:solidFill>
            <a:prstDash val="solid"/>
          </a:ln>
          <a:effectLst>
            <a:outerShdw blurRad="25400" dist="50800" dir="2700000" algn="bl" rotWithShape="0">
              <a:srgbClr val="B7AACD">
                <a:alpha val="2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Shape 6"/>
          <p:cNvSpPr/>
          <p:nvPr/>
        </p:nvSpPr>
        <p:spPr>
          <a:xfrm>
            <a:off x="3965331" y="4082797"/>
            <a:ext cx="530352" cy="530352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4041648" y="4133088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♨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654296" y="4179617"/>
            <a:ext cx="2657502" cy="382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53078" y="4757026"/>
            <a:ext cx="2331720" cy="724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temperature inside the Controlled Drug Box in real time</a:t>
            </a:r>
            <a:r>
              <a:rPr lang="en-US" sz="1260" dirty="0">
                <a:solidFill>
                  <a:srgbClr val="5F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6759702" y="4079675"/>
            <a:ext cx="2514600" cy="16916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8890">
            <a:solidFill>
              <a:srgbClr val="E3DDF0"/>
            </a:solidFill>
            <a:prstDash val="solid"/>
          </a:ln>
          <a:effectLst>
            <a:outerShdw blurRad="25400" dist="50800" dir="2700000" algn="bl" rotWithShape="0">
              <a:srgbClr val="B7AACD">
                <a:alpha val="2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Shape 11"/>
          <p:cNvSpPr/>
          <p:nvPr/>
        </p:nvSpPr>
        <p:spPr>
          <a:xfrm>
            <a:off x="6751555" y="4092175"/>
            <a:ext cx="530352" cy="530352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2"/>
          <p:cNvSpPr/>
          <p:nvPr/>
        </p:nvSpPr>
        <p:spPr>
          <a:xfrm>
            <a:off x="6797860" y="4142233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61799" y="4159875"/>
            <a:ext cx="1866665" cy="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Time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63740" y="4739608"/>
            <a:ext cx="2331720" cy="84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how long temperature remains above the safe limit.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400032" y="4040241"/>
            <a:ext cx="2331720" cy="169164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8890">
            <a:solidFill>
              <a:srgbClr val="E3DDF0"/>
            </a:solidFill>
            <a:prstDash val="solid"/>
          </a:ln>
          <a:effectLst>
            <a:outerShdw blurRad="25400" dist="50800" dir="2700000" algn="bl" rotWithShape="0">
              <a:srgbClr val="B7AACD">
                <a:alpha val="28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Shape 16"/>
          <p:cNvSpPr/>
          <p:nvPr/>
        </p:nvSpPr>
        <p:spPr>
          <a:xfrm>
            <a:off x="9445635" y="4082797"/>
            <a:ext cx="530352" cy="530352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7"/>
          <p:cNvSpPr/>
          <p:nvPr/>
        </p:nvSpPr>
        <p:spPr>
          <a:xfrm>
            <a:off x="9515975" y="4134729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368578" y="4217939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9582911" y="4790223"/>
            <a:ext cx="2240281" cy="9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LED visual feedback, a buzzer, and phone notifications.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21923" y="5934456"/>
            <a:ext cx="7691540" cy="667512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8890">
            <a:solidFill>
              <a:srgbClr val="E3DDF0"/>
            </a:solidFill>
            <a:prstDash val="solid"/>
          </a:ln>
          <a:effectLst>
            <a:outerShdw blurRad="25400" dist="50800" dir="2700000" algn="bl" rotWithShape="0">
              <a:srgbClr val="B7AACD">
                <a:alpha val="28000"/>
              </a:srgbClr>
            </a:outerShdw>
          </a:effectLst>
        </p:spPr>
        <p:txBody>
          <a:bodyPr/>
          <a:lstStyle/>
          <a:p>
            <a:endParaRPr lang="en-IE" dirty="0"/>
          </a:p>
        </p:txBody>
      </p:sp>
      <p:sp>
        <p:nvSpPr>
          <p:cNvPr id="24" name="Shape 21"/>
          <p:cNvSpPr/>
          <p:nvPr/>
        </p:nvSpPr>
        <p:spPr>
          <a:xfrm>
            <a:off x="4142232" y="6003036"/>
            <a:ext cx="530352" cy="530352"/>
          </a:xfrm>
          <a:prstGeom prst="ellipse">
            <a:avLst/>
          </a:prstGeom>
          <a:solidFill>
            <a:srgbClr val="ECEBFF"/>
          </a:solidFill>
          <a:ln w="12700">
            <a:solidFill>
              <a:srgbClr val="ECE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2"/>
          <p:cNvSpPr/>
          <p:nvPr/>
        </p:nvSpPr>
        <p:spPr>
          <a:xfrm>
            <a:off x="4207647" y="6071616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✚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829468" y="60175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D3D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750" dirty="0"/>
          </a:p>
        </p:txBody>
      </p:sp>
      <p:sp>
        <p:nvSpPr>
          <p:cNvPr id="27" name="Text 24"/>
          <p:cNvSpPr/>
          <p:nvPr/>
        </p:nvSpPr>
        <p:spPr>
          <a:xfrm>
            <a:off x="6076187" y="6257397"/>
            <a:ext cx="5549763" cy="424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E" dirty="0">
                <a:solidFill>
                  <a:srgbClr val="5E6373"/>
                </a:solidFill>
              </a:rPr>
              <a:t>Less manual work.   Actionable alerts only</a:t>
            </a:r>
            <a:r>
              <a:rPr lang="en-IE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A6127068-4B25-9293-33A4-97EF49858F13}"/>
              </a:ext>
            </a:extLst>
          </p:cNvPr>
          <p:cNvSpPr/>
          <p:nvPr/>
        </p:nvSpPr>
        <p:spPr>
          <a:xfrm>
            <a:off x="3961638" y="1570948"/>
            <a:ext cx="7795260" cy="2074581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8890">
            <a:solidFill>
              <a:srgbClr val="E3DDF0"/>
            </a:solidFill>
            <a:prstDash val="solid"/>
          </a:ln>
          <a:effectLst>
            <a:outerShdw blurRad="533400" dir="3480000" algn="bl" rotWithShape="0">
              <a:srgbClr val="B7AACD">
                <a:alpha val="74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Problem</a:t>
            </a:r>
          </a:p>
          <a:p>
            <a:r>
              <a:rPr lang="en-US" sz="1600" dirty="0">
                <a:solidFill>
                  <a:srgbClr val="5E6373"/>
                </a:solidFill>
              </a:rPr>
              <a:t>• </a:t>
            </a:r>
            <a:r>
              <a:rPr lang="en-US" b="1" dirty="0">
                <a:solidFill>
                  <a:srgbClr val="5E6373"/>
                </a:solidFill>
              </a:rPr>
              <a:t>Loss of Efficacy: </a:t>
            </a:r>
            <a:r>
              <a:rPr lang="en-US" dirty="0">
                <a:solidFill>
                  <a:srgbClr val="5E6373"/>
                </a:solidFill>
              </a:rPr>
              <a:t>Sensitive controlled drugs (Morphine, Fentanyl) degrade when exposed to heat.</a:t>
            </a:r>
            <a:endParaRPr lang="en-US" sz="1600" dirty="0">
              <a:solidFill>
                <a:srgbClr val="5E6373"/>
              </a:solidFill>
            </a:endParaRPr>
          </a:p>
          <a:p>
            <a:r>
              <a:rPr lang="en-US" dirty="0">
                <a:solidFill>
                  <a:srgbClr val="5E6373"/>
                </a:solidFill>
              </a:rPr>
              <a:t>• </a:t>
            </a:r>
            <a:r>
              <a:rPr lang="en-US" b="1" dirty="0">
                <a:solidFill>
                  <a:srgbClr val="5E6373"/>
                </a:solidFill>
              </a:rPr>
              <a:t>Heat Risk: </a:t>
            </a:r>
            <a:r>
              <a:rPr lang="en-US" dirty="0">
                <a:solidFill>
                  <a:srgbClr val="5E6373"/>
                </a:solidFill>
              </a:rPr>
              <a:t>Ambulance storage temperatures often exceed safe limits.</a:t>
            </a:r>
            <a:endParaRPr lang="en-US" sz="1600" dirty="0">
              <a:solidFill>
                <a:srgbClr val="5E6373"/>
              </a:solidFill>
            </a:endParaRPr>
          </a:p>
          <a:p>
            <a:r>
              <a:rPr lang="en-US" sz="1600" dirty="0">
                <a:solidFill>
                  <a:srgbClr val="5E6373"/>
                </a:solidFill>
              </a:rPr>
              <a:t>• </a:t>
            </a:r>
            <a:r>
              <a:rPr lang="en-US" b="1" dirty="0">
                <a:solidFill>
                  <a:srgbClr val="5E6373"/>
                </a:solidFill>
              </a:rPr>
              <a:t>The Blind Spot: </a:t>
            </a:r>
            <a:r>
              <a:rPr lang="en-US" dirty="0">
                <a:solidFill>
                  <a:srgbClr val="5E6373"/>
                </a:solidFill>
              </a:rPr>
              <a:t>Without tracking, it’s impossible to know exposure duration</a:t>
            </a:r>
            <a:r>
              <a:rPr lang="en-US" sz="1600" dirty="0">
                <a:solidFill>
                  <a:srgbClr val="5E6373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111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TempSafe – Problem &amp; Idea</dc:title>
  <dc:subject>TempSafe editable slide</dc:subject>
  <dc:creator>OpenAI</dc:creator>
  <cp:lastModifiedBy>Hanna Bokariuk</cp:lastModifiedBy>
  <cp:revision>2</cp:revision>
  <dcterms:created xsi:type="dcterms:W3CDTF">2026-10-05T21:06:14Z</dcterms:created>
  <dcterms:modified xsi:type="dcterms:W3CDTF">2026-10-05T22:30:13Z</dcterms:modified>
</cp:coreProperties>
</file>