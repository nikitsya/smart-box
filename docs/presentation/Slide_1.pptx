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C4A416-4C3A-495D-9625-8A44EDC70D33}" v="25" dt="2026-10-06T07:56:24.4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87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nna Bokariuk" userId="fd5399e8-0949-4b9d-b255-fc007b27d60c" providerId="ADAL" clId="{8C1C02D4-1D0A-483D-B224-A1E06DCB062F}"/>
    <pc:docChg chg="undo custSel modSld">
      <pc:chgData name="Hanna Bokariuk" userId="fd5399e8-0949-4b9d-b255-fc007b27d60c" providerId="ADAL" clId="{8C1C02D4-1D0A-483D-B224-A1E06DCB062F}" dt="2026-10-06T07:56:36.618" v="46" actId="1076"/>
      <pc:docMkLst>
        <pc:docMk/>
      </pc:docMkLst>
      <pc:sldChg chg="addSp delSp modSp mod modAnim">
        <pc:chgData name="Hanna Bokariuk" userId="fd5399e8-0949-4b9d-b255-fc007b27d60c" providerId="ADAL" clId="{8C1C02D4-1D0A-483D-B224-A1E06DCB062F}" dt="2026-10-06T07:56:36.618" v="46" actId="1076"/>
        <pc:sldMkLst>
          <pc:docMk/>
          <pc:sldMk cId="0" sldId="256"/>
        </pc:sldMkLst>
        <pc:spChg chg="add del mod ord">
          <ac:chgData name="Hanna Bokariuk" userId="fd5399e8-0949-4b9d-b255-fc007b27d60c" providerId="ADAL" clId="{8C1C02D4-1D0A-483D-B224-A1E06DCB062F}" dt="2026-10-06T07:56:36.618" v="46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5T22:30:04.809" v="2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3:17.626" v="32" actId="164"/>
          <ac:spMkLst>
            <pc:docMk/>
            <pc:sldMk cId="0" sldId="256"/>
            <ac:spMk id="8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3:17.626" v="32" actId="164"/>
          <ac:spMkLst>
            <pc:docMk/>
            <pc:sldMk cId="0" sldId="256"/>
            <ac:spMk id="9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3:17.626" v="32" actId="164"/>
          <ac:spMkLst>
            <pc:docMk/>
            <pc:sldMk cId="0" sldId="256"/>
            <ac:spMk id="10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3:17.626" v="32" actId="164"/>
          <ac:spMkLst>
            <pc:docMk/>
            <pc:sldMk cId="0" sldId="256"/>
            <ac:spMk id="11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3:17.626" v="32" actId="164"/>
          <ac:spMkLst>
            <pc:docMk/>
            <pc:sldMk cId="0" sldId="256"/>
            <ac:spMk id="12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2:11.583" v="25" actId="164"/>
          <ac:spMkLst>
            <pc:docMk/>
            <pc:sldMk cId="0" sldId="256"/>
            <ac:spMk id="13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2:11.583" v="25" actId="164"/>
          <ac:spMkLst>
            <pc:docMk/>
            <pc:sldMk cId="0" sldId="256"/>
            <ac:spMk id="14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2:11.583" v="25" actId="164"/>
          <ac:spMkLst>
            <pc:docMk/>
            <pc:sldMk cId="0" sldId="256"/>
            <ac:spMk id="15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2:11.583" v="25" actId="164"/>
          <ac:spMkLst>
            <pc:docMk/>
            <pc:sldMk cId="0" sldId="256"/>
            <ac:spMk id="16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2:11.583" v="25" actId="164"/>
          <ac:spMkLst>
            <pc:docMk/>
            <pc:sldMk cId="0" sldId="256"/>
            <ac:spMk id="17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1:55.819" v="24" actId="164"/>
          <ac:spMkLst>
            <pc:docMk/>
            <pc:sldMk cId="0" sldId="256"/>
            <ac:spMk id="18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1:55.819" v="24" actId="164"/>
          <ac:spMkLst>
            <pc:docMk/>
            <pc:sldMk cId="0" sldId="256"/>
            <ac:spMk id="19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1:55.819" v="24" actId="164"/>
          <ac:spMkLst>
            <pc:docMk/>
            <pc:sldMk cId="0" sldId="256"/>
            <ac:spMk id="20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1:55.819" v="24" actId="164"/>
          <ac:spMkLst>
            <pc:docMk/>
            <pc:sldMk cId="0" sldId="256"/>
            <ac:spMk id="21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1:55.819" v="24" actId="164"/>
          <ac:spMkLst>
            <pc:docMk/>
            <pc:sldMk cId="0" sldId="256"/>
            <ac:spMk id="22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6:18.513" v="44" actId="164"/>
          <ac:spMkLst>
            <pc:docMk/>
            <pc:sldMk cId="0" sldId="256"/>
            <ac:spMk id="23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6:18.513" v="44" actId="164"/>
          <ac:spMkLst>
            <pc:docMk/>
            <pc:sldMk cId="0" sldId="256"/>
            <ac:spMk id="24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6:18.513" v="44" actId="164"/>
          <ac:spMkLst>
            <pc:docMk/>
            <pc:sldMk cId="0" sldId="256"/>
            <ac:spMk id="25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6:18.513" v="44" actId="164"/>
          <ac:spMkLst>
            <pc:docMk/>
            <pc:sldMk cId="0" sldId="256"/>
            <ac:spMk id="26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6T07:56:18.513" v="44" actId="164"/>
          <ac:spMkLst>
            <pc:docMk/>
            <pc:sldMk cId="0" sldId="256"/>
            <ac:spMk id="27" creationId="{00000000-0000-0000-0000-000000000000}"/>
          </ac:spMkLst>
        </pc:spChg>
        <pc:spChg chg="mod">
          <ac:chgData name="Hanna Bokariuk" userId="fd5399e8-0949-4b9d-b255-fc007b27d60c" providerId="ADAL" clId="{8C1C02D4-1D0A-483D-B224-A1E06DCB062F}" dt="2026-10-05T22:29:57.236" v="1" actId="1076"/>
          <ac:spMkLst>
            <pc:docMk/>
            <pc:sldMk cId="0" sldId="256"/>
            <ac:spMk id="29" creationId="{A6127068-4B25-9293-33A4-97EF49858F13}"/>
          </ac:spMkLst>
        </pc:spChg>
        <pc:grpChg chg="add mod">
          <ac:chgData name="Hanna Bokariuk" userId="fd5399e8-0949-4b9d-b255-fc007b27d60c" providerId="ADAL" clId="{8C1C02D4-1D0A-483D-B224-A1E06DCB062F}" dt="2026-10-06T07:51:25.562" v="22" actId="164"/>
          <ac:grpSpMkLst>
            <pc:docMk/>
            <pc:sldMk cId="0" sldId="256"/>
            <ac:grpSpMk id="28" creationId="{6509B96E-BDA4-7EE7-5854-69521607260E}"/>
          </ac:grpSpMkLst>
        </pc:grpChg>
        <pc:grpChg chg="add mod">
          <ac:chgData name="Hanna Bokariuk" userId="fd5399e8-0949-4b9d-b255-fc007b27d60c" providerId="ADAL" clId="{8C1C02D4-1D0A-483D-B224-A1E06DCB062F}" dt="2026-10-06T07:51:55.819" v="24" actId="164"/>
          <ac:grpSpMkLst>
            <pc:docMk/>
            <pc:sldMk cId="0" sldId="256"/>
            <ac:grpSpMk id="30" creationId="{FFB08D8C-4489-86E2-0084-10A640D248DC}"/>
          </ac:grpSpMkLst>
        </pc:grpChg>
        <pc:grpChg chg="add mod">
          <ac:chgData name="Hanna Bokariuk" userId="fd5399e8-0949-4b9d-b255-fc007b27d60c" providerId="ADAL" clId="{8C1C02D4-1D0A-483D-B224-A1E06DCB062F}" dt="2026-10-06T07:52:11.583" v="25" actId="164"/>
          <ac:grpSpMkLst>
            <pc:docMk/>
            <pc:sldMk cId="0" sldId="256"/>
            <ac:grpSpMk id="31" creationId="{18270035-8730-62D3-59B1-01B98DDCD359}"/>
          </ac:grpSpMkLst>
        </pc:grpChg>
        <pc:grpChg chg="add mod">
          <ac:chgData name="Hanna Bokariuk" userId="fd5399e8-0949-4b9d-b255-fc007b27d60c" providerId="ADAL" clId="{8C1C02D4-1D0A-483D-B224-A1E06DCB062F}" dt="2026-10-06T07:53:17.626" v="32" actId="164"/>
          <ac:grpSpMkLst>
            <pc:docMk/>
            <pc:sldMk cId="0" sldId="256"/>
            <ac:grpSpMk id="32" creationId="{416ACE97-F67E-92FE-EC9E-8E5029918450}"/>
          </ac:grpSpMkLst>
        </pc:grpChg>
        <pc:grpChg chg="add mod">
          <ac:chgData name="Hanna Bokariuk" userId="fd5399e8-0949-4b9d-b255-fc007b27d60c" providerId="ADAL" clId="{8C1C02D4-1D0A-483D-B224-A1E06DCB062F}" dt="2026-10-06T07:56:18.513" v="44" actId="164"/>
          <ac:grpSpMkLst>
            <pc:docMk/>
            <pc:sldMk cId="0" sldId="256"/>
            <ac:grpSpMk id="33" creationId="{5A66D382-E3E3-9C5D-23E5-4A63E50CD3DE}"/>
          </ac:grpSpMkLst>
        </pc:grpChg>
      </pc:sldChg>
      <pc:sldChg chg="delSp modSp mod">
        <pc:chgData name="Hanna Bokariuk" userId="fd5399e8-0949-4b9d-b255-fc007b27d60c" providerId="ADAL" clId="{8C1C02D4-1D0A-483D-B224-A1E06DCB062F}" dt="2026-10-06T07:49:44.289" v="19" actId="478"/>
        <pc:sldMkLst>
          <pc:docMk/>
          <pc:sldMk cId="1346267894" sldId="257"/>
        </pc:sldMkLst>
        <pc:spChg chg="del mod">
          <ac:chgData name="Hanna Bokariuk" userId="fd5399e8-0949-4b9d-b255-fc007b27d60c" providerId="ADAL" clId="{8C1C02D4-1D0A-483D-B224-A1E06DCB062F}" dt="2026-10-06T07:49:44.289" v="19" actId="478"/>
          <ac:spMkLst>
            <pc:docMk/>
            <pc:sldMk cId="1346267894" sldId="257"/>
            <ac:spMk id="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2785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E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25" y="98503"/>
            <a:ext cx="11930888" cy="6583680"/>
          </a:xfrm>
          <a:prstGeom prst="roundRect">
            <a:avLst>
              <a:gd name="adj" fmla="val 1774"/>
            </a:avLst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  <a:effectLst>
            <a:outerShdw blurRad="25400" dist="50800" dir="2700000" algn="bl" rotWithShape="0">
              <a:srgbClr val="B7AACD">
                <a:alpha val="28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pic>
        <p:nvPicPr>
          <p:cNvPr id="3" name="Image 0" descr="/mnt/data/tempsafe_photo_panel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37160"/>
            <a:ext cx="3346704" cy="656539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602736" y="182880"/>
            <a:ext cx="18288" cy="6492240"/>
          </a:xfrm>
          <a:prstGeom prst="rect">
            <a:avLst/>
          </a:prstGeom>
          <a:solidFill>
            <a:srgbClr val="EEEAF6"/>
          </a:solidFill>
          <a:ln w="12700">
            <a:solidFill>
              <a:srgbClr val="EEEA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" name="Text 2"/>
          <p:cNvSpPr/>
          <p:nvPr/>
        </p:nvSpPr>
        <p:spPr>
          <a:xfrm>
            <a:off x="3794760" y="315468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142C8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TempSafe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421632" y="958404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temperature monitoring for a Controlled Drug Box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3886200" y="1138428"/>
            <a:ext cx="7744968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endParaRPr lang="en-US" sz="155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16ACE97-F67E-92FE-EC9E-8E5029918450}"/>
              </a:ext>
            </a:extLst>
          </p:cNvPr>
          <p:cNvGrpSpPr/>
          <p:nvPr/>
        </p:nvGrpSpPr>
        <p:grpSpPr>
          <a:xfrm>
            <a:off x="3936492" y="4050792"/>
            <a:ext cx="2514600" cy="1691640"/>
            <a:chOff x="3936492" y="4050792"/>
            <a:chExt cx="2514600" cy="1691640"/>
          </a:xfrm>
        </p:grpSpPr>
        <p:sp>
          <p:nvSpPr>
            <p:cNvPr id="8" name="Shape 5"/>
            <p:cNvSpPr/>
            <p:nvPr/>
          </p:nvSpPr>
          <p:spPr>
            <a:xfrm>
              <a:off x="3936492" y="4050792"/>
              <a:ext cx="2514600" cy="1691640"/>
            </a:xfrm>
            <a:prstGeom prst="roundRect">
              <a:avLst>
                <a:gd name="adj" fmla="val 5946"/>
              </a:avLst>
            </a:prstGeom>
            <a:solidFill>
              <a:srgbClr val="FFFFFF"/>
            </a:solidFill>
            <a:ln w="8890">
              <a:solidFill>
                <a:srgbClr val="E3DDF0"/>
              </a:solidFill>
              <a:prstDash val="solid"/>
            </a:ln>
            <a:effectLst>
              <a:outerShdw blurRad="25400" dist="50800" dir="2700000" algn="bl" rotWithShape="0">
                <a:srgbClr val="B7AACD">
                  <a:alpha val="28000"/>
                </a:srgbClr>
              </a:outerShdw>
            </a:effectLst>
          </p:spPr>
          <p:txBody>
            <a:bodyPr/>
            <a:lstStyle/>
            <a:p>
              <a:endParaRPr lang="en-IE"/>
            </a:p>
          </p:txBody>
        </p:sp>
        <p:sp>
          <p:nvSpPr>
            <p:cNvPr id="9" name="Shape 6"/>
            <p:cNvSpPr/>
            <p:nvPr/>
          </p:nvSpPr>
          <p:spPr>
            <a:xfrm>
              <a:off x="3965331" y="4082797"/>
              <a:ext cx="530352" cy="530352"/>
            </a:xfrm>
            <a:prstGeom prst="ellipse">
              <a:avLst/>
            </a:prstGeom>
            <a:solidFill>
              <a:srgbClr val="ECEBFF"/>
            </a:solidFill>
            <a:ln w="12700">
              <a:solidFill>
                <a:srgbClr val="ECEB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0" name="Text 7"/>
            <p:cNvSpPr/>
            <p:nvPr/>
          </p:nvSpPr>
          <p:spPr>
            <a:xfrm>
              <a:off x="4041648" y="4133088"/>
              <a:ext cx="42062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200" dirty="0">
                  <a:solidFill>
                    <a:srgbClr val="1D3D9C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♨</a:t>
              </a:r>
              <a:endParaRPr lang="en-US" sz="2200" dirty="0"/>
            </a:p>
          </p:txBody>
        </p:sp>
        <p:sp>
          <p:nvSpPr>
            <p:cNvPr id="11" name="Text 8"/>
            <p:cNvSpPr/>
            <p:nvPr/>
          </p:nvSpPr>
          <p:spPr>
            <a:xfrm>
              <a:off x="4654296" y="4179617"/>
              <a:ext cx="1637640" cy="5599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D3D9C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Continuous </a:t>
              </a:r>
            </a:p>
            <a:p>
              <a:pPr marL="0" indent="0" algn="l">
                <a:buNone/>
              </a:pPr>
              <a:r>
                <a:rPr lang="en-US" b="1" dirty="0">
                  <a:solidFill>
                    <a:srgbClr val="1D3D9C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Monitoring</a:t>
              </a:r>
              <a:endParaRPr lang="en-US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4053078" y="4757026"/>
              <a:ext cx="2331720" cy="7244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lnSpcReduction="10000"/>
            </a:bodyPr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5F6375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Tracks temperature inside the Controlled Drug Box in real time</a:t>
              </a:r>
              <a:r>
                <a:rPr lang="en-US" sz="1260" dirty="0">
                  <a:solidFill>
                    <a:srgbClr val="5F6375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.</a:t>
              </a:r>
              <a:endParaRPr lang="en-US" sz="126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270035-8730-62D3-59B1-01B98DDCD359}"/>
              </a:ext>
            </a:extLst>
          </p:cNvPr>
          <p:cNvGrpSpPr/>
          <p:nvPr/>
        </p:nvGrpSpPr>
        <p:grpSpPr>
          <a:xfrm>
            <a:off x="6751555" y="4079675"/>
            <a:ext cx="2643905" cy="1691640"/>
            <a:chOff x="6751555" y="4079675"/>
            <a:chExt cx="2643905" cy="1691640"/>
          </a:xfrm>
        </p:grpSpPr>
        <p:sp>
          <p:nvSpPr>
            <p:cNvPr id="13" name="Shape 10"/>
            <p:cNvSpPr/>
            <p:nvPr/>
          </p:nvSpPr>
          <p:spPr>
            <a:xfrm>
              <a:off x="6759702" y="4079675"/>
              <a:ext cx="2514600" cy="1691640"/>
            </a:xfrm>
            <a:prstGeom prst="roundRect">
              <a:avLst>
                <a:gd name="adj" fmla="val 5946"/>
              </a:avLst>
            </a:prstGeom>
            <a:solidFill>
              <a:srgbClr val="FFFFFF"/>
            </a:solidFill>
            <a:ln w="8890">
              <a:solidFill>
                <a:srgbClr val="E3DDF0"/>
              </a:solidFill>
              <a:prstDash val="solid"/>
            </a:ln>
            <a:effectLst>
              <a:outerShdw blurRad="25400" dist="50800" dir="2700000" algn="bl" rotWithShape="0">
                <a:srgbClr val="B7AACD">
                  <a:alpha val="28000"/>
                </a:srgbClr>
              </a:outerShdw>
            </a:effectLst>
          </p:spPr>
          <p:txBody>
            <a:bodyPr/>
            <a:lstStyle/>
            <a:p>
              <a:endParaRPr lang="en-IE"/>
            </a:p>
          </p:txBody>
        </p:sp>
        <p:sp>
          <p:nvSpPr>
            <p:cNvPr id="14" name="Shape 11"/>
            <p:cNvSpPr/>
            <p:nvPr/>
          </p:nvSpPr>
          <p:spPr>
            <a:xfrm>
              <a:off x="6751555" y="4092175"/>
              <a:ext cx="530352" cy="530352"/>
            </a:xfrm>
            <a:prstGeom prst="ellipse">
              <a:avLst/>
            </a:prstGeom>
            <a:solidFill>
              <a:srgbClr val="ECEBFF"/>
            </a:solidFill>
            <a:ln w="12700">
              <a:solidFill>
                <a:srgbClr val="ECEB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5" name="Text 12"/>
            <p:cNvSpPr/>
            <p:nvPr/>
          </p:nvSpPr>
          <p:spPr>
            <a:xfrm>
              <a:off x="6797860" y="4142233"/>
              <a:ext cx="42062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200" dirty="0">
                  <a:solidFill>
                    <a:srgbClr val="1D3D9C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◷</a:t>
              </a:r>
              <a:endParaRPr lang="en-US" sz="220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7461799" y="4159875"/>
              <a:ext cx="1866665" cy="549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D3D9C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Exposure</a:t>
              </a:r>
            </a:p>
            <a:p>
              <a:pPr marL="0" indent="0" algn="l">
                <a:buNone/>
              </a:pPr>
              <a:r>
                <a:rPr lang="en-US" b="1" dirty="0">
                  <a:solidFill>
                    <a:srgbClr val="1D3D9C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 Time</a:t>
              </a:r>
              <a:endParaRPr lang="en-US" dirty="0"/>
            </a:p>
          </p:txBody>
        </p:sp>
        <p:sp>
          <p:nvSpPr>
            <p:cNvPr id="17" name="Text 14"/>
            <p:cNvSpPr/>
            <p:nvPr/>
          </p:nvSpPr>
          <p:spPr>
            <a:xfrm>
              <a:off x="7063740" y="4739608"/>
              <a:ext cx="2331720" cy="8445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5F6375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Records how long temperature remains above the safe limit.</a:t>
              </a:r>
              <a:endParaRPr lang="en-US" sz="1600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FB08D8C-4489-86E2-0084-10A640D248DC}"/>
              </a:ext>
            </a:extLst>
          </p:cNvPr>
          <p:cNvGrpSpPr/>
          <p:nvPr/>
        </p:nvGrpSpPr>
        <p:grpSpPr>
          <a:xfrm>
            <a:off x="9400032" y="4040241"/>
            <a:ext cx="2423160" cy="1691640"/>
            <a:chOff x="9400032" y="4040241"/>
            <a:chExt cx="2423160" cy="1691640"/>
          </a:xfrm>
        </p:grpSpPr>
        <p:sp>
          <p:nvSpPr>
            <p:cNvPr id="18" name="Shape 15"/>
            <p:cNvSpPr/>
            <p:nvPr/>
          </p:nvSpPr>
          <p:spPr>
            <a:xfrm>
              <a:off x="9400032" y="4040241"/>
              <a:ext cx="2331720" cy="1691640"/>
            </a:xfrm>
            <a:prstGeom prst="roundRect">
              <a:avLst>
                <a:gd name="adj" fmla="val 5946"/>
              </a:avLst>
            </a:prstGeom>
            <a:solidFill>
              <a:srgbClr val="FFFFFF"/>
            </a:solidFill>
            <a:ln w="8890">
              <a:solidFill>
                <a:srgbClr val="E3DDF0"/>
              </a:solidFill>
              <a:prstDash val="solid"/>
            </a:ln>
            <a:effectLst>
              <a:outerShdw blurRad="25400" dist="50800" dir="2700000" algn="bl" rotWithShape="0">
                <a:srgbClr val="B7AACD">
                  <a:alpha val="28000"/>
                </a:srgbClr>
              </a:outerShdw>
            </a:effectLst>
          </p:spPr>
          <p:txBody>
            <a:bodyPr/>
            <a:lstStyle/>
            <a:p>
              <a:endParaRPr lang="en-IE"/>
            </a:p>
          </p:txBody>
        </p:sp>
        <p:sp>
          <p:nvSpPr>
            <p:cNvPr id="19" name="Shape 16"/>
            <p:cNvSpPr/>
            <p:nvPr/>
          </p:nvSpPr>
          <p:spPr>
            <a:xfrm>
              <a:off x="9445635" y="4082797"/>
              <a:ext cx="530352" cy="530352"/>
            </a:xfrm>
            <a:prstGeom prst="ellipse">
              <a:avLst/>
            </a:prstGeom>
            <a:solidFill>
              <a:srgbClr val="ECEBFF"/>
            </a:solidFill>
            <a:ln w="12700">
              <a:solidFill>
                <a:srgbClr val="ECEB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20" name="Text 17"/>
            <p:cNvSpPr/>
            <p:nvPr/>
          </p:nvSpPr>
          <p:spPr>
            <a:xfrm>
              <a:off x="9515975" y="4134729"/>
              <a:ext cx="42062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200" dirty="0">
                  <a:solidFill>
                    <a:srgbClr val="1D3D9C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⚠</a:t>
              </a:r>
              <a:endParaRPr lang="en-US" sz="2200" dirty="0"/>
            </a:p>
          </p:txBody>
        </p:sp>
        <p:sp>
          <p:nvSpPr>
            <p:cNvPr id="21" name="Text 18"/>
            <p:cNvSpPr/>
            <p:nvPr/>
          </p:nvSpPr>
          <p:spPr>
            <a:xfrm>
              <a:off x="10368578" y="4217939"/>
              <a:ext cx="1015702" cy="4045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D3D9C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Alerts</a:t>
              </a:r>
              <a:endParaRPr lang="en-US" dirty="0"/>
            </a:p>
          </p:txBody>
        </p:sp>
        <p:sp>
          <p:nvSpPr>
            <p:cNvPr id="22" name="Text 19"/>
            <p:cNvSpPr/>
            <p:nvPr/>
          </p:nvSpPr>
          <p:spPr>
            <a:xfrm>
              <a:off x="9582911" y="4790223"/>
              <a:ext cx="2240281" cy="9189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5F6375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Uses LED visual feedback, a buzzer, and phone notifications.</a:t>
              </a:r>
              <a:endParaRPr lang="en-US" sz="1600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66D382-E3E3-9C5D-23E5-4A63E50CD3DE}"/>
              </a:ext>
            </a:extLst>
          </p:cNvPr>
          <p:cNvGrpSpPr/>
          <p:nvPr/>
        </p:nvGrpSpPr>
        <p:grpSpPr>
          <a:xfrm>
            <a:off x="4021923" y="5934456"/>
            <a:ext cx="7691540" cy="747727"/>
            <a:chOff x="4021923" y="5934456"/>
            <a:chExt cx="7691540" cy="747727"/>
          </a:xfrm>
        </p:grpSpPr>
        <p:sp>
          <p:nvSpPr>
            <p:cNvPr id="23" name="Shape 20"/>
            <p:cNvSpPr/>
            <p:nvPr/>
          </p:nvSpPr>
          <p:spPr>
            <a:xfrm>
              <a:off x="4021923" y="5934456"/>
              <a:ext cx="7691540" cy="667512"/>
            </a:xfrm>
            <a:prstGeom prst="roundRect">
              <a:avLst>
                <a:gd name="adj" fmla="val 8148"/>
              </a:avLst>
            </a:prstGeom>
            <a:solidFill>
              <a:srgbClr val="FFFFFF"/>
            </a:solidFill>
            <a:ln w="8890">
              <a:solidFill>
                <a:srgbClr val="E3DDF0"/>
              </a:solidFill>
              <a:prstDash val="solid"/>
            </a:ln>
            <a:effectLst>
              <a:outerShdw blurRad="25400" dist="50800" dir="2700000" algn="bl" rotWithShape="0">
                <a:srgbClr val="B7AACD">
                  <a:alpha val="28000"/>
                </a:srgbClr>
              </a:outerShdw>
            </a:effectLst>
          </p:spPr>
          <p:txBody>
            <a:bodyPr/>
            <a:lstStyle/>
            <a:p>
              <a:endParaRPr lang="en-IE" dirty="0"/>
            </a:p>
          </p:txBody>
        </p:sp>
        <p:sp>
          <p:nvSpPr>
            <p:cNvPr id="24" name="Shape 21"/>
            <p:cNvSpPr/>
            <p:nvPr/>
          </p:nvSpPr>
          <p:spPr>
            <a:xfrm>
              <a:off x="4142232" y="6003036"/>
              <a:ext cx="530352" cy="530352"/>
            </a:xfrm>
            <a:prstGeom prst="ellipse">
              <a:avLst/>
            </a:prstGeom>
            <a:solidFill>
              <a:srgbClr val="ECEBFF"/>
            </a:solidFill>
            <a:ln w="12700">
              <a:solidFill>
                <a:srgbClr val="ECEB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25" name="Text 22"/>
            <p:cNvSpPr/>
            <p:nvPr/>
          </p:nvSpPr>
          <p:spPr>
            <a:xfrm>
              <a:off x="4207647" y="6071616"/>
              <a:ext cx="42062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2200" dirty="0">
                  <a:solidFill>
                    <a:srgbClr val="1D3D9C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✚</a:t>
              </a:r>
              <a:endParaRPr lang="en-US" sz="2200" dirty="0"/>
            </a:p>
          </p:txBody>
        </p:sp>
        <p:sp>
          <p:nvSpPr>
            <p:cNvPr id="26" name="Text 23"/>
            <p:cNvSpPr/>
            <p:nvPr/>
          </p:nvSpPr>
          <p:spPr>
            <a:xfrm>
              <a:off x="4829468" y="6017572"/>
              <a:ext cx="16916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750" b="1" dirty="0">
                  <a:solidFill>
                    <a:srgbClr val="1D3D9C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Why It Matters</a:t>
              </a:r>
              <a:endParaRPr lang="en-US" sz="1750" dirty="0"/>
            </a:p>
          </p:txBody>
        </p:sp>
        <p:sp>
          <p:nvSpPr>
            <p:cNvPr id="27" name="Text 24"/>
            <p:cNvSpPr/>
            <p:nvPr/>
          </p:nvSpPr>
          <p:spPr>
            <a:xfrm>
              <a:off x="6076187" y="6257397"/>
              <a:ext cx="5549763" cy="42478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r>
                <a:rPr lang="en-IE" dirty="0">
                  <a:solidFill>
                    <a:srgbClr val="5E6373"/>
                  </a:solidFill>
                </a:rPr>
                <a:t>Less manual work.   Actionable alerts only</a:t>
              </a:r>
              <a:r>
                <a:rPr lang="en-IE" dirty="0">
                  <a:solidFill>
                    <a:schemeClr val="accent1">
                      <a:lumMod val="75000"/>
                    </a:schemeClr>
                  </a:solidFill>
                </a:rPr>
                <a:t>.</a:t>
              </a:r>
              <a:endParaRPr lang="ru-RU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29" name="Shape 20">
            <a:extLst>
              <a:ext uri="{FF2B5EF4-FFF2-40B4-BE49-F238E27FC236}">
                <a16:creationId xmlns:a16="http://schemas.microsoft.com/office/drawing/2014/main" id="{A6127068-4B25-9293-33A4-97EF49858F13}"/>
              </a:ext>
            </a:extLst>
          </p:cNvPr>
          <p:cNvSpPr/>
          <p:nvPr/>
        </p:nvSpPr>
        <p:spPr>
          <a:xfrm>
            <a:off x="3961638" y="1570948"/>
            <a:ext cx="7795260" cy="2074581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8890">
            <a:solidFill>
              <a:srgbClr val="E3DDF0"/>
            </a:solidFill>
            <a:prstDash val="solid"/>
          </a:ln>
          <a:effectLst>
            <a:outerShdw blurRad="533400" dir="3480000" algn="bl" rotWithShape="0">
              <a:srgbClr val="B7AACD">
                <a:alpha val="74000"/>
              </a:srgbClr>
            </a:outerShdw>
          </a:effectLst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Problem</a:t>
            </a:r>
          </a:p>
          <a:p>
            <a:r>
              <a:rPr lang="en-US" sz="1600" dirty="0">
                <a:solidFill>
                  <a:srgbClr val="5E6373"/>
                </a:solidFill>
              </a:rPr>
              <a:t>• </a:t>
            </a:r>
            <a:r>
              <a:rPr lang="en-US" b="1" dirty="0">
                <a:solidFill>
                  <a:srgbClr val="5E6373"/>
                </a:solidFill>
              </a:rPr>
              <a:t>Loss of Efficacy: </a:t>
            </a:r>
            <a:r>
              <a:rPr lang="en-US" dirty="0">
                <a:solidFill>
                  <a:srgbClr val="5E6373"/>
                </a:solidFill>
              </a:rPr>
              <a:t>Sensitive controlled drugs (Morphine, Fentanyl) degrade when exposed to heat.</a:t>
            </a:r>
            <a:endParaRPr lang="en-US" sz="1600" dirty="0">
              <a:solidFill>
                <a:srgbClr val="5E6373"/>
              </a:solidFill>
            </a:endParaRPr>
          </a:p>
          <a:p>
            <a:r>
              <a:rPr lang="en-US" dirty="0">
                <a:solidFill>
                  <a:srgbClr val="5E6373"/>
                </a:solidFill>
              </a:rPr>
              <a:t>• </a:t>
            </a:r>
            <a:r>
              <a:rPr lang="en-US" b="1" dirty="0">
                <a:solidFill>
                  <a:srgbClr val="5E6373"/>
                </a:solidFill>
              </a:rPr>
              <a:t>Heat Risk: </a:t>
            </a:r>
            <a:r>
              <a:rPr lang="en-US" dirty="0">
                <a:solidFill>
                  <a:srgbClr val="5E6373"/>
                </a:solidFill>
              </a:rPr>
              <a:t>Ambulance storage temperatures often exceed safe limits.</a:t>
            </a:r>
            <a:endParaRPr lang="en-US" sz="1600" dirty="0">
              <a:solidFill>
                <a:srgbClr val="5E6373"/>
              </a:solidFill>
            </a:endParaRPr>
          </a:p>
          <a:p>
            <a:r>
              <a:rPr lang="en-US" sz="1600" dirty="0">
                <a:solidFill>
                  <a:srgbClr val="5E6373"/>
                </a:solidFill>
              </a:rPr>
              <a:t>• </a:t>
            </a:r>
            <a:r>
              <a:rPr lang="en-US" b="1" dirty="0">
                <a:solidFill>
                  <a:srgbClr val="5E6373"/>
                </a:solidFill>
              </a:rPr>
              <a:t>The Blind Spot: </a:t>
            </a:r>
            <a:r>
              <a:rPr lang="en-US" dirty="0">
                <a:solidFill>
                  <a:srgbClr val="5E6373"/>
                </a:solidFill>
              </a:rPr>
              <a:t>Without tracking, it’s impossible to know exposure duration</a:t>
            </a:r>
            <a:r>
              <a:rPr lang="en-US" sz="1600" dirty="0">
                <a:solidFill>
                  <a:srgbClr val="5E6373"/>
                </a:solidFill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EFE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mnt/data/tempsafe_photo_panel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37160"/>
            <a:ext cx="3346704" cy="656539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602736" y="182880"/>
            <a:ext cx="18288" cy="6492240"/>
          </a:xfrm>
          <a:prstGeom prst="rect">
            <a:avLst/>
          </a:prstGeom>
          <a:solidFill>
            <a:srgbClr val="EEEAF6"/>
          </a:solidFill>
          <a:ln w="12700">
            <a:solidFill>
              <a:srgbClr val="EEEA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" name="Text 2"/>
          <p:cNvSpPr/>
          <p:nvPr/>
        </p:nvSpPr>
        <p:spPr>
          <a:xfrm>
            <a:off x="3794760" y="315468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142C8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TempSafe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421632" y="958404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temperature monitoring for a Controlled Drug Box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3886200" y="1138428"/>
            <a:ext cx="7744968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3936492" y="4050792"/>
            <a:ext cx="2514600" cy="1691640"/>
          </a:xfrm>
          <a:prstGeom prst="roundRect">
            <a:avLst>
              <a:gd name="adj" fmla="val 5946"/>
            </a:avLst>
          </a:prstGeom>
          <a:solidFill>
            <a:srgbClr val="FFFFFF"/>
          </a:solidFill>
          <a:ln w="8890">
            <a:solidFill>
              <a:srgbClr val="E3DDF0"/>
            </a:solidFill>
            <a:prstDash val="solid"/>
          </a:ln>
          <a:effectLst>
            <a:outerShdw blurRad="25400" dist="50800" dir="2700000" algn="bl" rotWithShape="0">
              <a:srgbClr val="B7AACD">
                <a:alpha val="28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9" name="Shape 6"/>
          <p:cNvSpPr/>
          <p:nvPr/>
        </p:nvSpPr>
        <p:spPr>
          <a:xfrm>
            <a:off x="3965331" y="4082797"/>
            <a:ext cx="530352" cy="530352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0" name="Text 7"/>
          <p:cNvSpPr/>
          <p:nvPr/>
        </p:nvSpPr>
        <p:spPr>
          <a:xfrm>
            <a:off x="4041648" y="4133088"/>
            <a:ext cx="420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♨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654296" y="4179617"/>
            <a:ext cx="1704668" cy="529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</a:t>
            </a:r>
          </a:p>
          <a:p>
            <a:pPr marL="0" indent="0" algn="l">
              <a:buNone/>
            </a:pPr>
            <a:r>
              <a:rPr lang="en-US" b="1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4053078" y="4757026"/>
            <a:ext cx="2331720" cy="7244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5F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Tracks temperature inside the Controlled Drug Box in real time</a:t>
            </a:r>
            <a:r>
              <a:rPr lang="en-US" sz="1260" dirty="0">
                <a:solidFill>
                  <a:srgbClr val="5F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260" dirty="0"/>
          </a:p>
        </p:txBody>
      </p:sp>
      <p:sp>
        <p:nvSpPr>
          <p:cNvPr id="13" name="Shape 10"/>
          <p:cNvSpPr/>
          <p:nvPr/>
        </p:nvSpPr>
        <p:spPr>
          <a:xfrm>
            <a:off x="6759702" y="4079675"/>
            <a:ext cx="2514600" cy="1691640"/>
          </a:xfrm>
          <a:prstGeom prst="roundRect">
            <a:avLst>
              <a:gd name="adj" fmla="val 5946"/>
            </a:avLst>
          </a:prstGeom>
          <a:solidFill>
            <a:srgbClr val="FFFFFF"/>
          </a:solidFill>
          <a:ln w="8890">
            <a:solidFill>
              <a:srgbClr val="E3DDF0"/>
            </a:solidFill>
            <a:prstDash val="solid"/>
          </a:ln>
          <a:effectLst>
            <a:outerShdw blurRad="25400" dist="50800" dir="2700000" algn="bl" rotWithShape="0">
              <a:srgbClr val="B7AACD">
                <a:alpha val="28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14" name="Shape 11"/>
          <p:cNvSpPr/>
          <p:nvPr/>
        </p:nvSpPr>
        <p:spPr>
          <a:xfrm>
            <a:off x="6751555" y="4092175"/>
            <a:ext cx="530352" cy="530352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5" name="Text 12"/>
          <p:cNvSpPr/>
          <p:nvPr/>
        </p:nvSpPr>
        <p:spPr>
          <a:xfrm>
            <a:off x="6797860" y="4142233"/>
            <a:ext cx="420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◷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461799" y="4159875"/>
            <a:ext cx="1866665" cy="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Exposure</a:t>
            </a:r>
          </a:p>
          <a:p>
            <a:pPr marL="0" indent="0" algn="l">
              <a:buNone/>
            </a:pPr>
            <a:r>
              <a:rPr lang="en-US" b="1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Time</a:t>
            </a: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7063740" y="4739608"/>
            <a:ext cx="2331720" cy="844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5F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how long temperature remains above the safe limit.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9400032" y="4040241"/>
            <a:ext cx="2331720" cy="1691640"/>
          </a:xfrm>
          <a:prstGeom prst="roundRect">
            <a:avLst>
              <a:gd name="adj" fmla="val 5946"/>
            </a:avLst>
          </a:prstGeom>
          <a:solidFill>
            <a:srgbClr val="FFFFFF"/>
          </a:solidFill>
          <a:ln w="8890">
            <a:solidFill>
              <a:srgbClr val="E3DDF0"/>
            </a:solidFill>
            <a:prstDash val="solid"/>
          </a:ln>
          <a:effectLst>
            <a:outerShdw blurRad="25400" dist="50800" dir="2700000" algn="bl" rotWithShape="0">
              <a:srgbClr val="B7AACD">
                <a:alpha val="28000"/>
              </a:srgbClr>
            </a:outerShdw>
          </a:effectLst>
        </p:spPr>
        <p:txBody>
          <a:bodyPr/>
          <a:lstStyle/>
          <a:p>
            <a:endParaRPr lang="en-IE"/>
          </a:p>
        </p:txBody>
      </p:sp>
      <p:sp>
        <p:nvSpPr>
          <p:cNvPr id="19" name="Shape 16"/>
          <p:cNvSpPr/>
          <p:nvPr/>
        </p:nvSpPr>
        <p:spPr>
          <a:xfrm>
            <a:off x="9445635" y="4082797"/>
            <a:ext cx="530352" cy="530352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0" name="Text 17"/>
          <p:cNvSpPr/>
          <p:nvPr/>
        </p:nvSpPr>
        <p:spPr>
          <a:xfrm>
            <a:off x="9515975" y="4134729"/>
            <a:ext cx="420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⚠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0368578" y="4217939"/>
            <a:ext cx="1929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Alerts</a:t>
            </a: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9582911" y="4790223"/>
            <a:ext cx="2240281" cy="9189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5F63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LED visual feedback, a buzzer, and phone notifications.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021923" y="5934456"/>
            <a:ext cx="7691540" cy="667512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8890">
            <a:solidFill>
              <a:srgbClr val="E3DDF0"/>
            </a:solidFill>
            <a:prstDash val="solid"/>
          </a:ln>
          <a:effectLst>
            <a:outerShdw blurRad="25400" dist="50800" dir="2700000" algn="bl" rotWithShape="0">
              <a:srgbClr val="B7AACD">
                <a:alpha val="28000"/>
              </a:srgbClr>
            </a:outerShdw>
          </a:effectLst>
        </p:spPr>
        <p:txBody>
          <a:bodyPr/>
          <a:lstStyle/>
          <a:p>
            <a:endParaRPr lang="en-IE" dirty="0"/>
          </a:p>
        </p:txBody>
      </p:sp>
      <p:sp>
        <p:nvSpPr>
          <p:cNvPr id="24" name="Shape 21"/>
          <p:cNvSpPr/>
          <p:nvPr/>
        </p:nvSpPr>
        <p:spPr>
          <a:xfrm>
            <a:off x="4142232" y="6003036"/>
            <a:ext cx="530352" cy="530352"/>
          </a:xfrm>
          <a:prstGeom prst="ellipse">
            <a:avLst/>
          </a:prstGeom>
          <a:solidFill>
            <a:srgbClr val="ECEBFF"/>
          </a:solidFill>
          <a:ln w="12700">
            <a:solidFill>
              <a:srgbClr val="ECE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5" name="Text 22"/>
          <p:cNvSpPr/>
          <p:nvPr/>
        </p:nvSpPr>
        <p:spPr>
          <a:xfrm>
            <a:off x="4207647" y="6071616"/>
            <a:ext cx="420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✚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829468" y="60175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1D3D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1750" dirty="0"/>
          </a:p>
        </p:txBody>
      </p:sp>
      <p:sp>
        <p:nvSpPr>
          <p:cNvPr id="27" name="Text 24"/>
          <p:cNvSpPr/>
          <p:nvPr/>
        </p:nvSpPr>
        <p:spPr>
          <a:xfrm>
            <a:off x="6076187" y="6257397"/>
            <a:ext cx="5549763" cy="424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E" dirty="0">
                <a:solidFill>
                  <a:srgbClr val="5E6373"/>
                </a:solidFill>
              </a:rPr>
              <a:t>Less manual work.   Actionable alerts only</a:t>
            </a:r>
            <a:r>
              <a:rPr lang="en-IE" dirty="0">
                <a:solidFill>
                  <a:schemeClr val="accent1">
                    <a:lumMod val="75000"/>
                  </a:schemeClr>
                </a:solidFill>
              </a:rPr>
              <a:t>.</a:t>
            </a:r>
            <a:endParaRPr lang="ru-RU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9" name="Shape 20">
            <a:extLst>
              <a:ext uri="{FF2B5EF4-FFF2-40B4-BE49-F238E27FC236}">
                <a16:creationId xmlns:a16="http://schemas.microsoft.com/office/drawing/2014/main" id="{A6127068-4B25-9293-33A4-97EF49858F13}"/>
              </a:ext>
            </a:extLst>
          </p:cNvPr>
          <p:cNvSpPr/>
          <p:nvPr/>
        </p:nvSpPr>
        <p:spPr>
          <a:xfrm>
            <a:off x="3961638" y="1570948"/>
            <a:ext cx="7795260" cy="2074581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8890">
            <a:solidFill>
              <a:srgbClr val="E3DDF0"/>
            </a:solidFill>
            <a:prstDash val="solid"/>
          </a:ln>
          <a:effectLst>
            <a:outerShdw blurRad="533400" dir="3480000" algn="bl" rotWithShape="0">
              <a:srgbClr val="B7AACD">
                <a:alpha val="74000"/>
              </a:srgbClr>
            </a:outerShdw>
          </a:effectLst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Problem</a:t>
            </a:r>
          </a:p>
          <a:p>
            <a:r>
              <a:rPr lang="en-US" sz="1600" dirty="0">
                <a:solidFill>
                  <a:srgbClr val="5E6373"/>
                </a:solidFill>
              </a:rPr>
              <a:t>• </a:t>
            </a:r>
            <a:r>
              <a:rPr lang="en-US" b="1" dirty="0">
                <a:solidFill>
                  <a:srgbClr val="5E6373"/>
                </a:solidFill>
              </a:rPr>
              <a:t>Loss of Efficacy: </a:t>
            </a:r>
            <a:r>
              <a:rPr lang="en-US" dirty="0">
                <a:solidFill>
                  <a:srgbClr val="5E6373"/>
                </a:solidFill>
              </a:rPr>
              <a:t>Sensitive controlled drugs (Morphine, Fentanyl) degrade when exposed to heat.</a:t>
            </a:r>
            <a:endParaRPr lang="en-US" sz="1600" dirty="0">
              <a:solidFill>
                <a:srgbClr val="5E6373"/>
              </a:solidFill>
            </a:endParaRPr>
          </a:p>
          <a:p>
            <a:r>
              <a:rPr lang="en-US" dirty="0">
                <a:solidFill>
                  <a:srgbClr val="5E6373"/>
                </a:solidFill>
              </a:rPr>
              <a:t>• </a:t>
            </a:r>
            <a:r>
              <a:rPr lang="en-US" b="1" dirty="0">
                <a:solidFill>
                  <a:srgbClr val="5E6373"/>
                </a:solidFill>
              </a:rPr>
              <a:t>Heat Risk: </a:t>
            </a:r>
            <a:r>
              <a:rPr lang="en-US" dirty="0">
                <a:solidFill>
                  <a:srgbClr val="5E6373"/>
                </a:solidFill>
              </a:rPr>
              <a:t>Ambulance storage temperatures often exceed safe limits.</a:t>
            </a:r>
            <a:endParaRPr lang="en-US" sz="1600" dirty="0">
              <a:solidFill>
                <a:srgbClr val="5E6373"/>
              </a:solidFill>
            </a:endParaRPr>
          </a:p>
          <a:p>
            <a:r>
              <a:rPr lang="en-US" sz="1600" dirty="0">
                <a:solidFill>
                  <a:srgbClr val="5E6373"/>
                </a:solidFill>
              </a:rPr>
              <a:t>• </a:t>
            </a:r>
            <a:r>
              <a:rPr lang="en-US" b="1" dirty="0">
                <a:solidFill>
                  <a:srgbClr val="5E6373"/>
                </a:solidFill>
              </a:rPr>
              <a:t>The Blind Spot: </a:t>
            </a:r>
            <a:r>
              <a:rPr lang="en-US" dirty="0">
                <a:solidFill>
                  <a:srgbClr val="5E6373"/>
                </a:solidFill>
              </a:rPr>
              <a:t>Without tracking, it’s impossible to know exposure duration</a:t>
            </a:r>
            <a:r>
              <a:rPr lang="en-US" sz="1600" dirty="0">
                <a:solidFill>
                  <a:srgbClr val="5E6373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6267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8890">
          <a:solidFill>
            <a:srgbClr val="FFFFFF"/>
          </a:solidFill>
          <a:prstDash val="solid"/>
        </a:ln>
        <a:effectLst>
          <a:outerShdw blurRad="25400" dist="50800" dir="2700000" algn="bl" rotWithShape="0">
            <a:srgbClr val="B7AACD">
              <a:alpha val="28000"/>
            </a:srgbClr>
          </a:outerShdw>
        </a:effectLst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222</Words>
  <Application>Microsoft Office PowerPoint</Application>
  <PresentationFormat>Widescreen</PresentationFormat>
  <Paragraphs>42</Paragraphs>
  <Slides>2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TempSafe – Problem &amp; Idea</dc:title>
  <dc:subject>TempSafe editable slide</dc:subject>
  <dc:creator>OpenAI</dc:creator>
  <cp:lastModifiedBy>Hanna Bokariuk</cp:lastModifiedBy>
  <cp:revision>2</cp:revision>
  <dcterms:created xsi:type="dcterms:W3CDTF">2026-10-05T21:06:14Z</dcterms:created>
  <dcterms:modified xsi:type="dcterms:W3CDTF">2026-10-06T08:10:47Z</dcterms:modified>
</cp:coreProperties>
</file>