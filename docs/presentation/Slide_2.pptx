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84"/>
  </p:normalViewPr>
  <p:slideViewPr>
    <p:cSldViewPr snapToGrid="0">
      <p:cViewPr>
        <p:scale>
          <a:sx n="114" d="100"/>
          <a:sy n="114" d="100"/>
        </p:scale>
        <p:origin x="6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Planned student prototype, demonstrated on a bench with no medicines. One physical box, with multiple users assigned to the same box ID. The existing SCD-41 provides the temperature measurement for this release. Its humidity and CO2 capabilities are outside the application scope. The photographed white dome module is not the temperature sensor used for this project. The physical LED is single-colour and lights for Warning or Alert, with distinct blinking for sensor failure. Application colours are separate. Phone notifications are Must Have and require connectivity, permission and a delivery channel to be selected and tested. Buzzer is Should Have. During an outage the Pi stores sample attempts locally and uploads them with original times after reconnection. Shannon follows her service procedures; the prototype makes no clinical decisions. Hardware: Raspberry Pi 400 powered from mains and connected over Wi-Fi. A separate computer accesses it using https://connect.raspberrypi.com/devices for remote desktop or shell access. This development access is separate from the TempSafe application and device API data flow. The simple plastic or wooden box is still to be selected; the image illustrates a plastic option. Source: https://www.raspberrypi.com/documentation/services/connect.html and https://www.adafruit.com/product/5190. Image: generated using OpenAI image generation on 8 October 2026 as a concept illustration, not a photo of completed hardware. Sources: project functional requirements, hardware parts list and initial test plan in this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EA9871-1079-493A-8FD0-3DFB3EB5104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349F438-A878-4B76-AB9B-BC2B4D0A916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D00719E-742C-48CC-84FC-BD9E2AC18B5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99C4E30-7388-46B1-A792-25F851504BD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20A4F63-A80F-4704-8249-60334E082B3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3CBC9C0-90C5-491E-BBAE-8C80FD2E675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D812E29-8B44-4A6C-81F5-5720E2D408D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A26D390-740F-4802-9443-2AE6AC58EAD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97CF07D-A2FD-4F9B-97B1-CC7D40E23D1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3B259AC-B2CD-4996-A8E3-E5C78025B33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F938F667-CB45-43DF-90B4-01784BE0A6F4}"/>
              </a:ext>
            </a:extLst>
          </p:cNvPr>
          <p:cNvCxnSpPr>
            <a:stCxn id="12" idx="2"/>
            <a:endCxn id="14" idx="0"/>
          </p:cNvCxnSpPr>
          <p:nvPr/>
        </p:nvCxnSpPr>
        <p:spPr>
          <a:xfrm flipH="1">
            <a:off x="10839450" y="4314825"/>
            <a:ext cx="90488" cy="685800"/>
          </a:xfrm>
          <a:prstGeom prst="straightConnector1">
            <a:avLst/>
          </a:prstGeom>
          <a:ln w="23813">
            <a:solidFill>
              <a:srgbClr val="7B8596"/>
            </a:solidFill>
            <a:prstDash val="dash"/>
          </a:ln>
        </p:spPr>
      </p:cxnSp>
      <p:cxnSp>
        <p:nvCxnSpPr>
          <p:cNvPr id="18" name="Straight Arrow Connector 17">
            <a:extLst>
              <a:ext uri="{FF2B5EF4-FFF2-40B4-BE49-F238E27FC236}">
                <a16:creationId xmlns:a16="http://schemas.microsoft.com/office/drawing/2014/main" id="{D9CF3C70-DD31-4B24-9E0F-4924762981C8}"/>
              </a:ext>
            </a:extLst>
          </p:cNvPr>
          <p:cNvCxnSpPr>
            <a:stCxn id="13" idx="2"/>
            <a:endCxn id="12" idx="0"/>
          </p:cNvCxnSpPr>
          <p:nvPr/>
        </p:nvCxnSpPr>
        <p:spPr>
          <a:xfrm>
            <a:off x="10929938" y="2924175"/>
            <a:ext cx="0" cy="485775"/>
          </a:xfrm>
          <a:prstGeom prst="straightConnector1">
            <a:avLst/>
          </a:prstGeom>
          <a:ln w="23813">
            <a:solidFill>
              <a:srgbClr val="8A7AB7"/>
            </a:solidFill>
            <a:prstDash val="solid"/>
          </a:ln>
        </p:spPr>
      </p:cxnSp>
      <p:cxnSp>
        <p:nvCxnSpPr>
          <p:cNvPr id="17" name="Straight Arrow Connector 16">
            <a:extLst>
              <a:ext uri="{FF2B5EF4-FFF2-40B4-BE49-F238E27FC236}">
                <a16:creationId xmlns:a16="http://schemas.microsoft.com/office/drawing/2014/main" id="{C43701C8-883F-4DD4-8998-C4E94A4F8557}"/>
              </a:ext>
            </a:extLst>
          </p:cNvPr>
          <p:cNvCxnSpPr>
            <a:stCxn id="11" idx="3"/>
            <a:endCxn id="12" idx="1"/>
          </p:cNvCxnSpPr>
          <p:nvPr/>
        </p:nvCxnSpPr>
        <p:spPr>
          <a:xfrm>
            <a:off x="9334500" y="3862388"/>
            <a:ext cx="762000" cy="0"/>
          </a:xfrm>
          <a:prstGeom prst="straightConnector1">
            <a:avLst/>
          </a:prstGeom>
          <a:ln w="23813">
            <a:solidFill>
              <a:srgbClr val="8A7AB7"/>
            </a:solidFill>
            <a:prstDash val="solid"/>
          </a:ln>
        </p:spPr>
      </p:cxnSp>
      <p:cxnSp>
        <p:nvCxnSpPr>
          <p:cNvPr id="16" name="Elbow Connector 15">
            <a:extLst>
              <a:ext uri="{FF2B5EF4-FFF2-40B4-BE49-F238E27FC236}">
                <a16:creationId xmlns:a16="http://schemas.microsoft.com/office/drawing/2014/main" id="{5AE253C9-5ECA-4789-A730-6B060F29B951}"/>
              </a:ext>
            </a:extLst>
          </p:cNvPr>
          <p:cNvCxnSpPr>
            <a:stCxn id="10" idx="3"/>
            <a:endCxn id="11" idx="1"/>
          </p:cNvCxnSpPr>
          <p:nvPr/>
        </p:nvCxnSpPr>
        <p:spPr>
          <a:xfrm flipV="1">
            <a:off x="6619875" y="3862388"/>
            <a:ext cx="866775" cy="614363"/>
          </a:xfrm>
          <a:prstGeom prst="bentConnector3">
            <a:avLst>
              <a:gd name="adj1" fmla="val 50000"/>
            </a:avLst>
          </a:prstGeom>
          <a:ln w="23813">
            <a:solidFill>
              <a:srgbClr val="8A7AB7"/>
            </a:solidFill>
            <a:prstDash val="solid"/>
          </a:ln>
        </p:spPr>
      </p:cxnSp>
      <p:cxnSp>
        <p:nvCxnSpPr>
          <p:cNvPr id="15" name="Elbow Connector 14">
            <a:extLst>
              <a:ext uri="{FF2B5EF4-FFF2-40B4-BE49-F238E27FC236}">
                <a16:creationId xmlns:a16="http://schemas.microsoft.com/office/drawing/2014/main" id="{11108D8F-76A3-4186-9BE9-EAF220D67B31}"/>
              </a:ext>
            </a:extLst>
          </p:cNvPr>
          <p:cNvCxnSpPr>
            <a:stCxn id="9" idx="3"/>
            <a:endCxn id="11" idx="1"/>
          </p:cNvCxnSpPr>
          <p:nvPr/>
        </p:nvCxnSpPr>
        <p:spPr>
          <a:xfrm>
            <a:off x="6619875" y="3343275"/>
            <a:ext cx="866775" cy="519113"/>
          </a:xfrm>
          <a:prstGeom prst="bentConnector3">
            <a:avLst>
              <a:gd name="adj1" fmla="val 50000"/>
            </a:avLst>
          </a:prstGeom>
          <a:ln w="23813">
            <a:solidFill>
              <a:srgbClr val="8A7AB7"/>
            </a:solidFill>
            <a:prstDash val="solid"/>
          </a:ln>
        </p:spPr>
      </p:cxnSp>
      <p:sp>
        <p:nvSpPr>
          <p:cNvPr id="41" name="title">
            <a:extLst>
              <a:ext uri="{FF2B5EF4-FFF2-40B4-BE49-F238E27FC236}">
                <a16:creationId xmlns:a16="http://schemas.microsoft.com/office/drawing/2014/main" id="{1AC85DF2-5532-47FB-8CE7-F902638319CD}"/>
              </a:ext>
            </a:extLst>
          </p:cNvPr>
          <p:cNvSpPr>
            <a:spLocks noGrp="1"/>
          </p:cNvSpPr>
          <p:nvPr/>
        </p:nvSpPr>
        <p:spPr>
          <a:xfrm>
            <a:off x="495300" y="285750"/>
            <a:ext cx="7048500" cy="619125"/>
          </a:xfrm>
          <a:prstGeom prst="rect">
            <a:avLst/>
          </a:prstGeom>
          <a:noFill/>
          <a:ln w="0">
            <a:noFill/>
          </a:ln>
        </p:spPr>
        <p:txBody>
          <a:bodyPr anchor="ctr"/>
          <a:lstStyle>
            <a:defPPr>
              <a:defRPr sz="3600" b="1">
                <a:solidFill>
                  <a:srgbClr val="182D86"/>
                </a:solidFill>
                <a:latin typeface="Arial"/>
                <a:ea typeface="Arial"/>
                <a:cs typeface="Arial"/>
              </a:defRPr>
            </a:defPPr>
          </a:lstStyle>
          <a:p>
            <a:pPr>
              <a:defRPr sz="3600" b="1">
                <a:solidFill>
                  <a:srgbClr val="182D86"/>
                </a:solidFill>
                <a:latin typeface="Arial"/>
                <a:ea typeface="Arial"/>
                <a:cs typeface="Arial"/>
              </a:defRPr>
            </a:pPr>
            <a:r>
              <a:rPr sz="3600" b="1">
                <a:solidFill>
                  <a:srgbClr val="182D86"/>
                </a:solidFill>
                <a:latin typeface="Arial"/>
                <a:ea typeface="Arial"/>
                <a:cs typeface="Arial"/>
              </a:rPr>
              <a:t>How TempSafe works</a:t>
            </a:r>
          </a:p>
        </p:txBody>
      </p:sp>
      <p:sp>
        <p:nvSpPr>
          <p:cNvPr id="2" name="context">
            <a:extLst>
              <a:ext uri="{FF2B5EF4-FFF2-40B4-BE49-F238E27FC236}">
                <a16:creationId xmlns:a16="http://schemas.microsoft.com/office/drawing/2014/main" id="{7AF9BD76-3882-4C35-827D-901D3833F58A}"/>
              </a:ext>
            </a:extLst>
          </p:cNvPr>
          <p:cNvSpPr>
            <a:spLocks noGrp="1"/>
          </p:cNvSpPr>
          <p:nvPr/>
        </p:nvSpPr>
        <p:spPr>
          <a:xfrm>
            <a:off x="8001000" y="371475"/>
            <a:ext cx="3714750" cy="495300"/>
          </a:xfrm>
          <a:prstGeom prst="rect">
            <a:avLst/>
          </a:prstGeom>
          <a:noFill/>
          <a:ln w="0">
            <a:noFill/>
          </a:ln>
        </p:spPr>
        <p:txBody>
          <a:bodyPr anchor="ctr"/>
          <a:lstStyle>
            <a:defPPr>
              <a:defRPr sz="1350" b="0">
                <a:solidFill>
                  <a:srgbClr val="737B91"/>
                </a:solidFill>
                <a:latin typeface="Arial"/>
                <a:ea typeface="Arial"/>
                <a:cs typeface="Arial"/>
              </a:defRPr>
            </a:defPPr>
          </a:lstStyle>
          <a:p>
            <a:pPr>
              <a:defRPr sz="1350" b="0">
                <a:solidFill>
                  <a:srgbClr val="737B91"/>
                </a:solidFill>
                <a:latin typeface="Arial"/>
                <a:ea typeface="Arial"/>
                <a:cs typeface="Arial"/>
              </a:defRPr>
            </a:pPr>
            <a:r>
              <a:rPr sz="1350" b="0">
                <a:solidFill>
                  <a:srgbClr val="737B91"/>
                </a:solidFill>
                <a:latin typeface="Arial"/>
                <a:ea typeface="Arial"/>
                <a:cs typeface="Arial"/>
              </a:rPr>
              <a:t>One prototype box · wired components</a:t>
            </a:r>
          </a:p>
          <a:p>
            <a:pPr>
              <a:defRPr sz="1350" b="0">
                <a:solidFill>
                  <a:srgbClr val="737B91"/>
                </a:solidFill>
                <a:latin typeface="Arial"/>
                <a:ea typeface="Arial"/>
                <a:cs typeface="Arial"/>
              </a:defRPr>
            </a:pPr>
            <a:r>
              <a:rPr sz="1350" b="0">
                <a:solidFill>
                  <a:srgbClr val="737B91"/>
                </a:solidFill>
                <a:latin typeface="Arial"/>
                <a:ea typeface="Arial"/>
                <a:cs typeface="Arial"/>
              </a:rPr>
              <a:t>Remote access over Wi-Fi</a:t>
            </a:r>
          </a:p>
        </p:txBody>
      </p:sp>
      <p:pic>
        <p:nvPicPr>
          <p:cNvPr id="3" name="Picture 2">
            <a:extLst>
              <a:ext uri="{FF2B5EF4-FFF2-40B4-BE49-F238E27FC236}">
                <a16:creationId xmlns:a16="http://schemas.microsoft.com/office/drawing/2014/main" id="{45E8BC48-1AF1-4567-80FB-02115C73B8A9}"/>
              </a:ext>
            </a:extLst>
          </p:cNvPr>
          <p:cNvPicPr>
            <a:picLocks noChangeAspect="1"/>
          </p:cNvPicPr>
          <p:nvPr/>
        </p:nvPicPr>
        <p:blipFill>
          <a:blip r:embed="rId3"/>
          <a:srcRect t="1111" b="1111"/>
          <a:stretch>
            <a:fillRect/>
          </a:stretch>
        </p:blipFill>
        <p:spPr>
          <a:xfrm>
            <a:off x="495300" y="2143125"/>
            <a:ext cx="4000500" cy="2933700"/>
          </a:xfrm>
          <a:prstGeom prst="rect">
            <a:avLst/>
          </a:prstGeom>
        </p:spPr>
      </p:pic>
      <p:sp>
        <p:nvSpPr>
          <p:cNvPr id="4" name="photo-heading">
            <a:extLst>
              <a:ext uri="{FF2B5EF4-FFF2-40B4-BE49-F238E27FC236}">
                <a16:creationId xmlns:a16="http://schemas.microsoft.com/office/drawing/2014/main" id="{36775937-0C3D-4099-9496-78DB1E8B7080}"/>
              </a:ext>
            </a:extLst>
          </p:cNvPr>
          <p:cNvSpPr>
            <a:spLocks noGrp="1"/>
          </p:cNvSpPr>
          <p:nvPr/>
        </p:nvSpPr>
        <p:spPr>
          <a:xfrm>
            <a:off x="514350" y="1800225"/>
            <a:ext cx="4000500" cy="266700"/>
          </a:xfrm>
          <a:prstGeom prst="rect">
            <a:avLst/>
          </a:prstGeom>
          <a:noFill/>
          <a:ln w="0">
            <a:noFill/>
          </a:ln>
        </p:spPr>
        <p:txBody>
          <a:bodyPr anchor="ctr"/>
          <a:lstStyle>
            <a:defPPr>
              <a:defRPr sz="1350" b="1">
                <a:solidFill>
                  <a:srgbClr val="737B91"/>
                </a:solidFill>
                <a:latin typeface="Arial"/>
                <a:ea typeface="Arial"/>
                <a:cs typeface="Arial"/>
              </a:defRPr>
            </a:defPPr>
          </a:lstStyle>
          <a:p>
            <a:pPr>
              <a:defRPr sz="1350" b="1">
                <a:solidFill>
                  <a:srgbClr val="737B91"/>
                </a:solidFill>
                <a:latin typeface="Arial"/>
                <a:ea typeface="Arial"/>
                <a:cs typeface="Arial"/>
              </a:defRPr>
            </a:pPr>
            <a:r>
              <a:rPr sz="1350" b="1">
                <a:solidFill>
                  <a:srgbClr val="737B91"/>
                </a:solidFill>
                <a:latin typeface="Arial"/>
                <a:ea typeface="Arial"/>
                <a:cs typeface="Arial"/>
              </a:rPr>
              <a:t>PROTOTYPE CONCEPT</a:t>
            </a:r>
          </a:p>
        </p:txBody>
      </p:sp>
      <p:sp>
        <p:nvSpPr>
          <p:cNvPr id="5" name="image-disclosure">
            <a:extLst>
              <a:ext uri="{FF2B5EF4-FFF2-40B4-BE49-F238E27FC236}">
                <a16:creationId xmlns:a16="http://schemas.microsoft.com/office/drawing/2014/main" id="{BEE3B7E9-2687-4CC6-A4DA-1ABD1480EBE0}"/>
              </a:ext>
            </a:extLst>
          </p:cNvPr>
          <p:cNvSpPr>
            <a:spLocks noGrp="1"/>
          </p:cNvSpPr>
          <p:nvPr/>
        </p:nvSpPr>
        <p:spPr>
          <a:xfrm>
            <a:off x="514350" y="5162550"/>
            <a:ext cx="4191000" cy="276225"/>
          </a:xfrm>
          <a:prstGeom prst="rect">
            <a:avLst/>
          </a:prstGeom>
          <a:noFill/>
          <a:ln w="0">
            <a:noFill/>
          </a:ln>
        </p:spPr>
        <p:txBody>
          <a:bodyPr anchor="ctr"/>
          <a:lstStyle>
            <a:defPPr>
              <a:defRPr sz="1125" b="0">
                <a:solidFill>
                  <a:srgbClr val="737B91"/>
                </a:solidFill>
                <a:latin typeface="Arial"/>
                <a:ea typeface="Arial"/>
                <a:cs typeface="Arial"/>
              </a:defRPr>
            </a:defPPr>
          </a:lstStyle>
          <a:p>
            <a:pPr>
              <a:defRPr sz="1125" b="0">
                <a:solidFill>
                  <a:srgbClr val="737B91"/>
                </a:solidFill>
                <a:latin typeface="Arial"/>
                <a:ea typeface="Arial"/>
                <a:cs typeface="Arial"/>
              </a:defRPr>
            </a:pPr>
            <a:r>
              <a:rPr sz="1100" b="0" dirty="0">
                <a:solidFill>
                  <a:srgbClr val="737B91"/>
                </a:solidFill>
                <a:latin typeface="Arial"/>
                <a:ea typeface="Arial"/>
                <a:cs typeface="Arial"/>
              </a:rPr>
              <a:t>AI-generated illustration</a:t>
            </a:r>
          </a:p>
        </p:txBody>
      </p:sp>
      <p:sp>
        <p:nvSpPr>
          <p:cNvPr id="6" name="diagram-heading">
            <a:extLst>
              <a:ext uri="{FF2B5EF4-FFF2-40B4-BE49-F238E27FC236}">
                <a16:creationId xmlns:a16="http://schemas.microsoft.com/office/drawing/2014/main" id="{1456C31B-4195-4231-8A4C-FFCB6A72794B}"/>
              </a:ext>
            </a:extLst>
          </p:cNvPr>
          <p:cNvSpPr>
            <a:spLocks noGrp="1"/>
          </p:cNvSpPr>
          <p:nvPr/>
        </p:nvSpPr>
        <p:spPr>
          <a:xfrm>
            <a:off x="4953000" y="1800225"/>
            <a:ext cx="6477000" cy="266700"/>
          </a:xfrm>
          <a:prstGeom prst="rect">
            <a:avLst/>
          </a:prstGeom>
          <a:noFill/>
          <a:ln w="0">
            <a:noFill/>
          </a:ln>
        </p:spPr>
        <p:txBody>
          <a:bodyPr anchor="ctr"/>
          <a:lstStyle>
            <a:defPPr>
              <a:defRPr sz="1350" b="1">
                <a:solidFill>
                  <a:srgbClr val="737B91"/>
                </a:solidFill>
                <a:latin typeface="Arial"/>
                <a:ea typeface="Arial"/>
                <a:cs typeface="Arial"/>
              </a:defRPr>
            </a:defPPr>
          </a:lstStyle>
          <a:p>
            <a:pPr>
              <a:defRPr sz="1350" b="1">
                <a:solidFill>
                  <a:srgbClr val="737B91"/>
                </a:solidFill>
                <a:latin typeface="Arial"/>
                <a:ea typeface="Arial"/>
                <a:cs typeface="Arial"/>
              </a:defRPr>
            </a:pPr>
            <a:r>
              <a:rPr sz="1350" b="1">
                <a:solidFill>
                  <a:srgbClr val="737B91"/>
                </a:solidFill>
                <a:latin typeface="Arial"/>
                <a:ea typeface="Arial"/>
                <a:cs typeface="Arial"/>
              </a:rPr>
              <a:t>COMPONENT CONNECTIONS</a:t>
            </a:r>
          </a:p>
        </p:txBody>
      </p:sp>
      <p:sp>
        <p:nvSpPr>
          <p:cNvPr id="7" name="plastic-box-group">
            <a:extLst>
              <a:ext uri="{FF2B5EF4-FFF2-40B4-BE49-F238E27FC236}">
                <a16:creationId xmlns:a16="http://schemas.microsoft.com/office/drawing/2014/main" id="{7935FBE1-9F73-4B6A-9098-0D2453EBF2DB}"/>
              </a:ext>
            </a:extLst>
          </p:cNvPr>
          <p:cNvSpPr>
            <a:spLocks noGrp="1"/>
          </p:cNvSpPr>
          <p:nvPr/>
        </p:nvSpPr>
        <p:spPr>
          <a:xfrm>
            <a:off x="4857750" y="2419350"/>
            <a:ext cx="1905000" cy="2590800"/>
          </a:xfrm>
          <a:prstGeom prst="roundRect">
            <a:avLst>
              <a:gd name="adj" fmla="val 4000"/>
            </a:avLst>
          </a:prstGeom>
          <a:solidFill>
            <a:srgbClr val="F1F8F7"/>
          </a:solidFill>
          <a:ln w="14288">
            <a:solidFill>
              <a:srgbClr val="A8CCC5"/>
            </a:solidFill>
          </a:ln>
        </p:spPr>
        <p:txBody>
          <a:bodyPr/>
          <a:lstStyle/>
          <a:p>
            <a:endParaRPr lang="en-IE"/>
          </a:p>
        </p:txBody>
      </p:sp>
      <p:sp>
        <p:nvSpPr>
          <p:cNvPr id="8" name="box-label">
            <a:extLst>
              <a:ext uri="{FF2B5EF4-FFF2-40B4-BE49-F238E27FC236}">
                <a16:creationId xmlns:a16="http://schemas.microsoft.com/office/drawing/2014/main" id="{2F894E3A-6697-4C24-A5C8-82B797A19FC0}"/>
              </a:ext>
            </a:extLst>
          </p:cNvPr>
          <p:cNvSpPr>
            <a:spLocks noGrp="1"/>
          </p:cNvSpPr>
          <p:nvPr/>
        </p:nvSpPr>
        <p:spPr>
          <a:xfrm>
            <a:off x="5019675" y="2486025"/>
            <a:ext cx="1619250" cy="295275"/>
          </a:xfrm>
          <a:prstGeom prst="rect">
            <a:avLst/>
          </a:prstGeom>
          <a:noFill/>
          <a:ln w="0">
            <a:noFill/>
          </a:ln>
        </p:spPr>
        <p:txBody>
          <a:bodyPr anchor="ctr"/>
          <a:lstStyle>
            <a:defPPr>
              <a:defRPr sz="1500" b="1">
                <a:solidFill>
                  <a:srgbClr val="336B62"/>
                </a:solidFill>
                <a:latin typeface="Arial"/>
                <a:ea typeface="Arial"/>
                <a:cs typeface="Arial"/>
              </a:defRPr>
            </a:defPPr>
          </a:lstStyle>
          <a:p>
            <a:pPr>
              <a:defRPr sz="1500" b="1">
                <a:solidFill>
                  <a:srgbClr val="336B62"/>
                </a:solidFill>
                <a:latin typeface="Arial"/>
                <a:ea typeface="Arial"/>
                <a:cs typeface="Arial"/>
              </a:defRPr>
            </a:pPr>
            <a:r>
              <a:rPr sz="1500" b="1">
                <a:solidFill>
                  <a:srgbClr val="336B62"/>
                </a:solidFill>
                <a:latin typeface="Arial"/>
                <a:ea typeface="Arial"/>
                <a:cs typeface="Arial"/>
              </a:rPr>
              <a:t>Plastic box</a:t>
            </a:r>
          </a:p>
        </p:txBody>
      </p:sp>
      <p:sp>
        <p:nvSpPr>
          <p:cNvPr id="9" name="sensor">
            <a:extLst>
              <a:ext uri="{FF2B5EF4-FFF2-40B4-BE49-F238E27FC236}">
                <a16:creationId xmlns:a16="http://schemas.microsoft.com/office/drawing/2014/main" id="{0E5F9939-147B-4648-A4BB-F4633D5859AE}"/>
              </a:ext>
            </a:extLst>
          </p:cNvPr>
          <p:cNvSpPr>
            <a:spLocks noGrp="1"/>
          </p:cNvSpPr>
          <p:nvPr/>
        </p:nvSpPr>
        <p:spPr>
          <a:xfrm>
            <a:off x="5000625" y="2971800"/>
            <a:ext cx="1619250" cy="742950"/>
          </a:xfrm>
          <a:prstGeom prst="roundRect">
            <a:avLst>
              <a:gd name="adj" fmla="val 10256"/>
            </a:avLst>
          </a:prstGeom>
          <a:solidFill>
            <a:srgbClr val="FFFFFF"/>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SCD-41</a:t>
            </a:r>
          </a:p>
          <a:p>
            <a:pPr algn="ctr">
              <a:defRPr sz="1350" b="1">
                <a:solidFill>
                  <a:srgbClr val="182D86"/>
                </a:solidFill>
                <a:latin typeface="Arial"/>
                <a:ea typeface="Arial"/>
                <a:cs typeface="Arial"/>
              </a:defRPr>
            </a:pPr>
            <a:r>
              <a:rPr sz="1350" b="1">
                <a:solidFill>
                  <a:srgbClr val="182D86"/>
                </a:solidFill>
                <a:latin typeface="Arial"/>
                <a:ea typeface="Arial"/>
                <a:cs typeface="Arial"/>
              </a:rPr>
              <a:t>Temperature sensor</a:t>
            </a:r>
          </a:p>
        </p:txBody>
      </p:sp>
      <p:sp>
        <p:nvSpPr>
          <p:cNvPr id="10" name="warning-led">
            <a:extLst>
              <a:ext uri="{FF2B5EF4-FFF2-40B4-BE49-F238E27FC236}">
                <a16:creationId xmlns:a16="http://schemas.microsoft.com/office/drawing/2014/main" id="{BADC3E0F-D0B2-4B48-911B-BC3F4C7BFF52}"/>
              </a:ext>
            </a:extLst>
          </p:cNvPr>
          <p:cNvSpPr>
            <a:spLocks noGrp="1"/>
          </p:cNvSpPr>
          <p:nvPr/>
        </p:nvSpPr>
        <p:spPr>
          <a:xfrm>
            <a:off x="5000625" y="4133850"/>
            <a:ext cx="1619250" cy="685800"/>
          </a:xfrm>
          <a:prstGeom prst="roundRect">
            <a:avLst>
              <a:gd name="adj" fmla="val 11111"/>
            </a:avLst>
          </a:prstGeom>
          <a:solidFill>
            <a:srgbClr val="FFFFFF"/>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Single-colour LED</a:t>
            </a:r>
          </a:p>
          <a:p>
            <a:pPr algn="ctr">
              <a:defRPr sz="1350" b="1">
                <a:solidFill>
                  <a:srgbClr val="182D86"/>
                </a:solidFill>
                <a:latin typeface="Arial"/>
                <a:ea typeface="Arial"/>
                <a:cs typeface="Arial"/>
              </a:defRPr>
            </a:pPr>
            <a:r>
              <a:rPr sz="1350" b="1">
                <a:solidFill>
                  <a:srgbClr val="182D86"/>
                </a:solidFill>
                <a:latin typeface="Arial"/>
                <a:ea typeface="Arial"/>
                <a:cs typeface="Arial"/>
              </a:rPr>
              <a:t>Warning light</a:t>
            </a:r>
          </a:p>
        </p:txBody>
      </p:sp>
      <p:sp>
        <p:nvSpPr>
          <p:cNvPr id="11" name="breadboard">
            <a:extLst>
              <a:ext uri="{FF2B5EF4-FFF2-40B4-BE49-F238E27FC236}">
                <a16:creationId xmlns:a16="http://schemas.microsoft.com/office/drawing/2014/main" id="{90223C3A-5CBD-4D61-807F-B376C8CBC74B}"/>
              </a:ext>
            </a:extLst>
          </p:cNvPr>
          <p:cNvSpPr>
            <a:spLocks noGrp="1"/>
          </p:cNvSpPr>
          <p:nvPr/>
        </p:nvSpPr>
        <p:spPr>
          <a:xfrm>
            <a:off x="7486650" y="3409950"/>
            <a:ext cx="1847850" cy="904875"/>
          </a:xfrm>
          <a:prstGeom prst="roundRect">
            <a:avLst>
              <a:gd name="adj" fmla="val 8421"/>
            </a:avLst>
          </a:prstGeom>
          <a:solidFill>
            <a:srgbClr val="F4F2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Breadboard</a:t>
            </a:r>
          </a:p>
          <a:p>
            <a:pPr algn="ctr">
              <a:defRPr sz="1350" b="1">
                <a:solidFill>
                  <a:srgbClr val="182D86"/>
                </a:solidFill>
                <a:latin typeface="Arial"/>
                <a:ea typeface="Arial"/>
                <a:cs typeface="Arial"/>
              </a:defRPr>
            </a:pPr>
            <a:r>
              <a:rPr sz="1350" b="1">
                <a:solidFill>
                  <a:srgbClr val="182D86"/>
                </a:solidFill>
                <a:latin typeface="Arial"/>
                <a:ea typeface="Arial"/>
                <a:cs typeface="Arial"/>
              </a:rPr>
              <a:t>Temporary connections</a:t>
            </a:r>
          </a:p>
        </p:txBody>
      </p:sp>
      <p:sp>
        <p:nvSpPr>
          <p:cNvPr id="12" name="pi400">
            <a:extLst>
              <a:ext uri="{FF2B5EF4-FFF2-40B4-BE49-F238E27FC236}">
                <a16:creationId xmlns:a16="http://schemas.microsoft.com/office/drawing/2014/main" id="{C1A154AA-890C-4504-A46A-4DFD9B3A14FD}"/>
              </a:ext>
            </a:extLst>
          </p:cNvPr>
          <p:cNvSpPr>
            <a:spLocks noGrp="1"/>
          </p:cNvSpPr>
          <p:nvPr/>
        </p:nvSpPr>
        <p:spPr>
          <a:xfrm>
            <a:off x="10096500" y="3409950"/>
            <a:ext cx="1666875" cy="904875"/>
          </a:xfrm>
          <a:prstGeom prst="roundRect">
            <a:avLst>
              <a:gd name="adj" fmla="val 8421"/>
            </a:avLst>
          </a:prstGeom>
          <a:solidFill>
            <a:srgbClr val="F4F2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Raspberry Pi 400</a:t>
            </a:r>
          </a:p>
          <a:p>
            <a:pPr algn="ctr">
              <a:defRPr sz="1350" b="1">
                <a:solidFill>
                  <a:srgbClr val="182D86"/>
                </a:solidFill>
                <a:latin typeface="Arial"/>
                <a:ea typeface="Arial"/>
                <a:cs typeface="Arial"/>
              </a:defRPr>
            </a:pPr>
            <a:r>
              <a:rPr sz="1350" b="1">
                <a:solidFill>
                  <a:srgbClr val="182D86"/>
                </a:solidFill>
                <a:latin typeface="Arial"/>
                <a:ea typeface="Arial"/>
                <a:cs typeface="Arial"/>
              </a:rPr>
              <a:t>GPIO header</a:t>
            </a:r>
          </a:p>
        </p:txBody>
      </p:sp>
      <p:sp>
        <p:nvSpPr>
          <p:cNvPr id="13" name="mains-power">
            <a:extLst>
              <a:ext uri="{FF2B5EF4-FFF2-40B4-BE49-F238E27FC236}">
                <a16:creationId xmlns:a16="http://schemas.microsoft.com/office/drawing/2014/main" id="{28ABA661-1D89-4D9B-A796-26B0C2791C71}"/>
              </a:ext>
            </a:extLst>
          </p:cNvPr>
          <p:cNvSpPr>
            <a:spLocks noGrp="1"/>
          </p:cNvSpPr>
          <p:nvPr/>
        </p:nvSpPr>
        <p:spPr>
          <a:xfrm>
            <a:off x="10096500" y="2266950"/>
            <a:ext cx="1666875" cy="657225"/>
          </a:xfrm>
          <a:prstGeom prst="roundRect">
            <a:avLst>
              <a:gd name="adj" fmla="val 11594"/>
            </a:avLst>
          </a:prstGeom>
          <a:solidFill>
            <a:srgbClr val="F1F5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USB-C power</a:t>
            </a:r>
          </a:p>
          <a:p>
            <a:pPr algn="ctr">
              <a:defRPr sz="1350" b="1">
                <a:solidFill>
                  <a:srgbClr val="182D86"/>
                </a:solidFill>
                <a:latin typeface="Arial"/>
                <a:ea typeface="Arial"/>
                <a:cs typeface="Arial"/>
              </a:defRPr>
            </a:pPr>
            <a:r>
              <a:rPr sz="1350" b="1">
                <a:solidFill>
                  <a:srgbClr val="182D86"/>
                </a:solidFill>
                <a:latin typeface="Arial"/>
                <a:ea typeface="Arial"/>
                <a:cs typeface="Arial"/>
              </a:rPr>
              <a:t>Mains supply</a:t>
            </a:r>
          </a:p>
        </p:txBody>
      </p:sp>
      <p:sp>
        <p:nvSpPr>
          <p:cNvPr id="14" name="remote-laptop">
            <a:extLst>
              <a:ext uri="{FF2B5EF4-FFF2-40B4-BE49-F238E27FC236}">
                <a16:creationId xmlns:a16="http://schemas.microsoft.com/office/drawing/2014/main" id="{454DCAEA-F7A0-4533-881F-DF40BC30B3AB}"/>
              </a:ext>
            </a:extLst>
          </p:cNvPr>
          <p:cNvSpPr>
            <a:spLocks noGrp="1"/>
          </p:cNvSpPr>
          <p:nvPr/>
        </p:nvSpPr>
        <p:spPr>
          <a:xfrm>
            <a:off x="9915525" y="5000625"/>
            <a:ext cx="1847850" cy="657225"/>
          </a:xfrm>
          <a:prstGeom prst="roundRect">
            <a:avLst>
              <a:gd name="adj" fmla="val 11594"/>
            </a:avLst>
          </a:prstGeom>
          <a:solidFill>
            <a:srgbClr val="F1F5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Laptop</a:t>
            </a:r>
          </a:p>
          <a:p>
            <a:pPr algn="ctr">
              <a:defRPr sz="1350" b="1">
                <a:solidFill>
                  <a:srgbClr val="182D86"/>
                </a:solidFill>
                <a:latin typeface="Arial"/>
                <a:ea typeface="Arial"/>
                <a:cs typeface="Arial"/>
              </a:defRPr>
            </a:pPr>
            <a:r>
              <a:rPr sz="1350" b="1">
                <a:solidFill>
                  <a:srgbClr val="182D86"/>
                </a:solidFill>
                <a:latin typeface="Arial"/>
                <a:ea typeface="Arial"/>
                <a:cs typeface="Arial"/>
              </a:rPr>
              <a:t>Raspberry Pi Connect</a:t>
            </a:r>
          </a:p>
        </p:txBody>
      </p:sp>
      <p:sp>
        <p:nvSpPr>
          <p:cNvPr id="20" name="sensor-wire-label">
            <a:extLst>
              <a:ext uri="{FF2B5EF4-FFF2-40B4-BE49-F238E27FC236}">
                <a16:creationId xmlns:a16="http://schemas.microsoft.com/office/drawing/2014/main" id="{7AA55D15-C522-4F25-B2A0-91E989BDAC33}"/>
              </a:ext>
            </a:extLst>
          </p:cNvPr>
          <p:cNvSpPr>
            <a:spLocks noGrp="1"/>
          </p:cNvSpPr>
          <p:nvPr/>
        </p:nvSpPr>
        <p:spPr>
          <a:xfrm>
            <a:off x="6762750" y="2886075"/>
            <a:ext cx="1428750" cy="257175"/>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Power + I²C</a:t>
            </a:r>
          </a:p>
        </p:txBody>
      </p:sp>
      <p:sp>
        <p:nvSpPr>
          <p:cNvPr id="21" name="led-wire-label">
            <a:extLst>
              <a:ext uri="{FF2B5EF4-FFF2-40B4-BE49-F238E27FC236}">
                <a16:creationId xmlns:a16="http://schemas.microsoft.com/office/drawing/2014/main" id="{1E6B12AB-174E-4615-86C5-1E31C24D806A}"/>
              </a:ext>
            </a:extLst>
          </p:cNvPr>
          <p:cNvSpPr>
            <a:spLocks noGrp="1"/>
          </p:cNvSpPr>
          <p:nvPr/>
        </p:nvSpPr>
        <p:spPr>
          <a:xfrm>
            <a:off x="6753225" y="4543425"/>
            <a:ext cx="1524000" cy="257175"/>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Wires + resistor</a:t>
            </a:r>
          </a:p>
        </p:txBody>
      </p:sp>
      <p:sp>
        <p:nvSpPr>
          <p:cNvPr id="22" name="gpio-wire-label">
            <a:extLst>
              <a:ext uri="{FF2B5EF4-FFF2-40B4-BE49-F238E27FC236}">
                <a16:creationId xmlns:a16="http://schemas.microsoft.com/office/drawing/2014/main" id="{7DAD0533-600B-459C-B7D5-63E1589229AD}"/>
              </a:ext>
            </a:extLst>
          </p:cNvPr>
          <p:cNvSpPr>
            <a:spLocks noGrp="1"/>
          </p:cNvSpPr>
          <p:nvPr/>
        </p:nvSpPr>
        <p:spPr>
          <a:xfrm>
            <a:off x="9305925" y="3124200"/>
            <a:ext cx="1095375" cy="247650"/>
          </a:xfrm>
          <a:prstGeom prst="rect">
            <a:avLst/>
          </a:prstGeom>
          <a:noFill/>
          <a:ln w="0">
            <a:noFill/>
          </a:ln>
        </p:spPr>
        <p:txBody>
          <a:bodyPr anchor="ctr"/>
          <a:lstStyle>
            <a:defPPr>
              <a:defRPr sz="1125" b="0">
                <a:solidFill>
                  <a:srgbClr val="5D647A"/>
                </a:solidFill>
                <a:latin typeface="Arial"/>
                <a:ea typeface="Arial"/>
                <a:cs typeface="Arial"/>
              </a:defRPr>
            </a:defPPr>
          </a:lstStyle>
          <a:p>
            <a:pPr>
              <a:defRPr sz="1125" b="0">
                <a:solidFill>
                  <a:srgbClr val="5D647A"/>
                </a:solidFill>
                <a:latin typeface="Arial"/>
                <a:ea typeface="Arial"/>
                <a:cs typeface="Arial"/>
              </a:defRPr>
            </a:pPr>
            <a:r>
              <a:rPr sz="1125" b="0">
                <a:solidFill>
                  <a:srgbClr val="5D647A"/>
                </a:solidFill>
                <a:latin typeface="Arial"/>
                <a:ea typeface="Arial"/>
                <a:cs typeface="Arial"/>
              </a:rPr>
              <a:t>Jumper wires</a:t>
            </a:r>
          </a:p>
        </p:txBody>
      </p:sp>
      <p:sp>
        <p:nvSpPr>
          <p:cNvPr id="23" name="wifi-label">
            <a:extLst>
              <a:ext uri="{FF2B5EF4-FFF2-40B4-BE49-F238E27FC236}">
                <a16:creationId xmlns:a16="http://schemas.microsoft.com/office/drawing/2014/main" id="{BFAA3AA4-5B78-4B6B-9BD2-B26B54301612}"/>
              </a:ext>
            </a:extLst>
          </p:cNvPr>
          <p:cNvSpPr>
            <a:spLocks noGrp="1"/>
          </p:cNvSpPr>
          <p:nvPr/>
        </p:nvSpPr>
        <p:spPr>
          <a:xfrm>
            <a:off x="8553450" y="4600575"/>
            <a:ext cx="1714500" cy="24765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Wi-Fi / Internet</a:t>
            </a:r>
          </a:p>
        </p:txBody>
      </p:sp>
      <p:sp>
        <p:nvSpPr>
          <p:cNvPr id="25" name="shannon-journey-background">
            <a:extLst>
              <a:ext uri="{FF2B5EF4-FFF2-40B4-BE49-F238E27FC236}">
                <a16:creationId xmlns:a16="http://schemas.microsoft.com/office/drawing/2014/main" id="{E1D149FE-4703-4AE7-AAB1-CD16EC967EAE}"/>
              </a:ext>
            </a:extLst>
          </p:cNvPr>
          <p:cNvSpPr>
            <a:spLocks noGrp="1"/>
          </p:cNvSpPr>
          <p:nvPr/>
        </p:nvSpPr>
        <p:spPr>
          <a:xfrm>
            <a:off x="400050" y="1000125"/>
            <a:ext cx="11430000" cy="638175"/>
          </a:xfrm>
          <a:prstGeom prst="roundRect">
            <a:avLst>
              <a:gd name="adj" fmla="val 11940"/>
            </a:avLst>
          </a:prstGeom>
          <a:solidFill>
            <a:srgbClr val="FFF4DE"/>
          </a:solidFill>
          <a:ln w="0">
            <a:noFill/>
          </a:ln>
        </p:spPr>
        <p:txBody>
          <a:bodyPr/>
          <a:lstStyle/>
          <a:p>
            <a:endParaRPr lang="en-IE"/>
          </a:p>
        </p:txBody>
      </p:sp>
      <p:sp>
        <p:nvSpPr>
          <p:cNvPr id="26" name="use-case-label">
            <a:extLst>
              <a:ext uri="{FF2B5EF4-FFF2-40B4-BE49-F238E27FC236}">
                <a16:creationId xmlns:a16="http://schemas.microsoft.com/office/drawing/2014/main" id="{8F1215DA-97D6-4E0F-A0B0-008CADEACC3D}"/>
              </a:ext>
            </a:extLst>
          </p:cNvPr>
          <p:cNvSpPr>
            <a:spLocks noGrp="1"/>
          </p:cNvSpPr>
          <p:nvPr/>
        </p:nvSpPr>
        <p:spPr>
          <a:xfrm>
            <a:off x="514350" y="1019175"/>
            <a:ext cx="11049000" cy="228600"/>
          </a:xfrm>
          <a:prstGeom prst="rect">
            <a:avLst/>
          </a:prstGeom>
          <a:noFill/>
          <a:ln w="0">
            <a:noFill/>
          </a:ln>
        </p:spPr>
        <p:txBody>
          <a:bodyPr anchor="ctr"/>
          <a:lstStyle>
            <a:defPPr>
              <a:defRPr sz="1200" b="1">
                <a:solidFill>
                  <a:srgbClr val="737B91"/>
                </a:solidFill>
                <a:latin typeface="Arial"/>
                <a:ea typeface="Arial"/>
                <a:cs typeface="Arial"/>
              </a:defRPr>
            </a:defPPr>
          </a:lstStyle>
          <a:p>
            <a:pPr>
              <a:defRPr sz="1200" b="1">
                <a:solidFill>
                  <a:srgbClr val="737B91"/>
                </a:solidFill>
                <a:latin typeface="Arial"/>
                <a:ea typeface="Arial"/>
                <a:cs typeface="Arial"/>
              </a:defRPr>
            </a:pPr>
            <a:r>
              <a:rPr sz="1200" b="1">
                <a:solidFill>
                  <a:srgbClr val="737B91"/>
                </a:solidFill>
                <a:latin typeface="Arial"/>
                <a:ea typeface="Arial"/>
                <a:cs typeface="Arial"/>
              </a:rPr>
              <a:t>SHANNON'S JOURNEY</a:t>
            </a:r>
          </a:p>
        </p:txBody>
      </p:sp>
      <p:sp>
        <p:nvSpPr>
          <p:cNvPr id="27" name="journey-number-0">
            <a:extLst>
              <a:ext uri="{FF2B5EF4-FFF2-40B4-BE49-F238E27FC236}">
                <a16:creationId xmlns:a16="http://schemas.microsoft.com/office/drawing/2014/main" id="{78FE1A4F-E8A7-463F-AA7D-916F6A30C63C}"/>
              </a:ext>
            </a:extLst>
          </p:cNvPr>
          <p:cNvSpPr>
            <a:spLocks noGrp="1"/>
          </p:cNvSpPr>
          <p:nvPr/>
        </p:nvSpPr>
        <p:spPr>
          <a:xfrm>
            <a:off x="514350"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a:solidFill>
                  <a:srgbClr val="737B91"/>
                </a:solidFill>
                <a:latin typeface="Arial"/>
                <a:ea typeface="Arial"/>
                <a:cs typeface="Arial"/>
              </a:rPr>
              <a:t>STEP 1</a:t>
            </a:r>
          </a:p>
        </p:txBody>
      </p:sp>
      <p:sp>
        <p:nvSpPr>
          <p:cNvPr id="28" name="journey-action-0">
            <a:extLst>
              <a:ext uri="{FF2B5EF4-FFF2-40B4-BE49-F238E27FC236}">
                <a16:creationId xmlns:a16="http://schemas.microsoft.com/office/drawing/2014/main" id="{E53453AD-90A7-4BE0-BEBF-8FBA2AE31178}"/>
              </a:ext>
            </a:extLst>
          </p:cNvPr>
          <p:cNvSpPr>
            <a:spLocks noGrp="1"/>
          </p:cNvSpPr>
          <p:nvPr/>
        </p:nvSpPr>
        <p:spPr>
          <a:xfrm>
            <a:off x="1276350" y="1257300"/>
            <a:ext cx="2667000" cy="323850"/>
          </a:xfrm>
          <a:prstGeom prst="rect">
            <a:avLst/>
          </a:prstGeom>
          <a:noFill/>
          <a:ln w="0">
            <a:noFill/>
          </a:ln>
        </p:spPr>
        <p:txBody>
          <a:bodyPr anchor="ctr"/>
          <a:lstStyle>
            <a:defPPr>
              <a:defRPr sz="1650" b="1">
                <a:solidFill>
                  <a:srgbClr val="986317"/>
                </a:solidFill>
                <a:latin typeface="Arial"/>
                <a:ea typeface="Arial"/>
                <a:cs typeface="Arial"/>
              </a:defRPr>
            </a:defPPr>
          </a:lstStyle>
          <a:p>
            <a:pPr>
              <a:defRPr sz="1650" b="1">
                <a:solidFill>
                  <a:srgbClr val="986317"/>
                </a:solidFill>
                <a:latin typeface="Arial"/>
                <a:ea typeface="Arial"/>
                <a:cs typeface="Arial"/>
              </a:defRPr>
            </a:pPr>
            <a:r>
              <a:rPr sz="1650" b="1">
                <a:solidFill>
                  <a:srgbClr val="986317"/>
                </a:solidFill>
                <a:latin typeface="Arial"/>
                <a:ea typeface="Arial"/>
                <a:cs typeface="Arial"/>
              </a:rPr>
              <a:t>Receive an alert</a:t>
            </a:r>
          </a:p>
        </p:txBody>
      </p:sp>
      <p:sp>
        <p:nvSpPr>
          <p:cNvPr id="29" name="journey-number-1">
            <a:extLst>
              <a:ext uri="{FF2B5EF4-FFF2-40B4-BE49-F238E27FC236}">
                <a16:creationId xmlns:a16="http://schemas.microsoft.com/office/drawing/2014/main" id="{4D0284CE-A1A7-4DAB-88F3-D64CBBD74470}"/>
              </a:ext>
            </a:extLst>
          </p:cNvPr>
          <p:cNvSpPr>
            <a:spLocks noGrp="1"/>
          </p:cNvSpPr>
          <p:nvPr/>
        </p:nvSpPr>
        <p:spPr>
          <a:xfrm>
            <a:off x="4543425"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a:solidFill>
                  <a:srgbClr val="737B91"/>
                </a:solidFill>
                <a:latin typeface="Arial"/>
                <a:ea typeface="Arial"/>
                <a:cs typeface="Arial"/>
              </a:rPr>
              <a:t>STEP 2</a:t>
            </a:r>
          </a:p>
        </p:txBody>
      </p:sp>
      <p:sp>
        <p:nvSpPr>
          <p:cNvPr id="30" name="journey-action-1">
            <a:extLst>
              <a:ext uri="{FF2B5EF4-FFF2-40B4-BE49-F238E27FC236}">
                <a16:creationId xmlns:a16="http://schemas.microsoft.com/office/drawing/2014/main" id="{580033FB-F99D-40D3-A47B-8DD739DA5EE9}"/>
              </a:ext>
            </a:extLst>
          </p:cNvPr>
          <p:cNvSpPr>
            <a:spLocks noGrp="1"/>
          </p:cNvSpPr>
          <p:nvPr/>
        </p:nvSpPr>
        <p:spPr>
          <a:xfrm>
            <a:off x="5305425" y="1257300"/>
            <a:ext cx="2667000" cy="3238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dirty="0">
                <a:solidFill>
                  <a:srgbClr val="182D86"/>
                </a:solidFill>
                <a:latin typeface="Arial"/>
                <a:ea typeface="Arial"/>
                <a:cs typeface="Arial"/>
              </a:rPr>
              <a:t>Check the app</a:t>
            </a:r>
          </a:p>
        </p:txBody>
      </p:sp>
      <p:sp>
        <p:nvSpPr>
          <p:cNvPr id="31" name="journey-number-2">
            <a:extLst>
              <a:ext uri="{FF2B5EF4-FFF2-40B4-BE49-F238E27FC236}">
                <a16:creationId xmlns:a16="http://schemas.microsoft.com/office/drawing/2014/main" id="{31399E21-F546-4A4A-BB46-06210EB76640}"/>
              </a:ext>
            </a:extLst>
          </p:cNvPr>
          <p:cNvSpPr>
            <a:spLocks noGrp="1"/>
          </p:cNvSpPr>
          <p:nvPr/>
        </p:nvSpPr>
        <p:spPr>
          <a:xfrm>
            <a:off x="8572500"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a:solidFill>
                  <a:srgbClr val="737B91"/>
                </a:solidFill>
                <a:latin typeface="Arial"/>
                <a:ea typeface="Arial"/>
                <a:cs typeface="Arial"/>
              </a:rPr>
              <a:t>STEP 3</a:t>
            </a:r>
          </a:p>
        </p:txBody>
      </p:sp>
      <p:sp>
        <p:nvSpPr>
          <p:cNvPr id="32" name="journey-action-2">
            <a:extLst>
              <a:ext uri="{FF2B5EF4-FFF2-40B4-BE49-F238E27FC236}">
                <a16:creationId xmlns:a16="http://schemas.microsoft.com/office/drawing/2014/main" id="{506BA9C4-AFC3-4A9E-B127-5FA4F1C0B51B}"/>
              </a:ext>
            </a:extLst>
          </p:cNvPr>
          <p:cNvSpPr>
            <a:spLocks noGrp="1"/>
          </p:cNvSpPr>
          <p:nvPr/>
        </p:nvSpPr>
        <p:spPr>
          <a:xfrm>
            <a:off x="9334500" y="1257300"/>
            <a:ext cx="2667000" cy="323850"/>
          </a:xfrm>
          <a:prstGeom prst="rect">
            <a:avLst/>
          </a:prstGeom>
          <a:noFill/>
          <a:ln w="0">
            <a:noFill/>
          </a:ln>
        </p:spPr>
        <p:txBody>
          <a:bodyPr anchor="ctr"/>
          <a:lstStyle>
            <a:defPPr>
              <a:defRPr sz="1650" b="1">
                <a:solidFill>
                  <a:srgbClr val="336B62"/>
                </a:solidFill>
                <a:latin typeface="Arial"/>
                <a:ea typeface="Arial"/>
                <a:cs typeface="Arial"/>
              </a:defRPr>
            </a:defPPr>
          </a:lstStyle>
          <a:p>
            <a:pPr>
              <a:defRPr sz="1650" b="1">
                <a:solidFill>
                  <a:srgbClr val="336B62"/>
                </a:solidFill>
                <a:latin typeface="Arial"/>
                <a:ea typeface="Arial"/>
                <a:cs typeface="Arial"/>
              </a:defRPr>
            </a:pPr>
            <a:r>
              <a:rPr sz="1650" b="1">
                <a:solidFill>
                  <a:srgbClr val="336B62"/>
                </a:solidFill>
                <a:latin typeface="Arial"/>
                <a:ea typeface="Arial"/>
                <a:cs typeface="Arial"/>
              </a:rPr>
              <a:t>Review the box history</a:t>
            </a:r>
          </a:p>
        </p:txBody>
      </p:sp>
      <p:sp>
        <p:nvSpPr>
          <p:cNvPr id="33" name="data-flow-0">
            <a:extLst>
              <a:ext uri="{FF2B5EF4-FFF2-40B4-BE49-F238E27FC236}">
                <a16:creationId xmlns:a16="http://schemas.microsoft.com/office/drawing/2014/main" id="{B685F9C1-9169-43A7-9050-AD5843B04FCB}"/>
              </a:ext>
            </a:extLst>
          </p:cNvPr>
          <p:cNvSpPr>
            <a:spLocks noGrp="1"/>
          </p:cNvSpPr>
          <p:nvPr/>
        </p:nvSpPr>
        <p:spPr>
          <a:xfrm>
            <a:off x="476251"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a:solidFill>
                  <a:srgbClr val="182D86"/>
                </a:solidFill>
                <a:latin typeface="Arial"/>
                <a:ea typeface="Arial"/>
                <a:cs typeface="Arial"/>
              </a:rPr>
              <a:t>SCD-41 → Pi 400</a:t>
            </a:r>
          </a:p>
        </p:txBody>
      </p:sp>
      <p:sp>
        <p:nvSpPr>
          <p:cNvPr id="34" name="data-detail-0">
            <a:extLst>
              <a:ext uri="{FF2B5EF4-FFF2-40B4-BE49-F238E27FC236}">
                <a16:creationId xmlns:a16="http://schemas.microsoft.com/office/drawing/2014/main" id="{0339BD15-0320-4193-BECF-31F72C1C6CF1}"/>
              </a:ext>
            </a:extLst>
          </p:cNvPr>
          <p:cNvSpPr>
            <a:spLocks noGrp="1"/>
          </p:cNvSpPr>
          <p:nvPr/>
        </p:nvSpPr>
        <p:spPr>
          <a:xfrm>
            <a:off x="476251"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Temperature samples + local LED</a:t>
            </a:r>
          </a:p>
        </p:txBody>
      </p:sp>
      <p:sp>
        <p:nvSpPr>
          <p:cNvPr id="35" name="data-arrow-0">
            <a:extLst>
              <a:ext uri="{FF2B5EF4-FFF2-40B4-BE49-F238E27FC236}">
                <a16:creationId xmlns:a16="http://schemas.microsoft.com/office/drawing/2014/main" id="{8018479F-C83C-4923-9DF1-C3D51E9A6ECF}"/>
              </a:ext>
            </a:extLst>
          </p:cNvPr>
          <p:cNvSpPr>
            <a:spLocks noGrp="1"/>
          </p:cNvSpPr>
          <p:nvPr/>
        </p:nvSpPr>
        <p:spPr>
          <a:xfrm>
            <a:off x="3429001" y="5681663"/>
            <a:ext cx="381000" cy="285750"/>
          </a:xfrm>
          <a:prstGeom prst="rect">
            <a:avLst/>
          </a:prstGeom>
          <a:noFill/>
          <a:ln w="0">
            <a:noFill/>
          </a:ln>
        </p:spPr>
        <p:txBody>
          <a:bodyPr anchor="ctr"/>
          <a:lstStyle>
            <a:defPPr>
              <a:defRPr sz="1950" b="0">
                <a:solidFill>
                  <a:srgbClr val="8A7AB7"/>
                </a:solidFill>
                <a:latin typeface="Arial"/>
                <a:ea typeface="Arial"/>
                <a:cs typeface="Arial"/>
              </a:defRPr>
            </a:defPPr>
          </a:lstStyle>
          <a:p>
            <a:pPr>
              <a:defRPr sz="1950" b="0">
                <a:solidFill>
                  <a:srgbClr val="8A7AB7"/>
                </a:solidFill>
                <a:latin typeface="Arial"/>
                <a:ea typeface="Arial"/>
                <a:cs typeface="Arial"/>
              </a:defRPr>
            </a:pPr>
            <a:r>
              <a:rPr sz="1950" b="0" dirty="0">
                <a:solidFill>
                  <a:srgbClr val="8A7AB7"/>
                </a:solidFill>
                <a:latin typeface="Arial"/>
                <a:ea typeface="Arial"/>
                <a:cs typeface="Arial"/>
              </a:rPr>
              <a:t>→</a:t>
            </a:r>
          </a:p>
        </p:txBody>
      </p:sp>
      <p:sp>
        <p:nvSpPr>
          <p:cNvPr id="36" name="data-flow-1">
            <a:extLst>
              <a:ext uri="{FF2B5EF4-FFF2-40B4-BE49-F238E27FC236}">
                <a16:creationId xmlns:a16="http://schemas.microsoft.com/office/drawing/2014/main" id="{F3C7C80D-1D1B-4A1E-A3DB-A71D50ED26BD}"/>
              </a:ext>
            </a:extLst>
          </p:cNvPr>
          <p:cNvSpPr>
            <a:spLocks noGrp="1"/>
          </p:cNvSpPr>
          <p:nvPr/>
        </p:nvSpPr>
        <p:spPr>
          <a:xfrm>
            <a:off x="4505326"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a:solidFill>
                  <a:srgbClr val="182D86"/>
                </a:solidFill>
                <a:latin typeface="Arial"/>
                <a:ea typeface="Arial"/>
                <a:cs typeface="Arial"/>
              </a:rPr>
              <a:t>HTTPS API</a:t>
            </a:r>
          </a:p>
        </p:txBody>
      </p:sp>
      <p:sp>
        <p:nvSpPr>
          <p:cNvPr id="37" name="data-detail-1">
            <a:extLst>
              <a:ext uri="{FF2B5EF4-FFF2-40B4-BE49-F238E27FC236}">
                <a16:creationId xmlns:a16="http://schemas.microsoft.com/office/drawing/2014/main" id="{4DBF7D4A-038C-430E-B479-B3178E2F45C7}"/>
              </a:ext>
            </a:extLst>
          </p:cNvPr>
          <p:cNvSpPr>
            <a:spLocks noGrp="1"/>
          </p:cNvSpPr>
          <p:nvPr/>
        </p:nvSpPr>
        <p:spPr>
          <a:xfrm>
            <a:off x="4505326"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FastAPI + MySQL</a:t>
            </a:r>
          </a:p>
        </p:txBody>
      </p:sp>
      <p:sp>
        <p:nvSpPr>
          <p:cNvPr id="38" name="data-arrow-1">
            <a:extLst>
              <a:ext uri="{FF2B5EF4-FFF2-40B4-BE49-F238E27FC236}">
                <a16:creationId xmlns:a16="http://schemas.microsoft.com/office/drawing/2014/main" id="{A9665AA6-4BE3-4701-9F52-B22896B5B65D}"/>
              </a:ext>
            </a:extLst>
          </p:cNvPr>
          <p:cNvSpPr>
            <a:spLocks noGrp="1"/>
          </p:cNvSpPr>
          <p:nvPr/>
        </p:nvSpPr>
        <p:spPr>
          <a:xfrm>
            <a:off x="6448425" y="5657850"/>
            <a:ext cx="381000" cy="285750"/>
          </a:xfrm>
          <a:prstGeom prst="rect">
            <a:avLst/>
          </a:prstGeom>
          <a:noFill/>
          <a:ln w="0">
            <a:noFill/>
          </a:ln>
        </p:spPr>
        <p:txBody>
          <a:bodyPr anchor="ctr"/>
          <a:lstStyle>
            <a:defPPr>
              <a:defRPr sz="1950" b="0">
                <a:solidFill>
                  <a:srgbClr val="8A7AB7"/>
                </a:solidFill>
                <a:latin typeface="Arial"/>
                <a:ea typeface="Arial"/>
                <a:cs typeface="Arial"/>
              </a:defRPr>
            </a:defPPr>
          </a:lstStyle>
          <a:p>
            <a:pPr>
              <a:defRPr sz="1950" b="0">
                <a:solidFill>
                  <a:srgbClr val="8A7AB7"/>
                </a:solidFill>
                <a:latin typeface="Arial"/>
                <a:ea typeface="Arial"/>
                <a:cs typeface="Arial"/>
              </a:defRPr>
            </a:pPr>
            <a:r>
              <a:rPr sz="1950" b="0" dirty="0">
                <a:solidFill>
                  <a:srgbClr val="8A7AB7"/>
                </a:solidFill>
                <a:latin typeface="Arial"/>
                <a:ea typeface="Arial"/>
                <a:cs typeface="Arial"/>
              </a:rPr>
              <a:t>→</a:t>
            </a:r>
          </a:p>
        </p:txBody>
      </p:sp>
      <p:sp>
        <p:nvSpPr>
          <p:cNvPr id="39" name="data-flow-2">
            <a:extLst>
              <a:ext uri="{FF2B5EF4-FFF2-40B4-BE49-F238E27FC236}">
                <a16:creationId xmlns:a16="http://schemas.microsoft.com/office/drawing/2014/main" id="{DA561F34-FA83-43B2-A9D8-19A0DCC6CD42}"/>
              </a:ext>
            </a:extLst>
          </p:cNvPr>
          <p:cNvSpPr>
            <a:spLocks noGrp="1"/>
          </p:cNvSpPr>
          <p:nvPr/>
        </p:nvSpPr>
        <p:spPr>
          <a:xfrm>
            <a:off x="7429501"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lang="en-IE" sz="1650" b="1" dirty="0">
                <a:solidFill>
                  <a:srgbClr val="182D86"/>
                </a:solidFill>
                <a:latin typeface="Arial"/>
                <a:ea typeface="Arial"/>
                <a:cs typeface="Arial"/>
              </a:rPr>
              <a:t>Mobile</a:t>
            </a:r>
            <a:r>
              <a:rPr sz="1650" b="1" dirty="0">
                <a:solidFill>
                  <a:srgbClr val="182D86"/>
                </a:solidFill>
                <a:latin typeface="Arial"/>
                <a:ea typeface="Arial"/>
                <a:cs typeface="Arial"/>
              </a:rPr>
              <a:t> application</a:t>
            </a:r>
          </a:p>
        </p:txBody>
      </p:sp>
      <p:sp>
        <p:nvSpPr>
          <p:cNvPr id="40" name="data-detail-2">
            <a:extLst>
              <a:ext uri="{FF2B5EF4-FFF2-40B4-BE49-F238E27FC236}">
                <a16:creationId xmlns:a16="http://schemas.microsoft.com/office/drawing/2014/main" id="{6DAF5155-A84B-4FA1-80E7-A6FAEC267FBB}"/>
              </a:ext>
            </a:extLst>
          </p:cNvPr>
          <p:cNvSpPr>
            <a:spLocks noGrp="1"/>
          </p:cNvSpPr>
          <p:nvPr/>
        </p:nvSpPr>
        <p:spPr>
          <a:xfrm>
            <a:off x="7305675"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dirty="0">
                <a:solidFill>
                  <a:srgbClr val="5D647A"/>
                </a:solidFill>
                <a:latin typeface="Arial"/>
                <a:ea typeface="Arial"/>
                <a:cs typeface="Arial"/>
              </a:rPr>
              <a:t>Status + history + phone alerts</a:t>
            </a:r>
          </a:p>
        </p:txBody>
      </p:sp>
    </p:spTree>
    <p:extLst>
      <p:ext uri="{BB962C8B-B14F-4D97-AF65-F5344CB8AC3E}">
        <p14:creationId xmlns:p14="http://schemas.microsoft.com/office/powerpoint/2010/main" val="3904041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379</Words>
  <Application>Microsoft Macintosh PowerPoint</Application>
  <DocSecurity>0</DocSecurity>
  <PresentationFormat>Widescreen</PresentationFormat>
  <Paragraphs>39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Nikita Smiichyk</cp:lastModifiedBy>
  <cp:revision>1</cp:revision>
  <dcterms:created xsi:type="dcterms:W3CDTF">2026-10-09T00:15:23Z</dcterms:created>
  <dcterms:modified xsi:type="dcterms:W3CDTF">2026-10-09T00:20:24Z</dcterms:modified>
</cp:coreProperties>
</file>