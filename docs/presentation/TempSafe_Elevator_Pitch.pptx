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8" r:id="rId2"/>
    <p:sldId id="256" r:id="rId3"/>
    <p:sldId id="257" r:id="rId4"/>
    <p:sldId id="259" r:id="rId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C4A416-4C3A-495D-9625-8A44EDC70D33}" v="25" dt="2026-10-06T07:56: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23"/>
    <p:restoredTop sz="94610"/>
  </p:normalViewPr>
  <p:slideViewPr>
    <p:cSldViewPr snapToGrid="0" snapToObjects="1">
      <p:cViewPr varScale="1">
        <p:scale>
          <a:sx n="126" d="100"/>
          <a:sy n="126" d="100"/>
        </p:scale>
        <p:origin x="232"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na Bokariuk" userId="fd5399e8-0949-4b9d-b255-fc007b27d60c" providerId="ADAL" clId="{8C1C02D4-1D0A-483D-B224-A1E06DCB062F}"/>
    <pc:docChg chg="undo custSel modSld">
      <pc:chgData name="Hanna Bokariuk" userId="fd5399e8-0949-4b9d-b255-fc007b27d60c" providerId="ADAL" clId="{8C1C02D4-1D0A-483D-B224-A1E06DCB062F}" dt="2026-10-06T07:56:36.618" v="46" actId="1076"/>
      <pc:docMkLst>
        <pc:docMk/>
      </pc:docMkLst>
      <pc:sldChg chg="addSp delSp modSp mod modAnim">
        <pc:chgData name="Hanna Bokariuk" userId="fd5399e8-0949-4b9d-b255-fc007b27d60c" providerId="ADAL" clId="{8C1C02D4-1D0A-483D-B224-A1E06DCB062F}" dt="2026-10-06T07:56:36.618" v="46" actId="1076"/>
        <pc:sldMkLst>
          <pc:docMk/>
          <pc:sldMk cId="0" sldId="256"/>
        </pc:sldMkLst>
        <pc:spChg chg="add del mod ord">
          <ac:chgData name="Hanna Bokariuk" userId="fd5399e8-0949-4b9d-b255-fc007b27d60c" providerId="ADAL" clId="{8C1C02D4-1D0A-483D-B224-A1E06DCB062F}" dt="2026-10-06T07:56:36.618" v="46" actId="1076"/>
          <ac:spMkLst>
            <pc:docMk/>
            <pc:sldMk cId="0" sldId="256"/>
            <ac:spMk id="2" creationId="{00000000-0000-0000-0000-000000000000}"/>
          </ac:spMkLst>
        </pc:spChg>
        <pc:spChg chg="mod">
          <ac:chgData name="Hanna Bokariuk" userId="fd5399e8-0949-4b9d-b255-fc007b27d60c" providerId="ADAL" clId="{8C1C02D4-1D0A-483D-B224-A1E06DCB062F}" dt="2026-10-05T22:30:04.809" v="2" actId="1076"/>
          <ac:spMkLst>
            <pc:docMk/>
            <pc:sldMk cId="0" sldId="256"/>
            <ac:spMk id="6"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8"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9"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0"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1"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2"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3"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4"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5"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6"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7"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8"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9"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0"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1"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2"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3"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4"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5"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6"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7" creationId="{00000000-0000-0000-0000-000000000000}"/>
          </ac:spMkLst>
        </pc:spChg>
        <pc:spChg chg="mod">
          <ac:chgData name="Hanna Bokariuk" userId="fd5399e8-0949-4b9d-b255-fc007b27d60c" providerId="ADAL" clId="{8C1C02D4-1D0A-483D-B224-A1E06DCB062F}" dt="2026-10-05T22:29:57.236" v="1" actId="1076"/>
          <ac:spMkLst>
            <pc:docMk/>
            <pc:sldMk cId="0" sldId="256"/>
            <ac:spMk id="29" creationId="{A6127068-4B25-9293-33A4-97EF49858F13}"/>
          </ac:spMkLst>
        </pc:spChg>
        <pc:grpChg chg="add mod">
          <ac:chgData name="Hanna Bokariuk" userId="fd5399e8-0949-4b9d-b255-fc007b27d60c" providerId="ADAL" clId="{8C1C02D4-1D0A-483D-B224-A1E06DCB062F}" dt="2026-10-06T07:51:25.562" v="22" actId="164"/>
          <ac:grpSpMkLst>
            <pc:docMk/>
            <pc:sldMk cId="0" sldId="256"/>
            <ac:grpSpMk id="28" creationId="{6509B96E-BDA4-7EE7-5854-69521607260E}"/>
          </ac:grpSpMkLst>
        </pc:grpChg>
        <pc:grpChg chg="add mod">
          <ac:chgData name="Hanna Bokariuk" userId="fd5399e8-0949-4b9d-b255-fc007b27d60c" providerId="ADAL" clId="{8C1C02D4-1D0A-483D-B224-A1E06DCB062F}" dt="2026-10-06T07:51:55.819" v="24" actId="164"/>
          <ac:grpSpMkLst>
            <pc:docMk/>
            <pc:sldMk cId="0" sldId="256"/>
            <ac:grpSpMk id="30" creationId="{FFB08D8C-4489-86E2-0084-10A640D248DC}"/>
          </ac:grpSpMkLst>
        </pc:grpChg>
        <pc:grpChg chg="add mod">
          <ac:chgData name="Hanna Bokariuk" userId="fd5399e8-0949-4b9d-b255-fc007b27d60c" providerId="ADAL" clId="{8C1C02D4-1D0A-483D-B224-A1E06DCB062F}" dt="2026-10-06T07:52:11.583" v="25" actId="164"/>
          <ac:grpSpMkLst>
            <pc:docMk/>
            <pc:sldMk cId="0" sldId="256"/>
            <ac:grpSpMk id="31" creationId="{18270035-8730-62D3-59B1-01B98DDCD359}"/>
          </ac:grpSpMkLst>
        </pc:grpChg>
        <pc:grpChg chg="add mod">
          <ac:chgData name="Hanna Bokariuk" userId="fd5399e8-0949-4b9d-b255-fc007b27d60c" providerId="ADAL" clId="{8C1C02D4-1D0A-483D-B224-A1E06DCB062F}" dt="2026-10-06T07:53:17.626" v="32" actId="164"/>
          <ac:grpSpMkLst>
            <pc:docMk/>
            <pc:sldMk cId="0" sldId="256"/>
            <ac:grpSpMk id="32" creationId="{416ACE97-F67E-92FE-EC9E-8E5029918450}"/>
          </ac:grpSpMkLst>
        </pc:grpChg>
        <pc:grpChg chg="add mod">
          <ac:chgData name="Hanna Bokariuk" userId="fd5399e8-0949-4b9d-b255-fc007b27d60c" providerId="ADAL" clId="{8C1C02D4-1D0A-483D-B224-A1E06DCB062F}" dt="2026-10-06T07:56:18.513" v="44" actId="164"/>
          <ac:grpSpMkLst>
            <pc:docMk/>
            <pc:sldMk cId="0" sldId="256"/>
            <ac:grpSpMk id="33" creationId="{5A66D382-E3E3-9C5D-23E5-4A63E50CD3DE}"/>
          </ac:grpSpMkLst>
        </pc:grpChg>
      </pc:sldChg>
      <pc:sldChg chg="delSp modSp mod">
        <pc:chgData name="Hanna Bokariuk" userId="fd5399e8-0949-4b9d-b255-fc007b27d60c" providerId="ADAL" clId="{8C1C02D4-1D0A-483D-B224-A1E06DCB062F}" dt="2026-10-06T07:49:44.289" v="19" actId="478"/>
        <pc:sldMkLst>
          <pc:docMk/>
          <pc:sldMk cId="1346267894" sldId="257"/>
        </pc:sldMkLst>
        <pc:spChg chg="del mod">
          <ac:chgData name="Hanna Bokariuk" userId="fd5399e8-0949-4b9d-b255-fc007b27d60c" providerId="ADAL" clId="{8C1C02D4-1D0A-483D-B224-A1E06DCB062F}" dt="2026-10-06T07:49:44.289" v="19" actId="478"/>
          <ac:spMkLst>
            <pc:docMk/>
            <pc:sldMk cId="1346267894" sldId="25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2785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Planned student prototype, demonstrated on a bench with no medicines. One physical box, with multiple users assigned to the same box ID. The existing SCD-41 provides the temperature measurement for this release. Its humidity and CO2 capabilities are outside the application scope. The photographed white dome module is not the temperature sensor used for this project. The physical LED is single-colour and lights for Warning or Alert, with distinct blinking for sensor failure. Application colours are separate. Phone notifications are Must Have and require connectivity, permission and a delivery channel to be selected and tested. Buzzer is Should Have. During an outage the Pi stores sample attempts locally and uploads them with original times after reconnection. Shannon follows her service procedures; the prototype makes no clinical decisions. Hardware: Raspberry Pi 400 powered from mains and connected over Wi-Fi. A separate computer accesses it using https://connect.raspberrypi.com/devices for remote desktop or shell access. This development access is separate from the TempSafe application and device API data flow. The simple plastic or wooden box is still to be selected; the image illustrates a plastic option. Source: https://www.raspberrypi.com/documentation/services/connect.html and https://www.adafruit.com/product/5190. Image: generated using OpenAI image generation on 8 October 2026 as a concept illustration, not a photo of completed hardware. Sources: project functional requirements, hardware parts list and initial test plan in this repository.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how Shannon actually sees TempSafe.
One: she is with a patient. At 14:04 she gets a quiet warning at 24 degrees. At 14:05 the box goes above 25: the red LED and buzzer come on, and she gets one urgent alert. Only two notifications, nothing else.
Two: when she has a free second, one glance at the app tells her everything: EXCURSION, and a big timer — 12 minutes above the limit, maximum 27.4 degrees. The status is never just colour: there is always an icon, a word and the temperature.
Three: after the call she opens the web dashboard. She sees the temperature over time and the full record our database tracked: start 14:05, end 14:23, 18 minutes, maximum 27.4 degrees. With this she can follow her service's policy and decide if the medicine is still safe. TempSafe gives her the facts; Shannon makes the decision.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97316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64592" y="137160"/>
            <a:ext cx="11862511" cy="6583680"/>
          </a:xfrm>
          <a:prstGeom prst="roundRect">
            <a:avLst>
              <a:gd name="adj" fmla="val 2222"/>
            </a:avLst>
          </a:prstGeom>
          <a:solidFill>
            <a:srgbClr val="FFFFFF"/>
          </a:solidFill>
          <a:ln w="8890">
            <a:solidFill>
              <a:srgbClr val="DAD3EF"/>
            </a:solidFill>
            <a:prstDash val="solid"/>
          </a:ln>
        </p:spPr>
        <p:txBody>
          <a:bodyPr/>
          <a:lstStyle/>
          <a:p>
            <a:endParaRPr lang="en-IE"/>
          </a:p>
        </p:txBody>
      </p:sp>
      <p:sp>
        <p:nvSpPr>
          <p:cNvPr id="3" name="Shape 1"/>
          <p:cNvSpPr/>
          <p:nvPr/>
        </p:nvSpPr>
        <p:spPr>
          <a:xfrm>
            <a:off x="164592" y="137160"/>
            <a:ext cx="11862511" cy="73152"/>
          </a:xfrm>
          <a:prstGeom prst="rect">
            <a:avLst/>
          </a:prstGeom>
          <a:solidFill>
            <a:srgbClr val="E9E5F7"/>
          </a:solidFill>
          <a:ln w="12700">
            <a:solidFill>
              <a:srgbClr val="E9E5F7">
                <a:alpha val="0"/>
              </a:srgbClr>
            </a:solidFill>
            <a:prstDash val="solid"/>
          </a:ln>
        </p:spPr>
        <p:txBody>
          <a:bodyPr/>
          <a:lstStyle/>
          <a:p>
            <a:endParaRPr lang="en-IE"/>
          </a:p>
        </p:txBody>
      </p:sp>
      <p:sp>
        <p:nvSpPr>
          <p:cNvPr id="4" name="Shape 2"/>
          <p:cNvSpPr/>
          <p:nvPr/>
        </p:nvSpPr>
        <p:spPr>
          <a:xfrm>
            <a:off x="9006840" y="502920"/>
            <a:ext cx="2651760" cy="493776"/>
          </a:xfrm>
          <a:prstGeom prst="roundRect">
            <a:avLst>
              <a:gd name="adj" fmla="val 22222"/>
            </a:avLst>
          </a:prstGeom>
          <a:solidFill>
            <a:srgbClr val="F8F6FE"/>
          </a:solidFill>
          <a:ln w="10160">
            <a:solidFill>
              <a:srgbClr val="DAD3EF"/>
            </a:solidFill>
            <a:prstDash val="solid"/>
          </a:ln>
        </p:spPr>
        <p:txBody>
          <a:bodyPr/>
          <a:lstStyle/>
          <a:p>
            <a:endParaRPr lang="en-IE"/>
          </a:p>
        </p:txBody>
      </p:sp>
      <p:sp>
        <p:nvSpPr>
          <p:cNvPr id="5" name="Text 3"/>
          <p:cNvSpPr/>
          <p:nvPr/>
        </p:nvSpPr>
        <p:spPr>
          <a:xfrm>
            <a:off x="9171432" y="585216"/>
            <a:ext cx="566928" cy="182880"/>
          </a:xfrm>
          <a:prstGeom prst="rect">
            <a:avLst/>
          </a:prstGeom>
          <a:noFill/>
          <a:ln/>
        </p:spPr>
        <p:txBody>
          <a:bodyPr wrap="square" lIns="254" tIns="254" rIns="254" bIns="254" rtlCol="0" anchor="ctr">
            <a:normAutofit fontScale="85000" lnSpcReduction="20000"/>
          </a:bodyPr>
          <a:lstStyle/>
          <a:p>
            <a:pPr marL="0" indent="0" algn="l">
              <a:buNone/>
            </a:pPr>
            <a:r>
              <a:rPr lang="en-US" sz="1700" b="1" dirty="0">
                <a:solidFill>
                  <a:srgbClr val="143A9D"/>
                </a:solidFill>
                <a:latin typeface="Aptos" pitchFamily="34" charset="0"/>
                <a:ea typeface="Aptos" pitchFamily="34" charset="-122"/>
                <a:cs typeface="Aptos" pitchFamily="34" charset="-120"/>
              </a:rPr>
              <a:t>DkIT</a:t>
            </a:r>
            <a:endParaRPr lang="en-US" sz="1700" dirty="0"/>
          </a:p>
        </p:txBody>
      </p:sp>
      <p:sp>
        <p:nvSpPr>
          <p:cNvPr id="6" name="Text 4"/>
          <p:cNvSpPr/>
          <p:nvPr/>
        </p:nvSpPr>
        <p:spPr>
          <a:xfrm>
            <a:off x="9857232" y="594360"/>
            <a:ext cx="1591056" cy="164592"/>
          </a:xfrm>
          <a:prstGeom prst="rect">
            <a:avLst/>
          </a:prstGeom>
          <a:noFill/>
          <a:ln/>
        </p:spPr>
        <p:txBody>
          <a:bodyPr wrap="square" lIns="254" tIns="254" rIns="254" bIns="254" rtlCol="0" anchor="ctr">
            <a:normAutofit/>
          </a:bodyPr>
          <a:lstStyle/>
          <a:p>
            <a:pPr marL="0" indent="0" algn="l">
              <a:buNone/>
            </a:pPr>
            <a:r>
              <a:rPr lang="en-US" sz="820" dirty="0">
                <a:solidFill>
                  <a:srgbClr val="758198"/>
                </a:solidFill>
                <a:latin typeface="Aptos" pitchFamily="34" charset="0"/>
                <a:ea typeface="Aptos" pitchFamily="34" charset="-122"/>
                <a:cs typeface="Aptos" pitchFamily="34" charset="-120"/>
              </a:rPr>
              <a:t>Dundalk Institute of Technology</a:t>
            </a:r>
            <a:endParaRPr lang="en-US" sz="820" dirty="0"/>
          </a:p>
        </p:txBody>
      </p:sp>
      <p:sp>
        <p:nvSpPr>
          <p:cNvPr id="7" name="Text 5"/>
          <p:cNvSpPr/>
          <p:nvPr/>
        </p:nvSpPr>
        <p:spPr>
          <a:xfrm>
            <a:off x="685800" y="457200"/>
            <a:ext cx="4480560" cy="530352"/>
          </a:xfrm>
          <a:prstGeom prst="rect">
            <a:avLst/>
          </a:prstGeom>
          <a:noFill/>
          <a:ln/>
        </p:spPr>
        <p:txBody>
          <a:bodyPr wrap="square" lIns="254" tIns="254" rIns="254" bIns="254" rtlCol="0" anchor="ctr">
            <a:normAutofit fontScale="92500" lnSpcReduction="10000"/>
          </a:bodyPr>
          <a:lstStyle/>
          <a:p>
            <a:pPr marL="0" indent="0" algn="l">
              <a:buNone/>
            </a:pPr>
            <a:r>
              <a:rPr lang="en-US" sz="4000" b="1" dirty="0">
                <a:solidFill>
                  <a:srgbClr val="143A9D"/>
                </a:solidFill>
                <a:latin typeface="Aptos Display" pitchFamily="34" charset="0"/>
                <a:ea typeface="Aptos Display" pitchFamily="34" charset="-122"/>
                <a:cs typeface="Aptos Display" pitchFamily="34" charset="-120"/>
              </a:rPr>
              <a:t>TempSafe</a:t>
            </a:r>
            <a:endParaRPr lang="en-US" sz="4000" dirty="0"/>
          </a:p>
        </p:txBody>
      </p:sp>
      <p:sp>
        <p:nvSpPr>
          <p:cNvPr id="8" name="Text 6"/>
          <p:cNvSpPr/>
          <p:nvPr/>
        </p:nvSpPr>
        <p:spPr>
          <a:xfrm>
            <a:off x="713232" y="1161288"/>
            <a:ext cx="5806440" cy="256032"/>
          </a:xfrm>
          <a:prstGeom prst="rect">
            <a:avLst/>
          </a:prstGeom>
          <a:noFill/>
          <a:ln/>
        </p:spPr>
        <p:txBody>
          <a:bodyPr wrap="square" lIns="254" tIns="254" rIns="254" bIns="254" rtlCol="0" anchor="ctr">
            <a:normAutofit lnSpcReduction="10000"/>
          </a:bodyPr>
          <a:lstStyle/>
          <a:p>
            <a:pPr marL="0" indent="0" algn="l">
              <a:buNone/>
            </a:pPr>
            <a:r>
              <a:rPr lang="en-US" sz="1800" b="1" dirty="0">
                <a:solidFill>
                  <a:srgbClr val="2447A6"/>
                </a:solidFill>
                <a:latin typeface="Aptos" pitchFamily="34" charset="0"/>
                <a:ea typeface="Aptos" pitchFamily="34" charset="-122"/>
                <a:cs typeface="Aptos" pitchFamily="34" charset="-120"/>
              </a:rPr>
              <a:t>Smart Temperature Monitoring for a Controlled Drug Box</a:t>
            </a:r>
            <a:endParaRPr lang="en-US" sz="1800" dirty="0"/>
          </a:p>
        </p:txBody>
      </p:sp>
      <p:sp>
        <p:nvSpPr>
          <p:cNvPr id="9" name="Shape 7"/>
          <p:cNvSpPr/>
          <p:nvPr/>
        </p:nvSpPr>
        <p:spPr>
          <a:xfrm>
            <a:off x="713232" y="1572768"/>
            <a:ext cx="2423160" cy="384048"/>
          </a:xfrm>
          <a:prstGeom prst="roundRect">
            <a:avLst>
              <a:gd name="adj" fmla="val 42857"/>
            </a:avLst>
          </a:prstGeom>
          <a:solidFill>
            <a:srgbClr val="ECE9FB"/>
          </a:solidFill>
          <a:ln w="10160">
            <a:solidFill>
              <a:srgbClr val="DAD3EF"/>
            </a:solidFill>
            <a:prstDash val="solid"/>
          </a:ln>
        </p:spPr>
        <p:txBody>
          <a:bodyPr/>
          <a:lstStyle/>
          <a:p>
            <a:endParaRPr lang="en-IE"/>
          </a:p>
        </p:txBody>
      </p:sp>
      <p:sp>
        <p:nvSpPr>
          <p:cNvPr id="10" name="Text 8"/>
          <p:cNvSpPr/>
          <p:nvPr/>
        </p:nvSpPr>
        <p:spPr>
          <a:xfrm>
            <a:off x="868680" y="1627632"/>
            <a:ext cx="1828800" cy="201168"/>
          </a:xfrm>
          <a:prstGeom prst="rect">
            <a:avLst/>
          </a:prstGeom>
          <a:noFill/>
          <a:ln/>
        </p:spPr>
        <p:txBody>
          <a:bodyPr wrap="square" lIns="254" tIns="254" rIns="254" bIns="254" rtlCol="0" anchor="ctr"/>
          <a:lstStyle/>
          <a:p>
            <a:pPr marL="0" indent="0">
              <a:buNone/>
            </a:pPr>
            <a:r>
              <a:rPr lang="en-US" sz="1350" b="1" dirty="0">
                <a:solidFill>
                  <a:srgbClr val="143A9D"/>
                </a:solidFill>
                <a:latin typeface="Aptos" pitchFamily="34" charset="0"/>
                <a:ea typeface="Aptos" pitchFamily="34" charset="-122"/>
                <a:cs typeface="Aptos" pitchFamily="34" charset="-120"/>
              </a:rPr>
              <a:t>Team: </a:t>
            </a:r>
            <a:r>
              <a:rPr lang="en-US" sz="1350" dirty="0">
                <a:solidFill>
                  <a:srgbClr val="143A9D"/>
                </a:solidFill>
                <a:latin typeface="Aptos" pitchFamily="34" charset="0"/>
                <a:ea typeface="Aptos" pitchFamily="34" charset="-122"/>
                <a:cs typeface="Aptos" pitchFamily="34" charset="-120"/>
              </a:rPr>
              <a:t>Smart box</a:t>
            </a:r>
            <a:endParaRPr lang="en-US" sz="1350" dirty="0"/>
          </a:p>
        </p:txBody>
      </p:sp>
      <p:sp>
        <p:nvSpPr>
          <p:cNvPr id="11" name="Shape 9"/>
          <p:cNvSpPr/>
          <p:nvPr/>
        </p:nvSpPr>
        <p:spPr>
          <a:xfrm>
            <a:off x="713232" y="2240280"/>
            <a:ext cx="3154680" cy="1965960"/>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12" name="Shape 10"/>
          <p:cNvSpPr/>
          <p:nvPr/>
        </p:nvSpPr>
        <p:spPr>
          <a:xfrm>
            <a:off x="969264" y="2496312"/>
            <a:ext cx="1078992" cy="1078992"/>
          </a:xfrm>
          <a:prstGeom prst="ellipse">
            <a:avLst/>
          </a:prstGeom>
          <a:solidFill>
            <a:srgbClr val="FFFFFF"/>
          </a:solidFill>
          <a:ln w="17780">
            <a:solidFill>
              <a:srgbClr val="DAD3EF"/>
            </a:solidFill>
            <a:prstDash val="solid"/>
          </a:ln>
        </p:spPr>
        <p:txBody>
          <a:bodyPr/>
          <a:lstStyle/>
          <a:p>
            <a:endParaRPr lang="en-IE"/>
          </a:p>
        </p:txBody>
      </p:sp>
      <p:sp>
        <p:nvSpPr>
          <p:cNvPr id="13" name="Text 11"/>
          <p:cNvSpPr/>
          <p:nvPr/>
        </p:nvSpPr>
        <p:spPr>
          <a:xfrm>
            <a:off x="1207008" y="2862072"/>
            <a:ext cx="594360" cy="146304"/>
          </a:xfrm>
          <a:prstGeom prst="rect">
            <a:avLst/>
          </a:prstGeom>
          <a:noFill/>
          <a:ln/>
        </p:spPr>
        <p:txBody>
          <a:bodyPr wrap="square" lIns="254" tIns="254" rIns="254" bIns="254" rtlCol="0" anchor="ctr">
            <a:normAutofit/>
          </a:bodyPr>
          <a:lstStyle/>
          <a:p>
            <a:pPr marL="0" indent="0" algn="ctr">
              <a:buNone/>
            </a:pPr>
            <a:r>
              <a:rPr lang="en-US" sz="900" dirty="0">
                <a:solidFill>
                  <a:srgbClr val="758198"/>
                </a:solidFill>
                <a:latin typeface="Aptos" pitchFamily="34" charset="0"/>
                <a:ea typeface="Aptos" pitchFamily="34" charset="-122"/>
                <a:cs typeface="Aptos" pitchFamily="34" charset="-120"/>
              </a:rPr>
              <a:t>Photo</a:t>
            </a:r>
            <a:endParaRPr lang="en-US" sz="900" dirty="0"/>
          </a:p>
        </p:txBody>
      </p:sp>
      <p:sp>
        <p:nvSpPr>
          <p:cNvPr id="14" name="Text 12"/>
          <p:cNvSpPr/>
          <p:nvPr/>
        </p:nvSpPr>
        <p:spPr>
          <a:xfrm>
            <a:off x="2194560" y="2679192"/>
            <a:ext cx="1481328" cy="228600"/>
          </a:xfrm>
          <a:prstGeom prst="rect">
            <a:avLst/>
          </a:prstGeom>
          <a:noFill/>
          <a:ln/>
        </p:spPr>
        <p:txBody>
          <a:bodyPr wrap="square" lIns="254" tIns="254" rIns="254" bIns="254" rtlCol="0" anchor="ctr">
            <a:normAutofit lnSpcReduction="10000"/>
          </a:bodyPr>
          <a:lstStyle/>
          <a:p>
            <a:pPr marL="0" indent="0" algn="l">
              <a:buNone/>
            </a:pPr>
            <a:r>
              <a:rPr lang="en-US" sz="1600" b="1" dirty="0">
                <a:solidFill>
                  <a:srgbClr val="143A9D"/>
                </a:solidFill>
                <a:latin typeface="Aptos" pitchFamily="34" charset="0"/>
                <a:ea typeface="Aptos" pitchFamily="34" charset="-122"/>
                <a:cs typeface="Aptos" pitchFamily="34" charset="-120"/>
              </a:rPr>
              <a:t>Nikita Smiichyk</a:t>
            </a:r>
            <a:endParaRPr lang="en-US" sz="1600" dirty="0"/>
          </a:p>
        </p:txBody>
      </p:sp>
      <p:sp>
        <p:nvSpPr>
          <p:cNvPr id="15" name="Text 13"/>
          <p:cNvSpPr/>
          <p:nvPr/>
        </p:nvSpPr>
        <p:spPr>
          <a:xfrm>
            <a:off x="2194560" y="3044952"/>
            <a:ext cx="1481328" cy="365760"/>
          </a:xfrm>
          <a:prstGeom prst="rect">
            <a:avLst/>
          </a:prstGeom>
          <a:noFill/>
          <a:ln/>
        </p:spPr>
        <p:txBody>
          <a:bodyPr wrap="square" lIns="254" tIns="254" rIns="254" bIns="254" rtlCol="0" anchor="ctr">
            <a:normAutofit lnSpcReduction="10000"/>
          </a:bodyPr>
          <a:lstStyle/>
          <a:p>
            <a:pPr marL="0" indent="0" algn="l">
              <a:buNone/>
            </a:pPr>
            <a:r>
              <a:rPr lang="en-US" sz="1230" dirty="0">
                <a:solidFill>
                  <a:srgbClr val="53617A"/>
                </a:solidFill>
                <a:latin typeface="Aptos" pitchFamily="34" charset="0"/>
                <a:ea typeface="Aptos" pitchFamily="34" charset="-122"/>
                <a:cs typeface="Aptos" pitchFamily="34" charset="-120"/>
              </a:rPr>
              <a:t>Backend/Database, Testing</a:t>
            </a:r>
            <a:endParaRPr lang="en-US" sz="1230" dirty="0"/>
          </a:p>
        </p:txBody>
      </p:sp>
      <p:sp>
        <p:nvSpPr>
          <p:cNvPr id="16" name="Shape 14"/>
          <p:cNvSpPr/>
          <p:nvPr/>
        </p:nvSpPr>
        <p:spPr>
          <a:xfrm>
            <a:off x="950976" y="3849624"/>
            <a:ext cx="2679192" cy="0"/>
          </a:xfrm>
          <a:prstGeom prst="line">
            <a:avLst/>
          </a:prstGeom>
          <a:noFill/>
          <a:ln w="7620">
            <a:solidFill>
              <a:srgbClr val="DAD3EF"/>
            </a:solidFill>
            <a:prstDash val="solid"/>
          </a:ln>
        </p:spPr>
        <p:txBody>
          <a:bodyPr/>
          <a:lstStyle/>
          <a:p>
            <a:endParaRPr lang="en-IE"/>
          </a:p>
        </p:txBody>
      </p:sp>
      <p:sp>
        <p:nvSpPr>
          <p:cNvPr id="17" name="Text 15"/>
          <p:cNvSpPr/>
          <p:nvPr/>
        </p:nvSpPr>
        <p:spPr>
          <a:xfrm>
            <a:off x="969264" y="3959352"/>
            <a:ext cx="2651760" cy="146304"/>
          </a:xfrm>
          <a:prstGeom prst="rect">
            <a:avLst/>
          </a:prstGeom>
          <a:noFill/>
          <a:ln/>
        </p:spPr>
        <p:txBody>
          <a:bodyPr wrap="square" lIns="254" tIns="254" rIns="254" bIns="254" rtlCol="0" anchor="ctr">
            <a:normAutofit/>
          </a:bodyPr>
          <a:lstStyle/>
          <a:p>
            <a:pPr marL="0" indent="0" algn="ctr">
              <a:buNone/>
            </a:pPr>
            <a:r>
              <a:rPr lang="en-US" sz="880" dirty="0">
                <a:solidFill>
                  <a:srgbClr val="758198"/>
                </a:solidFill>
                <a:latin typeface="Aptos" pitchFamily="34" charset="0"/>
                <a:ea typeface="Aptos" pitchFamily="34" charset="-122"/>
                <a:cs typeface="Aptos" pitchFamily="34" charset="-120"/>
              </a:rPr>
              <a:t>Team member 1</a:t>
            </a:r>
            <a:endParaRPr lang="en-US" sz="880" dirty="0"/>
          </a:p>
        </p:txBody>
      </p:sp>
      <p:sp>
        <p:nvSpPr>
          <p:cNvPr id="18" name="Shape 16"/>
          <p:cNvSpPr/>
          <p:nvPr/>
        </p:nvSpPr>
        <p:spPr>
          <a:xfrm>
            <a:off x="4160520" y="2240280"/>
            <a:ext cx="3154680" cy="1965960"/>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19" name="Shape 17"/>
          <p:cNvSpPr/>
          <p:nvPr/>
        </p:nvSpPr>
        <p:spPr>
          <a:xfrm>
            <a:off x="4416552" y="2496312"/>
            <a:ext cx="1078992" cy="1078992"/>
          </a:xfrm>
          <a:prstGeom prst="ellipse">
            <a:avLst/>
          </a:prstGeom>
          <a:solidFill>
            <a:srgbClr val="FFFFFF"/>
          </a:solidFill>
          <a:ln w="17780">
            <a:solidFill>
              <a:srgbClr val="DAD3EF"/>
            </a:solidFill>
            <a:prstDash val="solid"/>
          </a:ln>
        </p:spPr>
        <p:txBody>
          <a:bodyPr/>
          <a:lstStyle/>
          <a:p>
            <a:endParaRPr lang="en-IE"/>
          </a:p>
        </p:txBody>
      </p:sp>
      <p:sp>
        <p:nvSpPr>
          <p:cNvPr id="20" name="Text 18"/>
          <p:cNvSpPr/>
          <p:nvPr/>
        </p:nvSpPr>
        <p:spPr>
          <a:xfrm>
            <a:off x="4654296" y="2862072"/>
            <a:ext cx="594360" cy="146304"/>
          </a:xfrm>
          <a:prstGeom prst="rect">
            <a:avLst/>
          </a:prstGeom>
          <a:noFill/>
          <a:ln/>
        </p:spPr>
        <p:txBody>
          <a:bodyPr wrap="square" lIns="254" tIns="254" rIns="254" bIns="254" rtlCol="0" anchor="ctr">
            <a:normAutofit/>
          </a:bodyPr>
          <a:lstStyle/>
          <a:p>
            <a:pPr marL="0" indent="0" algn="ctr">
              <a:buNone/>
            </a:pPr>
            <a:r>
              <a:rPr lang="en-US" sz="900" dirty="0">
                <a:solidFill>
                  <a:srgbClr val="758198"/>
                </a:solidFill>
                <a:latin typeface="Aptos" pitchFamily="34" charset="0"/>
                <a:ea typeface="Aptos" pitchFamily="34" charset="-122"/>
                <a:cs typeface="Aptos" pitchFamily="34" charset="-120"/>
              </a:rPr>
              <a:t>Photo</a:t>
            </a:r>
            <a:endParaRPr lang="en-US" sz="900" dirty="0"/>
          </a:p>
        </p:txBody>
      </p:sp>
      <p:sp>
        <p:nvSpPr>
          <p:cNvPr id="21" name="Text 19"/>
          <p:cNvSpPr/>
          <p:nvPr/>
        </p:nvSpPr>
        <p:spPr>
          <a:xfrm>
            <a:off x="5641848" y="2679192"/>
            <a:ext cx="1481328" cy="228600"/>
          </a:xfrm>
          <a:prstGeom prst="rect">
            <a:avLst/>
          </a:prstGeom>
          <a:noFill/>
          <a:ln/>
        </p:spPr>
        <p:txBody>
          <a:bodyPr wrap="square" lIns="254" tIns="254" rIns="254" bIns="254" rtlCol="0" anchor="ctr">
            <a:normAutofit lnSpcReduction="10000"/>
          </a:bodyPr>
          <a:lstStyle/>
          <a:p>
            <a:pPr marL="0" indent="0" algn="l">
              <a:buNone/>
            </a:pPr>
            <a:r>
              <a:rPr lang="en-US" sz="1600" b="1" dirty="0">
                <a:solidFill>
                  <a:srgbClr val="143A9D"/>
                </a:solidFill>
                <a:latin typeface="Aptos" pitchFamily="34" charset="0"/>
                <a:ea typeface="Aptos" pitchFamily="34" charset="-122"/>
                <a:cs typeface="Aptos" pitchFamily="34" charset="-120"/>
              </a:rPr>
              <a:t>Hanna Bokariuk</a:t>
            </a:r>
            <a:endParaRPr lang="en-US" sz="1600" dirty="0"/>
          </a:p>
        </p:txBody>
      </p:sp>
      <p:sp>
        <p:nvSpPr>
          <p:cNvPr id="22" name="Text 20"/>
          <p:cNvSpPr/>
          <p:nvPr/>
        </p:nvSpPr>
        <p:spPr>
          <a:xfrm>
            <a:off x="5641848" y="3044952"/>
            <a:ext cx="1481328" cy="365760"/>
          </a:xfrm>
          <a:prstGeom prst="rect">
            <a:avLst/>
          </a:prstGeom>
          <a:noFill/>
          <a:ln/>
        </p:spPr>
        <p:txBody>
          <a:bodyPr wrap="square" lIns="254" tIns="254" rIns="254" bIns="254" rtlCol="0" anchor="ctr">
            <a:normAutofit/>
          </a:bodyPr>
          <a:lstStyle/>
          <a:p>
            <a:pPr marL="0" indent="0" algn="l">
              <a:buNone/>
            </a:pPr>
            <a:r>
              <a:rPr lang="en-US" sz="1230" dirty="0">
                <a:solidFill>
                  <a:srgbClr val="53617A"/>
                </a:solidFill>
                <a:latin typeface="Aptos" pitchFamily="34" charset="0"/>
                <a:ea typeface="Aptos" pitchFamily="34" charset="-122"/>
                <a:cs typeface="Aptos" pitchFamily="34" charset="-120"/>
              </a:rPr>
              <a:t>UI/UX/UD, Hardware</a:t>
            </a:r>
            <a:endParaRPr lang="en-US" sz="1230" dirty="0"/>
          </a:p>
        </p:txBody>
      </p:sp>
      <p:sp>
        <p:nvSpPr>
          <p:cNvPr id="23" name="Shape 21"/>
          <p:cNvSpPr/>
          <p:nvPr/>
        </p:nvSpPr>
        <p:spPr>
          <a:xfrm>
            <a:off x="4398264" y="3849624"/>
            <a:ext cx="2679192" cy="0"/>
          </a:xfrm>
          <a:prstGeom prst="line">
            <a:avLst/>
          </a:prstGeom>
          <a:noFill/>
          <a:ln w="7620">
            <a:solidFill>
              <a:srgbClr val="DAD3EF"/>
            </a:solidFill>
            <a:prstDash val="solid"/>
          </a:ln>
        </p:spPr>
        <p:txBody>
          <a:bodyPr/>
          <a:lstStyle/>
          <a:p>
            <a:endParaRPr lang="en-IE"/>
          </a:p>
        </p:txBody>
      </p:sp>
      <p:sp>
        <p:nvSpPr>
          <p:cNvPr id="24" name="Text 22"/>
          <p:cNvSpPr/>
          <p:nvPr/>
        </p:nvSpPr>
        <p:spPr>
          <a:xfrm>
            <a:off x="4416552" y="3959352"/>
            <a:ext cx="2651760" cy="146304"/>
          </a:xfrm>
          <a:prstGeom prst="rect">
            <a:avLst/>
          </a:prstGeom>
          <a:noFill/>
          <a:ln/>
        </p:spPr>
        <p:txBody>
          <a:bodyPr wrap="square" lIns="254" tIns="254" rIns="254" bIns="254" rtlCol="0" anchor="ctr">
            <a:normAutofit/>
          </a:bodyPr>
          <a:lstStyle/>
          <a:p>
            <a:pPr marL="0" indent="0" algn="ctr">
              <a:buNone/>
            </a:pPr>
            <a:r>
              <a:rPr lang="en-US" sz="880" dirty="0">
                <a:solidFill>
                  <a:srgbClr val="758198"/>
                </a:solidFill>
                <a:latin typeface="Aptos" pitchFamily="34" charset="0"/>
                <a:ea typeface="Aptos" pitchFamily="34" charset="-122"/>
                <a:cs typeface="Aptos" pitchFamily="34" charset="-120"/>
              </a:rPr>
              <a:t>Team member 2</a:t>
            </a:r>
            <a:endParaRPr lang="en-US" sz="880" dirty="0"/>
          </a:p>
        </p:txBody>
      </p:sp>
      <p:sp>
        <p:nvSpPr>
          <p:cNvPr id="25" name="Shape 23"/>
          <p:cNvSpPr/>
          <p:nvPr/>
        </p:nvSpPr>
        <p:spPr>
          <a:xfrm>
            <a:off x="7607808" y="2240280"/>
            <a:ext cx="3154680" cy="1965960"/>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26" name="Shape 24"/>
          <p:cNvSpPr/>
          <p:nvPr/>
        </p:nvSpPr>
        <p:spPr>
          <a:xfrm>
            <a:off x="7863840" y="2496312"/>
            <a:ext cx="1078992" cy="1078992"/>
          </a:xfrm>
          <a:prstGeom prst="ellipse">
            <a:avLst/>
          </a:prstGeom>
          <a:solidFill>
            <a:srgbClr val="FFFFFF"/>
          </a:solidFill>
          <a:ln w="17780">
            <a:solidFill>
              <a:srgbClr val="DAD3EF"/>
            </a:solidFill>
            <a:prstDash val="solid"/>
          </a:ln>
        </p:spPr>
        <p:txBody>
          <a:bodyPr/>
          <a:lstStyle/>
          <a:p>
            <a:endParaRPr lang="en-IE"/>
          </a:p>
        </p:txBody>
      </p:sp>
      <p:sp>
        <p:nvSpPr>
          <p:cNvPr id="27" name="Text 25"/>
          <p:cNvSpPr/>
          <p:nvPr/>
        </p:nvSpPr>
        <p:spPr>
          <a:xfrm>
            <a:off x="8101584" y="2862072"/>
            <a:ext cx="594360" cy="146304"/>
          </a:xfrm>
          <a:prstGeom prst="rect">
            <a:avLst/>
          </a:prstGeom>
          <a:noFill/>
          <a:ln/>
        </p:spPr>
        <p:txBody>
          <a:bodyPr wrap="square" lIns="254" tIns="254" rIns="254" bIns="254" rtlCol="0" anchor="ctr">
            <a:normAutofit/>
          </a:bodyPr>
          <a:lstStyle/>
          <a:p>
            <a:pPr marL="0" indent="0" algn="ctr">
              <a:buNone/>
            </a:pPr>
            <a:r>
              <a:rPr lang="en-US" sz="900" dirty="0">
                <a:solidFill>
                  <a:srgbClr val="758198"/>
                </a:solidFill>
                <a:latin typeface="Aptos" pitchFamily="34" charset="0"/>
                <a:ea typeface="Aptos" pitchFamily="34" charset="-122"/>
                <a:cs typeface="Aptos" pitchFamily="34" charset="-120"/>
              </a:rPr>
              <a:t>Photo</a:t>
            </a:r>
            <a:endParaRPr lang="en-US" sz="900" dirty="0"/>
          </a:p>
        </p:txBody>
      </p:sp>
      <p:sp>
        <p:nvSpPr>
          <p:cNvPr id="28" name="Text 26"/>
          <p:cNvSpPr/>
          <p:nvPr/>
        </p:nvSpPr>
        <p:spPr>
          <a:xfrm>
            <a:off x="9089136" y="2679192"/>
            <a:ext cx="1481328" cy="228600"/>
          </a:xfrm>
          <a:prstGeom prst="rect">
            <a:avLst/>
          </a:prstGeom>
          <a:noFill/>
          <a:ln/>
        </p:spPr>
        <p:txBody>
          <a:bodyPr wrap="square" lIns="254" tIns="254" rIns="254" bIns="254" rtlCol="0" anchor="ctr">
            <a:normAutofit fontScale="77500" lnSpcReduction="20000"/>
          </a:bodyPr>
          <a:lstStyle/>
          <a:p>
            <a:pPr marL="0" indent="0" algn="l">
              <a:buNone/>
            </a:pPr>
            <a:r>
              <a:rPr lang="en-US" sz="1600" b="1" dirty="0">
                <a:solidFill>
                  <a:srgbClr val="143A9D"/>
                </a:solidFill>
                <a:latin typeface="Aptos" pitchFamily="34" charset="0"/>
                <a:ea typeface="Aptos" pitchFamily="34" charset="-122"/>
                <a:cs typeface="Aptos" pitchFamily="34" charset="-120"/>
              </a:rPr>
              <a:t>Maryna Hordiienko</a:t>
            </a:r>
            <a:endParaRPr lang="en-US" sz="1600" dirty="0"/>
          </a:p>
        </p:txBody>
      </p:sp>
      <p:sp>
        <p:nvSpPr>
          <p:cNvPr id="29" name="Text 27"/>
          <p:cNvSpPr/>
          <p:nvPr/>
        </p:nvSpPr>
        <p:spPr>
          <a:xfrm>
            <a:off x="9089136" y="3044952"/>
            <a:ext cx="1481328" cy="365760"/>
          </a:xfrm>
          <a:prstGeom prst="rect">
            <a:avLst/>
          </a:prstGeom>
          <a:noFill/>
          <a:ln/>
        </p:spPr>
        <p:txBody>
          <a:bodyPr wrap="square" lIns="254" tIns="254" rIns="254" bIns="254" rtlCol="0" anchor="ctr">
            <a:normAutofit/>
          </a:bodyPr>
          <a:lstStyle/>
          <a:p>
            <a:pPr marL="0" indent="0" algn="l">
              <a:buNone/>
            </a:pPr>
            <a:r>
              <a:rPr lang="en-US" sz="1230" dirty="0">
                <a:solidFill>
                  <a:srgbClr val="53617A"/>
                </a:solidFill>
                <a:latin typeface="Aptos" pitchFamily="34" charset="0"/>
                <a:ea typeface="Aptos" pitchFamily="34" charset="-122"/>
                <a:cs typeface="Aptos" pitchFamily="34" charset="-120"/>
              </a:rPr>
              <a:t>Front-End, UI/UX/UD</a:t>
            </a:r>
            <a:endParaRPr lang="en-US" sz="1230" dirty="0"/>
          </a:p>
        </p:txBody>
      </p:sp>
      <p:sp>
        <p:nvSpPr>
          <p:cNvPr id="30" name="Shape 28"/>
          <p:cNvSpPr/>
          <p:nvPr/>
        </p:nvSpPr>
        <p:spPr>
          <a:xfrm>
            <a:off x="7845552" y="3849624"/>
            <a:ext cx="2679192" cy="0"/>
          </a:xfrm>
          <a:prstGeom prst="line">
            <a:avLst/>
          </a:prstGeom>
          <a:noFill/>
          <a:ln w="7620">
            <a:solidFill>
              <a:srgbClr val="DAD3EF"/>
            </a:solidFill>
            <a:prstDash val="solid"/>
          </a:ln>
        </p:spPr>
        <p:txBody>
          <a:bodyPr/>
          <a:lstStyle/>
          <a:p>
            <a:endParaRPr lang="en-IE"/>
          </a:p>
        </p:txBody>
      </p:sp>
      <p:sp>
        <p:nvSpPr>
          <p:cNvPr id="31" name="Text 29"/>
          <p:cNvSpPr/>
          <p:nvPr/>
        </p:nvSpPr>
        <p:spPr>
          <a:xfrm>
            <a:off x="7863840" y="3959352"/>
            <a:ext cx="2651760" cy="146304"/>
          </a:xfrm>
          <a:prstGeom prst="rect">
            <a:avLst/>
          </a:prstGeom>
          <a:noFill/>
          <a:ln/>
        </p:spPr>
        <p:txBody>
          <a:bodyPr wrap="square" lIns="254" tIns="254" rIns="254" bIns="254" rtlCol="0" anchor="ctr">
            <a:normAutofit/>
          </a:bodyPr>
          <a:lstStyle/>
          <a:p>
            <a:pPr marL="0" indent="0" algn="ctr">
              <a:buNone/>
            </a:pPr>
            <a:r>
              <a:rPr lang="en-US" sz="880" dirty="0">
                <a:solidFill>
                  <a:srgbClr val="758198"/>
                </a:solidFill>
                <a:latin typeface="Aptos" pitchFamily="34" charset="0"/>
                <a:ea typeface="Aptos" pitchFamily="34" charset="-122"/>
                <a:cs typeface="Aptos" pitchFamily="34" charset="-120"/>
              </a:rPr>
              <a:t>Team member 3</a:t>
            </a:r>
            <a:endParaRPr lang="en-US" sz="880" dirty="0"/>
          </a:p>
        </p:txBody>
      </p:sp>
      <p:sp>
        <p:nvSpPr>
          <p:cNvPr id="32" name="Shape 30"/>
          <p:cNvSpPr/>
          <p:nvPr/>
        </p:nvSpPr>
        <p:spPr>
          <a:xfrm>
            <a:off x="713232" y="4599432"/>
            <a:ext cx="10762488" cy="1170432"/>
          </a:xfrm>
          <a:prstGeom prst="roundRect">
            <a:avLst>
              <a:gd name="adj" fmla="val 9375"/>
            </a:avLst>
          </a:prstGeom>
          <a:solidFill>
            <a:srgbClr val="FFFFFF"/>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33" name="Shape 31"/>
          <p:cNvSpPr/>
          <p:nvPr/>
        </p:nvSpPr>
        <p:spPr>
          <a:xfrm>
            <a:off x="3639312" y="4791456"/>
            <a:ext cx="0" cy="786384"/>
          </a:xfrm>
          <a:prstGeom prst="line">
            <a:avLst/>
          </a:prstGeom>
          <a:noFill/>
          <a:ln w="10160">
            <a:solidFill>
              <a:srgbClr val="DAD3EF"/>
            </a:solidFill>
            <a:prstDash val="solid"/>
          </a:ln>
        </p:spPr>
        <p:txBody>
          <a:bodyPr/>
          <a:lstStyle/>
          <a:p>
            <a:endParaRPr lang="en-IE"/>
          </a:p>
        </p:txBody>
      </p:sp>
      <p:sp>
        <p:nvSpPr>
          <p:cNvPr id="34" name="Shape 32"/>
          <p:cNvSpPr/>
          <p:nvPr/>
        </p:nvSpPr>
        <p:spPr>
          <a:xfrm>
            <a:off x="6922008" y="4791456"/>
            <a:ext cx="0" cy="786384"/>
          </a:xfrm>
          <a:prstGeom prst="line">
            <a:avLst/>
          </a:prstGeom>
          <a:noFill/>
          <a:ln w="10160">
            <a:solidFill>
              <a:srgbClr val="DAD3EF"/>
            </a:solidFill>
            <a:prstDash val="solid"/>
          </a:ln>
        </p:spPr>
        <p:txBody>
          <a:bodyPr/>
          <a:lstStyle/>
          <a:p>
            <a:endParaRPr lang="en-IE"/>
          </a:p>
        </p:txBody>
      </p:sp>
      <p:sp>
        <p:nvSpPr>
          <p:cNvPr id="35" name="Text 33"/>
          <p:cNvSpPr/>
          <p:nvPr/>
        </p:nvSpPr>
        <p:spPr>
          <a:xfrm>
            <a:off x="987552" y="4828032"/>
            <a:ext cx="1645920" cy="146304"/>
          </a:xfrm>
          <a:prstGeom prst="rect">
            <a:avLst/>
          </a:prstGeom>
          <a:noFill/>
          <a:ln/>
        </p:spPr>
        <p:txBody>
          <a:bodyPr wrap="square" lIns="254" tIns="254" rIns="254" bIns="254" rtlCol="0" anchor="ctr">
            <a:normAutofit/>
          </a:bodyPr>
          <a:lstStyle/>
          <a:p>
            <a:pPr marL="0" indent="0" algn="l">
              <a:buNone/>
            </a:pPr>
            <a:r>
              <a:rPr lang="en-US" sz="900" b="1" dirty="0">
                <a:solidFill>
                  <a:srgbClr val="758198"/>
                </a:solidFill>
                <a:latin typeface="Aptos" pitchFamily="34" charset="0"/>
                <a:ea typeface="Aptos" pitchFamily="34" charset="-122"/>
                <a:cs typeface="Aptos" pitchFamily="34" charset="-120"/>
              </a:rPr>
              <a:t>GROUP</a:t>
            </a:r>
            <a:endParaRPr lang="en-US" sz="900" dirty="0"/>
          </a:p>
        </p:txBody>
      </p:sp>
      <p:sp>
        <p:nvSpPr>
          <p:cNvPr id="36" name="Text 34"/>
          <p:cNvSpPr/>
          <p:nvPr/>
        </p:nvSpPr>
        <p:spPr>
          <a:xfrm>
            <a:off x="987552" y="5084064"/>
            <a:ext cx="2267712" cy="237744"/>
          </a:xfrm>
          <a:prstGeom prst="rect">
            <a:avLst/>
          </a:prstGeom>
          <a:noFill/>
          <a:ln/>
        </p:spPr>
        <p:txBody>
          <a:bodyPr wrap="square" lIns="254" tIns="254" rIns="254" bIns="254" rtlCol="0" anchor="ctr">
            <a:normAutofit lnSpcReduction="10000"/>
          </a:bodyPr>
          <a:lstStyle/>
          <a:p>
            <a:pPr marL="0" indent="0" algn="l">
              <a:buNone/>
            </a:pPr>
            <a:r>
              <a:rPr lang="en-IE" sz="1600" dirty="0">
                <a:solidFill>
                  <a:srgbClr val="53617A"/>
                </a:solidFill>
                <a:latin typeface="Aptos" pitchFamily="34" charset="0"/>
              </a:rPr>
              <a:t>Sd3a</a:t>
            </a:r>
            <a:endParaRPr lang="en-US" sz="1600" dirty="0"/>
          </a:p>
        </p:txBody>
      </p:sp>
      <p:sp>
        <p:nvSpPr>
          <p:cNvPr id="37" name="Text 35"/>
          <p:cNvSpPr/>
          <p:nvPr/>
        </p:nvSpPr>
        <p:spPr>
          <a:xfrm>
            <a:off x="3931920" y="4828032"/>
            <a:ext cx="1645920" cy="146304"/>
          </a:xfrm>
          <a:prstGeom prst="rect">
            <a:avLst/>
          </a:prstGeom>
          <a:noFill/>
          <a:ln/>
        </p:spPr>
        <p:txBody>
          <a:bodyPr wrap="square" lIns="254" tIns="254" rIns="254" bIns="254" rtlCol="0" anchor="ctr">
            <a:normAutofit/>
          </a:bodyPr>
          <a:lstStyle/>
          <a:p>
            <a:pPr marL="0" indent="0" algn="l">
              <a:buNone/>
            </a:pPr>
            <a:r>
              <a:rPr lang="en-US" sz="900" b="1" dirty="0">
                <a:solidFill>
                  <a:srgbClr val="758198"/>
                </a:solidFill>
                <a:latin typeface="Aptos" pitchFamily="34" charset="0"/>
                <a:ea typeface="Aptos" pitchFamily="34" charset="-122"/>
                <a:cs typeface="Aptos" pitchFamily="34" charset="-120"/>
              </a:rPr>
              <a:t>COURSE</a:t>
            </a:r>
            <a:endParaRPr lang="en-US" sz="900" dirty="0"/>
          </a:p>
        </p:txBody>
      </p:sp>
      <p:sp>
        <p:nvSpPr>
          <p:cNvPr id="38" name="Text 36"/>
          <p:cNvSpPr/>
          <p:nvPr/>
        </p:nvSpPr>
        <p:spPr>
          <a:xfrm>
            <a:off x="3931920" y="5010912"/>
            <a:ext cx="2651760" cy="502920"/>
          </a:xfrm>
          <a:prstGeom prst="rect">
            <a:avLst/>
          </a:prstGeom>
          <a:noFill/>
          <a:ln/>
        </p:spPr>
        <p:txBody>
          <a:bodyPr wrap="square" lIns="254" tIns="254" rIns="254" bIns="254" rtlCol="0" anchor="ctr">
            <a:normAutofit/>
          </a:bodyPr>
          <a:lstStyle/>
          <a:p>
            <a:pPr marL="0" indent="0" algn="l">
              <a:buNone/>
            </a:pPr>
            <a:r>
              <a:rPr lang="en-US" sz="1340" dirty="0">
                <a:solidFill>
                  <a:srgbClr val="53617A"/>
                </a:solidFill>
                <a:latin typeface="Aptos" pitchFamily="34" charset="0"/>
                <a:ea typeface="Aptos" pitchFamily="34" charset="-122"/>
                <a:cs typeface="Aptos" pitchFamily="34" charset="-120"/>
              </a:rPr>
              <a:t>BSc (Hons) Computing in</a:t>
            </a:r>
            <a:endParaRPr lang="en-US" sz="1340" dirty="0"/>
          </a:p>
          <a:p>
            <a:pPr marL="0" indent="0" algn="l">
              <a:buNone/>
            </a:pPr>
            <a:r>
              <a:rPr lang="en-US" sz="1340" dirty="0">
                <a:solidFill>
                  <a:srgbClr val="53617A"/>
                </a:solidFill>
                <a:latin typeface="Aptos" pitchFamily="34" charset="0"/>
                <a:ea typeface="Aptos" pitchFamily="34" charset="-122"/>
                <a:cs typeface="Aptos" pitchFamily="34" charset="-120"/>
              </a:rPr>
              <a:t>Software Development</a:t>
            </a:r>
            <a:endParaRPr lang="en-US" sz="1340" dirty="0"/>
          </a:p>
        </p:txBody>
      </p:sp>
      <p:sp>
        <p:nvSpPr>
          <p:cNvPr id="39" name="Text 37"/>
          <p:cNvSpPr/>
          <p:nvPr/>
        </p:nvSpPr>
        <p:spPr>
          <a:xfrm>
            <a:off x="7223760" y="4828032"/>
            <a:ext cx="2011680" cy="146304"/>
          </a:xfrm>
          <a:prstGeom prst="rect">
            <a:avLst/>
          </a:prstGeom>
          <a:noFill/>
          <a:ln/>
        </p:spPr>
        <p:txBody>
          <a:bodyPr wrap="square" lIns="254" tIns="254" rIns="254" bIns="254" rtlCol="0" anchor="ctr">
            <a:normAutofit/>
          </a:bodyPr>
          <a:lstStyle/>
          <a:p>
            <a:pPr marL="0" indent="0" algn="l">
              <a:buNone/>
            </a:pPr>
            <a:r>
              <a:rPr lang="en-US" sz="900" b="1" dirty="0">
                <a:solidFill>
                  <a:srgbClr val="758198"/>
                </a:solidFill>
                <a:latin typeface="Aptos" pitchFamily="34" charset="0"/>
                <a:ea typeface="Aptos" pitchFamily="34" charset="-122"/>
                <a:cs typeface="Aptos" pitchFamily="34" charset="-120"/>
              </a:rPr>
              <a:t>ASSESSMENT THEME</a:t>
            </a:r>
            <a:endParaRPr lang="en-US" sz="900" dirty="0"/>
          </a:p>
        </p:txBody>
      </p:sp>
      <p:sp>
        <p:nvSpPr>
          <p:cNvPr id="40" name="Text 38"/>
          <p:cNvSpPr/>
          <p:nvPr/>
        </p:nvSpPr>
        <p:spPr>
          <a:xfrm>
            <a:off x="7223760" y="5010912"/>
            <a:ext cx="3749040" cy="502920"/>
          </a:xfrm>
          <a:prstGeom prst="rect">
            <a:avLst/>
          </a:prstGeom>
          <a:noFill/>
          <a:ln/>
        </p:spPr>
        <p:txBody>
          <a:bodyPr wrap="square" lIns="254" tIns="254" rIns="254" bIns="254" rtlCol="0" anchor="ctr">
            <a:normAutofit/>
          </a:bodyPr>
          <a:lstStyle/>
          <a:p>
            <a:pPr marL="0" indent="0" algn="l">
              <a:buNone/>
            </a:pPr>
            <a:r>
              <a:rPr lang="en-US" sz="1340" dirty="0">
                <a:solidFill>
                  <a:srgbClr val="53617A"/>
                </a:solidFill>
                <a:latin typeface="Aptos" pitchFamily="34" charset="0"/>
                <a:ea typeface="Aptos" pitchFamily="34" charset="-122"/>
                <a:cs typeface="Aptos" pitchFamily="34" charset="-120"/>
              </a:rPr>
              <a:t>Smart Temperature Monitoring for</a:t>
            </a:r>
            <a:endParaRPr lang="en-US" sz="1340" dirty="0"/>
          </a:p>
          <a:p>
            <a:pPr marL="0" indent="0" algn="l">
              <a:buNone/>
            </a:pPr>
            <a:r>
              <a:rPr lang="en-US" sz="1340" dirty="0">
                <a:solidFill>
                  <a:srgbClr val="53617A"/>
                </a:solidFill>
                <a:latin typeface="Aptos" pitchFamily="34" charset="0"/>
                <a:ea typeface="Aptos" pitchFamily="34" charset="-122"/>
                <a:cs typeface="Aptos" pitchFamily="34" charset="-120"/>
              </a:rPr>
              <a:t>a Controlled Drug Box</a:t>
            </a:r>
            <a:endParaRPr lang="en-US" sz="1340" dirty="0"/>
          </a:p>
        </p:txBody>
      </p:sp>
      <p:sp>
        <p:nvSpPr>
          <p:cNvPr id="41" name="Shape 39"/>
          <p:cNvSpPr/>
          <p:nvPr/>
        </p:nvSpPr>
        <p:spPr>
          <a:xfrm>
            <a:off x="713232" y="5925312"/>
            <a:ext cx="10762488" cy="438912"/>
          </a:xfrm>
          <a:prstGeom prst="roundRect">
            <a:avLst>
              <a:gd name="adj" fmla="val 25000"/>
            </a:avLst>
          </a:prstGeom>
          <a:solidFill>
            <a:srgbClr val="F0EDFA"/>
          </a:solidFill>
          <a:ln w="10160">
            <a:solidFill>
              <a:srgbClr val="DAD3EF"/>
            </a:solidFill>
            <a:prstDash val="solid"/>
          </a:ln>
        </p:spPr>
        <p:txBody>
          <a:bodyPr/>
          <a:lstStyle/>
          <a:p>
            <a:endParaRPr lang="en-IE"/>
          </a:p>
        </p:txBody>
      </p:sp>
      <p:sp>
        <p:nvSpPr>
          <p:cNvPr id="42" name="Text 40"/>
          <p:cNvSpPr/>
          <p:nvPr/>
        </p:nvSpPr>
        <p:spPr>
          <a:xfrm>
            <a:off x="987552" y="6062472"/>
            <a:ext cx="640080" cy="118872"/>
          </a:xfrm>
          <a:prstGeom prst="rect">
            <a:avLst/>
          </a:prstGeom>
          <a:noFill/>
          <a:ln/>
        </p:spPr>
        <p:txBody>
          <a:bodyPr wrap="square" lIns="254" tIns="254" rIns="254" bIns="254" rtlCol="0" anchor="ctr">
            <a:normAutofit fontScale="92500" lnSpcReduction="10000"/>
          </a:bodyPr>
          <a:lstStyle/>
          <a:p>
            <a:pPr marL="0" indent="0" algn="l">
              <a:buNone/>
            </a:pPr>
            <a:r>
              <a:rPr lang="en-US" sz="860" b="1" dirty="0">
                <a:solidFill>
                  <a:srgbClr val="758198"/>
                </a:solidFill>
                <a:latin typeface="Aptos" pitchFamily="34" charset="0"/>
                <a:ea typeface="Aptos" pitchFamily="34" charset="-122"/>
                <a:cs typeface="Aptos" pitchFamily="34" charset="-120"/>
              </a:rPr>
              <a:t>MODULE</a:t>
            </a:r>
            <a:endParaRPr lang="en-US" sz="860" dirty="0"/>
          </a:p>
        </p:txBody>
      </p:sp>
      <p:sp>
        <p:nvSpPr>
          <p:cNvPr id="43" name="Text 41"/>
          <p:cNvSpPr/>
          <p:nvPr/>
        </p:nvSpPr>
        <p:spPr>
          <a:xfrm>
            <a:off x="1901952" y="6016752"/>
            <a:ext cx="3337560" cy="210312"/>
          </a:xfrm>
          <a:prstGeom prst="rect">
            <a:avLst/>
          </a:prstGeom>
          <a:noFill/>
          <a:ln/>
        </p:spPr>
        <p:txBody>
          <a:bodyPr wrap="square" lIns="254" tIns="254" rIns="254" bIns="254" rtlCol="0" anchor="ctr">
            <a:normAutofit fontScale="92500" lnSpcReduction="10000"/>
          </a:bodyPr>
          <a:lstStyle/>
          <a:p>
            <a:pPr marL="0" indent="0" algn="l">
              <a:buNone/>
            </a:pPr>
            <a:r>
              <a:rPr lang="en-US" sz="1520" b="1" dirty="0">
                <a:solidFill>
                  <a:srgbClr val="143A9D"/>
                </a:solidFill>
                <a:latin typeface="Aptos" pitchFamily="34" charset="0"/>
                <a:ea typeface="Aptos" pitchFamily="34" charset="-122"/>
                <a:cs typeface="Aptos" pitchFamily="34" charset="-120"/>
              </a:rPr>
              <a:t>Universal Design Project</a:t>
            </a:r>
            <a:endParaRPr lang="en-US" sz="1520" dirty="0"/>
          </a:p>
        </p:txBody>
      </p:sp>
      <p:sp>
        <p:nvSpPr>
          <p:cNvPr id="44" name="Text 42"/>
          <p:cNvSpPr/>
          <p:nvPr/>
        </p:nvSpPr>
        <p:spPr>
          <a:xfrm>
            <a:off x="7863840" y="6035040"/>
            <a:ext cx="3017520" cy="201168"/>
          </a:xfrm>
          <a:prstGeom prst="rect">
            <a:avLst/>
          </a:prstGeom>
          <a:noFill/>
          <a:ln/>
        </p:spPr>
        <p:txBody>
          <a:bodyPr wrap="square" lIns="254" tIns="254" rIns="254" bIns="254" rtlCol="0" anchor="ctr">
            <a:normAutofit/>
          </a:bodyPr>
          <a:lstStyle/>
          <a:p>
            <a:pPr marL="0" indent="0" algn="r">
              <a:buNone/>
            </a:pPr>
            <a:r>
              <a:rPr lang="en-US" sz="1150" dirty="0">
                <a:solidFill>
                  <a:srgbClr val="758198"/>
                </a:solidFill>
                <a:latin typeface="Aptos" pitchFamily="34" charset="0"/>
                <a:ea typeface="Aptos" pitchFamily="34" charset="-122"/>
                <a:cs typeface="Aptos" pitchFamily="34" charset="-120"/>
              </a:rPr>
              <a:t>Prepared for group presentation</a:t>
            </a:r>
            <a:endParaRPr lang="en-US" sz="1150" dirty="0"/>
          </a:p>
        </p:txBody>
      </p:sp>
      <p:sp>
        <p:nvSpPr>
          <p:cNvPr id="45" name="Shape 43"/>
          <p:cNvSpPr/>
          <p:nvPr/>
        </p:nvSpPr>
        <p:spPr>
          <a:xfrm>
            <a:off x="164592" y="6647688"/>
            <a:ext cx="11862511" cy="73152"/>
          </a:xfrm>
          <a:prstGeom prst="rect">
            <a:avLst/>
          </a:prstGeom>
          <a:solidFill>
            <a:srgbClr val="E9E5F7"/>
          </a:solidFill>
          <a:ln w="12700">
            <a:solidFill>
              <a:srgbClr val="E9E5F7">
                <a:alpha val="0"/>
              </a:srgbClr>
            </a:solidFill>
            <a:prstDash val="solid"/>
          </a:ln>
        </p:spPr>
        <p:txBody>
          <a:bodyPr/>
          <a:lstStyle/>
          <a:p>
            <a:endParaRPr lang="en-IE"/>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EFEAF9"/>
        </a:solidFill>
        <a:effectLst/>
      </p:bgPr>
    </p:bg>
    <p:spTree>
      <p:nvGrpSpPr>
        <p:cNvPr id="1" name=""/>
        <p:cNvGrpSpPr/>
        <p:nvPr/>
      </p:nvGrpSpPr>
      <p:grpSpPr>
        <a:xfrm>
          <a:off x="0" y="0"/>
          <a:ext cx="0" cy="0"/>
          <a:chOff x="0" y="0"/>
          <a:chExt cx="0" cy="0"/>
        </a:xfrm>
      </p:grpSpPr>
      <p:sp>
        <p:nvSpPr>
          <p:cNvPr id="2" name="Shape 0"/>
          <p:cNvSpPr/>
          <p:nvPr/>
        </p:nvSpPr>
        <p:spPr>
          <a:xfrm>
            <a:off x="81225" y="98503"/>
            <a:ext cx="11930888" cy="6583680"/>
          </a:xfrm>
          <a:prstGeom prst="roundRect">
            <a:avLst>
              <a:gd name="adj" fmla="val 1774"/>
            </a:avLst>
          </a:prstGeom>
          <a:solidFill>
            <a:srgbClr val="FFFFFF"/>
          </a:solidFill>
          <a:ln w="8890">
            <a:solidFill>
              <a:srgbClr val="FFFFFF"/>
            </a:solidFill>
            <a:prstDash val="solid"/>
          </a:ln>
          <a:effectLst>
            <a:outerShdw blurRad="25400" dist="50800" dir="2700000" algn="bl" rotWithShape="0">
              <a:srgbClr val="B7AACD">
                <a:alpha val="28000"/>
              </a:srgbClr>
            </a:outerShdw>
          </a:effectLst>
        </p:spPr>
        <p:txBody>
          <a:bodyPr/>
          <a:lstStyle/>
          <a:p>
            <a:endParaRPr lang="en-IE"/>
          </a:p>
        </p:txBody>
      </p:sp>
      <p:pic>
        <p:nvPicPr>
          <p:cNvPr id="3" name="Image 0" descr="/mnt/data/tempsafe_photo_panel_crop.png"/>
          <p:cNvPicPr>
            <a:picLocks noChangeAspect="1"/>
          </p:cNvPicPr>
          <p:nvPr/>
        </p:nvPicPr>
        <p:blipFill>
          <a:blip r:embed="rId3"/>
          <a:stretch>
            <a:fillRect/>
          </a:stretch>
        </p:blipFill>
        <p:spPr>
          <a:xfrm>
            <a:off x="164592" y="137160"/>
            <a:ext cx="3346704" cy="6565392"/>
          </a:xfrm>
          <a:prstGeom prst="rect">
            <a:avLst/>
          </a:prstGeom>
        </p:spPr>
      </p:pic>
      <p:sp>
        <p:nvSpPr>
          <p:cNvPr id="4" name="Shape 1"/>
          <p:cNvSpPr/>
          <p:nvPr/>
        </p:nvSpPr>
        <p:spPr>
          <a:xfrm>
            <a:off x="3602736" y="182880"/>
            <a:ext cx="18288" cy="6492240"/>
          </a:xfrm>
          <a:prstGeom prst="rect">
            <a:avLst/>
          </a:prstGeom>
          <a:solidFill>
            <a:srgbClr val="EEEAF6"/>
          </a:solidFill>
          <a:ln w="12700">
            <a:solidFill>
              <a:srgbClr val="EEEAF6">
                <a:alpha val="0"/>
              </a:srgbClr>
            </a:solidFill>
            <a:prstDash val="solid"/>
          </a:ln>
        </p:spPr>
        <p:txBody>
          <a:bodyPr/>
          <a:lstStyle/>
          <a:p>
            <a:endParaRPr lang="en-IE"/>
          </a:p>
        </p:txBody>
      </p:sp>
      <p:sp>
        <p:nvSpPr>
          <p:cNvPr id="5" name="Text 2"/>
          <p:cNvSpPr/>
          <p:nvPr/>
        </p:nvSpPr>
        <p:spPr>
          <a:xfrm>
            <a:off x="3794760" y="315468"/>
            <a:ext cx="7589520" cy="685800"/>
          </a:xfrm>
          <a:prstGeom prst="rect">
            <a:avLst/>
          </a:prstGeom>
          <a:noFill/>
          <a:ln/>
        </p:spPr>
        <p:txBody>
          <a:bodyPr wrap="square" lIns="0" tIns="0" rIns="0" bIns="0" rtlCol="0" anchor="t">
            <a:normAutofit/>
          </a:bodyPr>
          <a:lstStyle/>
          <a:p>
            <a:pPr marL="0" indent="0" algn="l">
              <a:buNone/>
            </a:pPr>
            <a:r>
              <a:rPr lang="en-US" sz="4400" b="1" dirty="0">
                <a:solidFill>
                  <a:srgbClr val="142C86"/>
                </a:solidFill>
                <a:latin typeface="Aptos Display" pitchFamily="34" charset="0"/>
                <a:ea typeface="Aptos Display" pitchFamily="34" charset="-122"/>
                <a:cs typeface="Aptos Display" pitchFamily="34" charset="-120"/>
              </a:rPr>
              <a:t>TempSafe</a:t>
            </a:r>
            <a:endParaRPr lang="en-US" sz="4400" dirty="0"/>
          </a:p>
        </p:txBody>
      </p:sp>
      <p:sp>
        <p:nvSpPr>
          <p:cNvPr id="6" name="Text 3"/>
          <p:cNvSpPr/>
          <p:nvPr/>
        </p:nvSpPr>
        <p:spPr>
          <a:xfrm>
            <a:off x="4421632" y="958404"/>
            <a:ext cx="7680960" cy="384048"/>
          </a:xfrm>
          <a:prstGeom prst="rect">
            <a:avLst/>
          </a:prstGeom>
          <a:noFill/>
          <a:ln/>
        </p:spPr>
        <p:txBody>
          <a:bodyPr wrap="square" lIns="0" tIns="0" rIns="0" bIns="0" rtlCol="0" anchor="t">
            <a:normAutofit/>
          </a:bodyPr>
          <a:lstStyle/>
          <a:p>
            <a:pPr marL="0" indent="0" algn="l">
              <a:buNone/>
            </a:pPr>
            <a:r>
              <a:rPr lang="en-US" sz="2200" b="1" dirty="0">
                <a:solidFill>
                  <a:srgbClr val="1D3D9C"/>
                </a:solidFill>
                <a:latin typeface="Aptos" pitchFamily="34" charset="0"/>
                <a:ea typeface="Aptos" pitchFamily="34" charset="-122"/>
                <a:cs typeface="Aptos" pitchFamily="34" charset="-120"/>
              </a:rPr>
              <a:t>Smart temperature monitoring for a Controlled Drug Box</a:t>
            </a:r>
            <a:endParaRPr lang="en-US" sz="2200" dirty="0"/>
          </a:p>
        </p:txBody>
      </p:sp>
      <p:sp>
        <p:nvSpPr>
          <p:cNvPr id="7" name="Text 4"/>
          <p:cNvSpPr/>
          <p:nvPr/>
        </p:nvSpPr>
        <p:spPr>
          <a:xfrm>
            <a:off x="3886200" y="1138428"/>
            <a:ext cx="7744968" cy="1458468"/>
          </a:xfrm>
          <a:prstGeom prst="rect">
            <a:avLst/>
          </a:prstGeom>
          <a:noFill/>
          <a:ln/>
        </p:spPr>
        <p:txBody>
          <a:bodyPr wrap="square" lIns="0" tIns="0" rIns="0" bIns="0" rtlCol="0" anchor="t">
            <a:normAutofit/>
          </a:bodyPr>
          <a:lstStyle/>
          <a:p>
            <a:pPr marL="0" indent="0" algn="l">
              <a:buNone/>
            </a:pPr>
            <a:endParaRPr lang="en-US" sz="1550" dirty="0"/>
          </a:p>
        </p:txBody>
      </p:sp>
      <p:grpSp>
        <p:nvGrpSpPr>
          <p:cNvPr id="32" name="Group 31">
            <a:extLst>
              <a:ext uri="{FF2B5EF4-FFF2-40B4-BE49-F238E27FC236}">
                <a16:creationId xmlns:a16="http://schemas.microsoft.com/office/drawing/2014/main" id="{416ACE97-F67E-92FE-EC9E-8E5029918450}"/>
              </a:ext>
            </a:extLst>
          </p:cNvPr>
          <p:cNvGrpSpPr/>
          <p:nvPr/>
        </p:nvGrpSpPr>
        <p:grpSpPr>
          <a:xfrm>
            <a:off x="3936492" y="4050792"/>
            <a:ext cx="2514600" cy="1691640"/>
            <a:chOff x="3936492" y="4050792"/>
            <a:chExt cx="2514600" cy="1691640"/>
          </a:xfrm>
        </p:grpSpPr>
        <p:sp>
          <p:nvSpPr>
            <p:cNvPr id="8" name="Shape 5"/>
            <p:cNvSpPr/>
            <p:nvPr/>
          </p:nvSpPr>
          <p:spPr>
            <a:xfrm>
              <a:off x="3936492" y="4050792"/>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9" name="Shape 6"/>
            <p:cNvSpPr/>
            <p:nvPr/>
          </p:nvSpPr>
          <p:spPr>
            <a:xfrm>
              <a:off x="3965331"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0" name="Text 7"/>
            <p:cNvSpPr/>
            <p:nvPr/>
          </p:nvSpPr>
          <p:spPr>
            <a:xfrm>
              <a:off x="4041648" y="4133088"/>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1" name="Text 8"/>
            <p:cNvSpPr/>
            <p:nvPr/>
          </p:nvSpPr>
          <p:spPr>
            <a:xfrm>
              <a:off x="4654296" y="4179617"/>
              <a:ext cx="1637640" cy="559991"/>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Continuous </a:t>
              </a:r>
            </a:p>
            <a:p>
              <a:pPr marL="0" indent="0" algn="l">
                <a:buNone/>
              </a:pPr>
              <a:r>
                <a:rPr lang="en-US" b="1" dirty="0">
                  <a:solidFill>
                    <a:srgbClr val="1D3D9C"/>
                  </a:solidFill>
                  <a:latin typeface="Aptos" pitchFamily="34" charset="0"/>
                  <a:ea typeface="Aptos" pitchFamily="34" charset="-122"/>
                  <a:cs typeface="Aptos" pitchFamily="34" charset="-120"/>
                </a:rPr>
                <a:t>Monitoring</a:t>
              </a:r>
              <a:endParaRPr lang="en-US" dirty="0"/>
            </a:p>
          </p:txBody>
        </p:sp>
        <p:sp>
          <p:nvSpPr>
            <p:cNvPr id="12" name="Text 9"/>
            <p:cNvSpPr/>
            <p:nvPr/>
          </p:nvSpPr>
          <p:spPr>
            <a:xfrm>
              <a:off x="4053078" y="4757026"/>
              <a:ext cx="2331720" cy="724455"/>
            </a:xfrm>
            <a:prstGeom prst="rect">
              <a:avLst/>
            </a:prstGeom>
            <a:noFill/>
            <a:ln/>
          </p:spPr>
          <p:txBody>
            <a:bodyPr wrap="square" lIns="0" tIns="0" rIns="0" bIns="0" rtlCol="0" anchor="t">
              <a:normAutofit lnSpcReduction="10000"/>
            </a:bodyPr>
            <a:lstStyle/>
            <a:p>
              <a:pPr marL="0" indent="0" algn="l">
                <a:buNone/>
              </a:pPr>
              <a:r>
                <a:rPr lang="en-US" sz="1600" dirty="0">
                  <a:solidFill>
                    <a:srgbClr val="5F6375"/>
                  </a:solidFill>
                  <a:latin typeface="Aptos" pitchFamily="34" charset="0"/>
                  <a:ea typeface="Aptos" pitchFamily="34" charset="-122"/>
                  <a:cs typeface="Aptos" pitchFamily="34" charset="-120"/>
                </a:rPr>
                <a:t>Tracks temperature inside the Controlled Drug Box in real time</a:t>
              </a:r>
              <a:r>
                <a:rPr lang="en-US" sz="1260" dirty="0">
                  <a:solidFill>
                    <a:srgbClr val="5F6375"/>
                  </a:solidFill>
                  <a:latin typeface="Aptos" pitchFamily="34" charset="0"/>
                  <a:ea typeface="Aptos" pitchFamily="34" charset="-122"/>
                  <a:cs typeface="Aptos" pitchFamily="34" charset="-120"/>
                </a:rPr>
                <a:t>.</a:t>
              </a:r>
              <a:endParaRPr lang="en-US" sz="1260" dirty="0"/>
            </a:p>
          </p:txBody>
        </p:sp>
      </p:grpSp>
      <p:grpSp>
        <p:nvGrpSpPr>
          <p:cNvPr id="31" name="Group 30">
            <a:extLst>
              <a:ext uri="{FF2B5EF4-FFF2-40B4-BE49-F238E27FC236}">
                <a16:creationId xmlns:a16="http://schemas.microsoft.com/office/drawing/2014/main" id="{18270035-8730-62D3-59B1-01B98DDCD359}"/>
              </a:ext>
            </a:extLst>
          </p:cNvPr>
          <p:cNvGrpSpPr/>
          <p:nvPr/>
        </p:nvGrpSpPr>
        <p:grpSpPr>
          <a:xfrm>
            <a:off x="6751555" y="4079675"/>
            <a:ext cx="2643905" cy="1691640"/>
            <a:chOff x="6751555" y="4079675"/>
            <a:chExt cx="2643905" cy="1691640"/>
          </a:xfrm>
        </p:grpSpPr>
        <p:sp>
          <p:nvSpPr>
            <p:cNvPr id="13" name="Shape 10"/>
            <p:cNvSpPr/>
            <p:nvPr/>
          </p:nvSpPr>
          <p:spPr>
            <a:xfrm>
              <a:off x="6759702" y="4079675"/>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4" name="Shape 11"/>
            <p:cNvSpPr/>
            <p:nvPr/>
          </p:nvSpPr>
          <p:spPr>
            <a:xfrm>
              <a:off x="6751555" y="4092175"/>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5" name="Text 12"/>
            <p:cNvSpPr/>
            <p:nvPr/>
          </p:nvSpPr>
          <p:spPr>
            <a:xfrm>
              <a:off x="6797860" y="4142233"/>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6" name="Text 13"/>
            <p:cNvSpPr/>
            <p:nvPr/>
          </p:nvSpPr>
          <p:spPr>
            <a:xfrm>
              <a:off x="7461799" y="4159875"/>
              <a:ext cx="1866665" cy="549400"/>
            </a:xfrm>
            <a:prstGeom prst="rect">
              <a:avLst/>
            </a:prstGeom>
            <a:noFill/>
            <a:ln/>
          </p:spPr>
          <p:txBody>
            <a:bodyPr wrap="square" lIns="0" tIns="0" rIns="0" bIns="0" rtlCol="0" anchor="t">
              <a:normAutofit/>
            </a:bodyPr>
            <a:lstStyle/>
            <a:p>
              <a:pPr marL="0" indent="0" algn="l">
                <a:buNone/>
              </a:pPr>
              <a:r>
                <a:rPr lang="en-US" b="1" dirty="0">
                  <a:solidFill>
                    <a:srgbClr val="1D3D9C"/>
                  </a:solidFill>
                  <a:latin typeface="Aptos" pitchFamily="34" charset="0"/>
                  <a:ea typeface="Aptos" pitchFamily="34" charset="-122"/>
                  <a:cs typeface="Aptos" pitchFamily="34" charset="-120"/>
                </a:rPr>
                <a:t>Exposure</a:t>
              </a:r>
            </a:p>
            <a:p>
              <a:pPr marL="0" indent="0" algn="l">
                <a:buNone/>
              </a:pPr>
              <a:r>
                <a:rPr lang="en-US" b="1" dirty="0">
                  <a:solidFill>
                    <a:srgbClr val="1D3D9C"/>
                  </a:solidFill>
                  <a:latin typeface="Aptos" pitchFamily="34" charset="0"/>
                  <a:ea typeface="Aptos" pitchFamily="34" charset="-122"/>
                  <a:cs typeface="Aptos" pitchFamily="34" charset="-120"/>
                </a:rPr>
                <a:t> Time</a:t>
              </a:r>
              <a:endParaRPr lang="en-US" dirty="0"/>
            </a:p>
          </p:txBody>
        </p:sp>
        <p:sp>
          <p:nvSpPr>
            <p:cNvPr id="17" name="Text 14"/>
            <p:cNvSpPr/>
            <p:nvPr/>
          </p:nvSpPr>
          <p:spPr>
            <a:xfrm>
              <a:off x="7063740" y="4739608"/>
              <a:ext cx="2331720" cy="8445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Records how long temperature remains above the safe limit.</a:t>
              </a:r>
              <a:endParaRPr lang="en-US" sz="1600" dirty="0"/>
            </a:p>
          </p:txBody>
        </p:sp>
      </p:grpSp>
      <p:grpSp>
        <p:nvGrpSpPr>
          <p:cNvPr id="30" name="Group 29">
            <a:extLst>
              <a:ext uri="{FF2B5EF4-FFF2-40B4-BE49-F238E27FC236}">
                <a16:creationId xmlns:a16="http://schemas.microsoft.com/office/drawing/2014/main" id="{FFB08D8C-4489-86E2-0084-10A640D248DC}"/>
              </a:ext>
            </a:extLst>
          </p:cNvPr>
          <p:cNvGrpSpPr/>
          <p:nvPr/>
        </p:nvGrpSpPr>
        <p:grpSpPr>
          <a:xfrm>
            <a:off x="9400032" y="4040241"/>
            <a:ext cx="2423160" cy="1691640"/>
            <a:chOff x="9400032" y="4040241"/>
            <a:chExt cx="2423160" cy="1691640"/>
          </a:xfrm>
        </p:grpSpPr>
        <p:sp>
          <p:nvSpPr>
            <p:cNvPr id="18" name="Shape 15"/>
            <p:cNvSpPr/>
            <p:nvPr/>
          </p:nvSpPr>
          <p:spPr>
            <a:xfrm>
              <a:off x="9400032" y="4040241"/>
              <a:ext cx="233172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9" name="Shape 16"/>
            <p:cNvSpPr/>
            <p:nvPr/>
          </p:nvSpPr>
          <p:spPr>
            <a:xfrm>
              <a:off x="9445635"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0" name="Text 17"/>
            <p:cNvSpPr/>
            <p:nvPr/>
          </p:nvSpPr>
          <p:spPr>
            <a:xfrm>
              <a:off x="9515975" y="4134729"/>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1" name="Text 18"/>
            <p:cNvSpPr/>
            <p:nvPr/>
          </p:nvSpPr>
          <p:spPr>
            <a:xfrm>
              <a:off x="10368578" y="4217939"/>
              <a:ext cx="1015702" cy="404588"/>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Alerts</a:t>
              </a:r>
              <a:endParaRPr lang="en-US" dirty="0"/>
            </a:p>
          </p:txBody>
        </p:sp>
        <p:sp>
          <p:nvSpPr>
            <p:cNvPr id="22" name="Text 19"/>
            <p:cNvSpPr/>
            <p:nvPr/>
          </p:nvSpPr>
          <p:spPr>
            <a:xfrm>
              <a:off x="9582911" y="4790223"/>
              <a:ext cx="2240281" cy="9189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Uses LED visual feedback, a buzzer, and phone notifications.</a:t>
              </a:r>
              <a:endParaRPr lang="en-US" sz="1600" dirty="0"/>
            </a:p>
          </p:txBody>
        </p:sp>
      </p:grpSp>
      <p:grpSp>
        <p:nvGrpSpPr>
          <p:cNvPr id="33" name="Group 32">
            <a:extLst>
              <a:ext uri="{FF2B5EF4-FFF2-40B4-BE49-F238E27FC236}">
                <a16:creationId xmlns:a16="http://schemas.microsoft.com/office/drawing/2014/main" id="{5A66D382-E3E3-9C5D-23E5-4A63E50CD3DE}"/>
              </a:ext>
            </a:extLst>
          </p:cNvPr>
          <p:cNvGrpSpPr/>
          <p:nvPr/>
        </p:nvGrpSpPr>
        <p:grpSpPr>
          <a:xfrm>
            <a:off x="4021923" y="5934456"/>
            <a:ext cx="7691540" cy="747727"/>
            <a:chOff x="4021923" y="5934456"/>
            <a:chExt cx="7691540" cy="747727"/>
          </a:xfrm>
        </p:grpSpPr>
        <p:sp>
          <p:nvSpPr>
            <p:cNvPr id="23" name="Shape 20"/>
            <p:cNvSpPr/>
            <p:nvPr/>
          </p:nvSpPr>
          <p:spPr>
            <a:xfrm>
              <a:off x="4021923" y="5934456"/>
              <a:ext cx="7691540" cy="667512"/>
            </a:xfrm>
            <a:prstGeom prst="roundRect">
              <a:avLst>
                <a:gd name="adj" fmla="val 8148"/>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dirty="0"/>
            </a:p>
          </p:txBody>
        </p:sp>
        <p:sp>
          <p:nvSpPr>
            <p:cNvPr id="24" name="Shape 21"/>
            <p:cNvSpPr/>
            <p:nvPr/>
          </p:nvSpPr>
          <p:spPr>
            <a:xfrm>
              <a:off x="4142232" y="6003036"/>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5" name="Text 22"/>
            <p:cNvSpPr/>
            <p:nvPr/>
          </p:nvSpPr>
          <p:spPr>
            <a:xfrm>
              <a:off x="4207647" y="6071616"/>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6" name="Text 23"/>
            <p:cNvSpPr/>
            <p:nvPr/>
          </p:nvSpPr>
          <p:spPr>
            <a:xfrm>
              <a:off x="4829468" y="6017572"/>
              <a:ext cx="1691640" cy="292608"/>
            </a:xfrm>
            <a:prstGeom prst="rect">
              <a:avLst/>
            </a:prstGeom>
            <a:noFill/>
            <a:ln/>
          </p:spPr>
          <p:txBody>
            <a:bodyPr wrap="square" lIns="0" tIns="0" rIns="0" bIns="0" rtlCol="0" anchor="t">
              <a:normAutofit/>
            </a:bodyPr>
            <a:lstStyle/>
            <a:p>
              <a:pPr marL="0" indent="0" algn="l">
                <a:buNone/>
              </a:pPr>
              <a:r>
                <a:rPr lang="en-US" sz="1750" b="1" dirty="0">
                  <a:solidFill>
                    <a:srgbClr val="1D3D9C"/>
                  </a:solidFill>
                  <a:latin typeface="Aptos" pitchFamily="34" charset="0"/>
                  <a:ea typeface="Aptos" pitchFamily="34" charset="-122"/>
                  <a:cs typeface="Aptos" pitchFamily="34" charset="-120"/>
                </a:rPr>
                <a:t>Why It Matters</a:t>
              </a:r>
              <a:endParaRPr lang="en-US" sz="1750" dirty="0"/>
            </a:p>
          </p:txBody>
        </p:sp>
        <p:sp>
          <p:nvSpPr>
            <p:cNvPr id="27" name="Text 24"/>
            <p:cNvSpPr/>
            <p:nvPr/>
          </p:nvSpPr>
          <p:spPr>
            <a:xfrm>
              <a:off x="6076187" y="6257397"/>
              <a:ext cx="5549763" cy="424786"/>
            </a:xfrm>
            <a:prstGeom prst="rect">
              <a:avLst/>
            </a:prstGeom>
            <a:noFill/>
            <a:ln/>
          </p:spPr>
          <p:txBody>
            <a:bodyPr wrap="square" lIns="0" tIns="0" rIns="0" bIns="0" rtlCol="0" anchor="t">
              <a:normAutofit/>
            </a:bodyPr>
            <a:lstStyle/>
            <a:p>
              <a:r>
                <a:rPr lang="en-IE" dirty="0">
                  <a:solidFill>
                    <a:srgbClr val="5E6373"/>
                  </a:solidFill>
                </a:rPr>
                <a:t>Less manual work.   Actionable alerts only</a:t>
              </a:r>
              <a:r>
                <a:rPr lang="en-IE" dirty="0">
                  <a:solidFill>
                    <a:schemeClr val="accent1">
                      <a:lumMod val="75000"/>
                    </a:schemeClr>
                  </a:solidFill>
                </a:rPr>
                <a:t>.</a:t>
              </a:r>
              <a:endParaRPr lang="ru-RU" dirty="0">
                <a:solidFill>
                  <a:schemeClr val="accent1">
                    <a:lumMod val="75000"/>
                  </a:schemeClr>
                </a:solidFill>
              </a:endParaRPr>
            </a:p>
          </p:txBody>
        </p:sp>
      </p:grpSp>
      <p:sp>
        <p:nvSpPr>
          <p:cNvPr id="29" name="Shape 20">
            <a:extLst>
              <a:ext uri="{FF2B5EF4-FFF2-40B4-BE49-F238E27FC236}">
                <a16:creationId xmlns:a16="http://schemas.microsoft.com/office/drawing/2014/main" id="{A6127068-4B25-9293-33A4-97EF49858F13}"/>
              </a:ext>
            </a:extLst>
          </p:cNvPr>
          <p:cNvSpPr/>
          <p:nvPr/>
        </p:nvSpPr>
        <p:spPr>
          <a:xfrm>
            <a:off x="3961638" y="1570948"/>
            <a:ext cx="7795260" cy="2074581"/>
          </a:xfrm>
          <a:prstGeom prst="roundRect">
            <a:avLst>
              <a:gd name="adj" fmla="val 8148"/>
            </a:avLst>
          </a:prstGeom>
          <a:solidFill>
            <a:srgbClr val="FFFFFF"/>
          </a:solidFill>
          <a:ln w="8890">
            <a:solidFill>
              <a:srgbClr val="E3DDF0"/>
            </a:solidFill>
            <a:prstDash val="solid"/>
          </a:ln>
          <a:effectLst>
            <a:outerShdw blurRad="533400" dir="3480000" algn="bl" rotWithShape="0">
              <a:srgbClr val="B7AACD">
                <a:alpha val="74000"/>
              </a:srgbClr>
            </a:outerShdw>
          </a:effectLst>
        </p:spPr>
        <p:txBody>
          <a:bodyPr/>
          <a:lstStyle/>
          <a:p>
            <a:pPr>
              <a:lnSpc>
                <a:spcPct val="150000"/>
              </a:lnSpc>
            </a:pPr>
            <a:r>
              <a:rPr lang="en-US" b="1" dirty="0">
                <a:solidFill>
                  <a:schemeClr val="accent1">
                    <a:lumMod val="75000"/>
                  </a:schemeClr>
                </a:solidFill>
              </a:rPr>
              <a:t>Problem</a:t>
            </a:r>
          </a:p>
          <a:p>
            <a:r>
              <a:rPr lang="en-US" sz="1600" dirty="0">
                <a:solidFill>
                  <a:srgbClr val="5E6373"/>
                </a:solidFill>
              </a:rPr>
              <a:t>• </a:t>
            </a:r>
            <a:r>
              <a:rPr lang="en-US" b="1" dirty="0">
                <a:solidFill>
                  <a:srgbClr val="5E6373"/>
                </a:solidFill>
              </a:rPr>
              <a:t>Loss of Efficacy: </a:t>
            </a:r>
            <a:r>
              <a:rPr lang="en-US" dirty="0">
                <a:solidFill>
                  <a:srgbClr val="5E6373"/>
                </a:solidFill>
              </a:rPr>
              <a:t>Sensitive controlled drugs (Morphine, Fentanyl) degrade when exposed to heat.</a:t>
            </a:r>
            <a:endParaRPr lang="en-US" sz="1600" dirty="0">
              <a:solidFill>
                <a:srgbClr val="5E6373"/>
              </a:solidFill>
            </a:endParaRPr>
          </a:p>
          <a:p>
            <a:r>
              <a:rPr lang="en-US" dirty="0">
                <a:solidFill>
                  <a:srgbClr val="5E6373"/>
                </a:solidFill>
              </a:rPr>
              <a:t>• </a:t>
            </a:r>
            <a:r>
              <a:rPr lang="en-US" b="1" dirty="0">
                <a:solidFill>
                  <a:srgbClr val="5E6373"/>
                </a:solidFill>
              </a:rPr>
              <a:t>Heat Risk: </a:t>
            </a:r>
            <a:r>
              <a:rPr lang="en-US" dirty="0">
                <a:solidFill>
                  <a:srgbClr val="5E6373"/>
                </a:solidFill>
              </a:rPr>
              <a:t>Ambulance storage temperatures often exceed safe limits.</a:t>
            </a:r>
            <a:endParaRPr lang="en-US" sz="1600" dirty="0">
              <a:solidFill>
                <a:srgbClr val="5E6373"/>
              </a:solidFill>
            </a:endParaRPr>
          </a:p>
          <a:p>
            <a:r>
              <a:rPr lang="en-US" sz="1600" dirty="0">
                <a:solidFill>
                  <a:srgbClr val="5E6373"/>
                </a:solidFill>
              </a:rPr>
              <a:t>• </a:t>
            </a:r>
            <a:r>
              <a:rPr lang="en-US" b="1" dirty="0">
                <a:solidFill>
                  <a:srgbClr val="5E6373"/>
                </a:solidFill>
              </a:rPr>
              <a:t>The Blind Spot: </a:t>
            </a:r>
            <a:r>
              <a:rPr lang="en-US" dirty="0">
                <a:solidFill>
                  <a:srgbClr val="5E6373"/>
                </a:solidFill>
              </a:rPr>
              <a:t>Without tracking, it’s impossible to know exposure duration</a:t>
            </a:r>
            <a:r>
              <a:rPr lang="en-US" sz="1600" dirty="0">
                <a:solidFill>
                  <a:srgbClr val="5E6373"/>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938F667-CB45-43DF-90B4-01784BE0A6F4}"/>
              </a:ext>
            </a:extLst>
          </p:cNvPr>
          <p:cNvCxnSpPr>
            <a:stCxn id="12" idx="2"/>
            <a:endCxn id="14" idx="0"/>
          </p:cNvCxnSpPr>
          <p:nvPr/>
        </p:nvCxnSpPr>
        <p:spPr>
          <a:xfrm flipH="1">
            <a:off x="10839450" y="4314825"/>
            <a:ext cx="90488" cy="685800"/>
          </a:xfrm>
          <a:prstGeom prst="straightConnector1">
            <a:avLst/>
          </a:prstGeom>
          <a:ln w="23813">
            <a:solidFill>
              <a:srgbClr val="7B8596"/>
            </a:solidFill>
            <a:prstDash val="dash"/>
          </a:ln>
        </p:spPr>
      </p:cxnSp>
      <p:cxnSp>
        <p:nvCxnSpPr>
          <p:cNvPr id="18" name="Straight Arrow Connector 17">
            <a:extLst>
              <a:ext uri="{FF2B5EF4-FFF2-40B4-BE49-F238E27FC236}">
                <a16:creationId xmlns:a16="http://schemas.microsoft.com/office/drawing/2014/main" id="{D9CF3C70-DD31-4B24-9E0F-4924762981C8}"/>
              </a:ext>
            </a:extLst>
          </p:cNvPr>
          <p:cNvCxnSpPr>
            <a:stCxn id="13" idx="2"/>
            <a:endCxn id="12" idx="0"/>
          </p:cNvCxnSpPr>
          <p:nvPr/>
        </p:nvCxnSpPr>
        <p:spPr>
          <a:xfrm>
            <a:off x="10929938" y="2924175"/>
            <a:ext cx="0" cy="485775"/>
          </a:xfrm>
          <a:prstGeom prst="straightConnector1">
            <a:avLst/>
          </a:prstGeom>
          <a:ln w="23813">
            <a:solidFill>
              <a:srgbClr val="8A7AB7"/>
            </a:solidFill>
            <a:prstDash val="solid"/>
          </a:ln>
        </p:spPr>
      </p:cxnSp>
      <p:cxnSp>
        <p:nvCxnSpPr>
          <p:cNvPr id="17" name="Straight Arrow Connector 16">
            <a:extLst>
              <a:ext uri="{FF2B5EF4-FFF2-40B4-BE49-F238E27FC236}">
                <a16:creationId xmlns:a16="http://schemas.microsoft.com/office/drawing/2014/main" id="{C43701C8-883F-4DD4-8998-C4E94A4F8557}"/>
              </a:ext>
            </a:extLst>
          </p:cNvPr>
          <p:cNvCxnSpPr>
            <a:stCxn id="11" idx="3"/>
            <a:endCxn id="12" idx="1"/>
          </p:cNvCxnSpPr>
          <p:nvPr/>
        </p:nvCxnSpPr>
        <p:spPr>
          <a:xfrm>
            <a:off x="9334500" y="3862388"/>
            <a:ext cx="762000" cy="0"/>
          </a:xfrm>
          <a:prstGeom prst="straightConnector1">
            <a:avLst/>
          </a:prstGeom>
          <a:ln w="23813">
            <a:solidFill>
              <a:srgbClr val="8A7AB7"/>
            </a:solidFill>
            <a:prstDash val="solid"/>
          </a:ln>
        </p:spPr>
      </p:cxnSp>
      <p:cxnSp>
        <p:nvCxnSpPr>
          <p:cNvPr id="16" name="Elbow Connector 15">
            <a:extLst>
              <a:ext uri="{FF2B5EF4-FFF2-40B4-BE49-F238E27FC236}">
                <a16:creationId xmlns:a16="http://schemas.microsoft.com/office/drawing/2014/main" id="{5AE253C9-5ECA-4789-A730-6B060F29B951}"/>
              </a:ext>
            </a:extLst>
          </p:cNvPr>
          <p:cNvCxnSpPr>
            <a:stCxn id="10" idx="3"/>
            <a:endCxn id="11" idx="1"/>
          </p:cNvCxnSpPr>
          <p:nvPr/>
        </p:nvCxnSpPr>
        <p:spPr>
          <a:xfrm flipV="1">
            <a:off x="6619875" y="3862388"/>
            <a:ext cx="866775" cy="614363"/>
          </a:xfrm>
          <a:prstGeom prst="bentConnector3">
            <a:avLst>
              <a:gd name="adj1" fmla="val 50000"/>
            </a:avLst>
          </a:prstGeom>
          <a:ln w="23813">
            <a:solidFill>
              <a:srgbClr val="8A7AB7"/>
            </a:solidFill>
            <a:prstDash val="solid"/>
          </a:ln>
        </p:spPr>
      </p:cxnSp>
      <p:cxnSp>
        <p:nvCxnSpPr>
          <p:cNvPr id="15" name="Elbow Connector 14">
            <a:extLst>
              <a:ext uri="{FF2B5EF4-FFF2-40B4-BE49-F238E27FC236}">
                <a16:creationId xmlns:a16="http://schemas.microsoft.com/office/drawing/2014/main" id="{11108D8F-76A3-4186-9BE9-EAF220D67B31}"/>
              </a:ext>
            </a:extLst>
          </p:cNvPr>
          <p:cNvCxnSpPr>
            <a:stCxn id="9" idx="3"/>
            <a:endCxn id="11" idx="1"/>
          </p:cNvCxnSpPr>
          <p:nvPr/>
        </p:nvCxnSpPr>
        <p:spPr>
          <a:xfrm>
            <a:off x="6619875" y="3343275"/>
            <a:ext cx="866775" cy="519113"/>
          </a:xfrm>
          <a:prstGeom prst="bentConnector3">
            <a:avLst>
              <a:gd name="adj1" fmla="val 50000"/>
            </a:avLst>
          </a:prstGeom>
          <a:ln w="23813">
            <a:solidFill>
              <a:srgbClr val="8A7AB7"/>
            </a:solidFill>
            <a:prstDash val="solid"/>
          </a:ln>
        </p:spPr>
      </p:cxnSp>
      <p:sp>
        <p:nvSpPr>
          <p:cNvPr id="41" name="title">
            <a:extLst>
              <a:ext uri="{FF2B5EF4-FFF2-40B4-BE49-F238E27FC236}">
                <a16:creationId xmlns:a16="http://schemas.microsoft.com/office/drawing/2014/main" id="{1AC85DF2-5532-47FB-8CE7-F902638319CD}"/>
              </a:ext>
            </a:extLst>
          </p:cNvPr>
          <p:cNvSpPr>
            <a:spLocks noGrp="1"/>
          </p:cNvSpPr>
          <p:nvPr/>
        </p:nvSpPr>
        <p:spPr>
          <a:xfrm>
            <a:off x="495300" y="285750"/>
            <a:ext cx="7048500" cy="619125"/>
          </a:xfrm>
          <a:prstGeom prst="rect">
            <a:avLst/>
          </a:prstGeom>
          <a:noFill/>
          <a:ln w="0">
            <a:noFill/>
          </a:ln>
        </p:spPr>
        <p:txBody>
          <a:bodyPr anchor="ctr"/>
          <a:lstStyle>
            <a:defPPr>
              <a:defRPr sz="3600" b="1">
                <a:solidFill>
                  <a:srgbClr val="182D86"/>
                </a:solidFill>
                <a:latin typeface="Arial"/>
                <a:ea typeface="Arial"/>
                <a:cs typeface="Arial"/>
              </a:defRPr>
            </a:defPPr>
          </a:lstStyle>
          <a:p>
            <a:pPr>
              <a:defRPr sz="3600" b="1">
                <a:solidFill>
                  <a:srgbClr val="182D86"/>
                </a:solidFill>
                <a:latin typeface="Arial"/>
                <a:ea typeface="Arial"/>
                <a:cs typeface="Arial"/>
              </a:defRPr>
            </a:pPr>
            <a:r>
              <a:rPr sz="3600" b="1">
                <a:solidFill>
                  <a:srgbClr val="182D86"/>
                </a:solidFill>
                <a:latin typeface="Arial"/>
                <a:ea typeface="Arial"/>
                <a:cs typeface="Arial"/>
              </a:rPr>
              <a:t>How TempSafe works</a:t>
            </a:r>
          </a:p>
        </p:txBody>
      </p:sp>
      <p:sp>
        <p:nvSpPr>
          <p:cNvPr id="2" name="context">
            <a:extLst>
              <a:ext uri="{FF2B5EF4-FFF2-40B4-BE49-F238E27FC236}">
                <a16:creationId xmlns:a16="http://schemas.microsoft.com/office/drawing/2014/main" id="{7AF9BD76-3882-4C35-827D-901D3833F58A}"/>
              </a:ext>
            </a:extLst>
          </p:cNvPr>
          <p:cNvSpPr>
            <a:spLocks noGrp="1"/>
          </p:cNvSpPr>
          <p:nvPr/>
        </p:nvSpPr>
        <p:spPr>
          <a:xfrm>
            <a:off x="8001000" y="371475"/>
            <a:ext cx="3714750" cy="495300"/>
          </a:xfrm>
          <a:prstGeom prst="rect">
            <a:avLst/>
          </a:prstGeom>
          <a:noFill/>
          <a:ln w="0">
            <a:noFill/>
          </a:ln>
        </p:spPr>
        <p:txBody>
          <a:bodyPr anchor="ctr"/>
          <a:lstStyle>
            <a:defPPr>
              <a:defRPr sz="1350" b="0">
                <a:solidFill>
                  <a:srgbClr val="737B91"/>
                </a:solidFill>
                <a:latin typeface="Arial"/>
                <a:ea typeface="Arial"/>
                <a:cs typeface="Arial"/>
              </a:defRPr>
            </a:defPPr>
          </a:lstStyle>
          <a:p>
            <a:pPr>
              <a:defRPr sz="1350" b="0">
                <a:solidFill>
                  <a:srgbClr val="737B91"/>
                </a:solidFill>
                <a:latin typeface="Arial"/>
                <a:ea typeface="Arial"/>
                <a:cs typeface="Arial"/>
              </a:defRPr>
            </a:pPr>
            <a:r>
              <a:rPr sz="1350" b="0">
                <a:solidFill>
                  <a:srgbClr val="737B91"/>
                </a:solidFill>
                <a:latin typeface="Arial"/>
                <a:ea typeface="Arial"/>
                <a:cs typeface="Arial"/>
              </a:rPr>
              <a:t>One prototype box · wired components</a:t>
            </a:r>
          </a:p>
          <a:p>
            <a:pPr>
              <a:defRPr sz="1350" b="0">
                <a:solidFill>
                  <a:srgbClr val="737B91"/>
                </a:solidFill>
                <a:latin typeface="Arial"/>
                <a:ea typeface="Arial"/>
                <a:cs typeface="Arial"/>
              </a:defRPr>
            </a:pPr>
            <a:r>
              <a:rPr sz="1350" b="0">
                <a:solidFill>
                  <a:srgbClr val="737B91"/>
                </a:solidFill>
                <a:latin typeface="Arial"/>
                <a:ea typeface="Arial"/>
                <a:cs typeface="Arial"/>
              </a:rPr>
              <a:t>Remote access over Wi-Fi</a:t>
            </a:r>
          </a:p>
        </p:txBody>
      </p:sp>
      <p:pic>
        <p:nvPicPr>
          <p:cNvPr id="3" name="Picture 2">
            <a:extLst>
              <a:ext uri="{FF2B5EF4-FFF2-40B4-BE49-F238E27FC236}">
                <a16:creationId xmlns:a16="http://schemas.microsoft.com/office/drawing/2014/main" id="{45E8BC48-1AF1-4567-80FB-02115C73B8A9}"/>
              </a:ext>
            </a:extLst>
          </p:cNvPr>
          <p:cNvPicPr>
            <a:picLocks noChangeAspect="1"/>
          </p:cNvPicPr>
          <p:nvPr/>
        </p:nvPicPr>
        <p:blipFill>
          <a:blip r:embed="rId3"/>
          <a:srcRect t="1111" b="1111"/>
          <a:stretch>
            <a:fillRect/>
          </a:stretch>
        </p:blipFill>
        <p:spPr>
          <a:xfrm>
            <a:off x="495300" y="2143125"/>
            <a:ext cx="4000500" cy="2933700"/>
          </a:xfrm>
          <a:prstGeom prst="rect">
            <a:avLst/>
          </a:prstGeom>
        </p:spPr>
      </p:pic>
      <p:sp>
        <p:nvSpPr>
          <p:cNvPr id="4" name="photo-heading">
            <a:extLst>
              <a:ext uri="{FF2B5EF4-FFF2-40B4-BE49-F238E27FC236}">
                <a16:creationId xmlns:a16="http://schemas.microsoft.com/office/drawing/2014/main" id="{36775937-0C3D-4099-9496-78DB1E8B7080}"/>
              </a:ext>
            </a:extLst>
          </p:cNvPr>
          <p:cNvSpPr>
            <a:spLocks noGrp="1"/>
          </p:cNvSpPr>
          <p:nvPr/>
        </p:nvSpPr>
        <p:spPr>
          <a:xfrm>
            <a:off x="514350" y="1800225"/>
            <a:ext cx="40005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PROTOTYPE CONCEPT</a:t>
            </a:r>
          </a:p>
        </p:txBody>
      </p:sp>
      <p:sp>
        <p:nvSpPr>
          <p:cNvPr id="5" name="image-disclosure">
            <a:extLst>
              <a:ext uri="{FF2B5EF4-FFF2-40B4-BE49-F238E27FC236}">
                <a16:creationId xmlns:a16="http://schemas.microsoft.com/office/drawing/2014/main" id="{BEE3B7E9-2687-4CC6-A4DA-1ABD1480EBE0}"/>
              </a:ext>
            </a:extLst>
          </p:cNvPr>
          <p:cNvSpPr>
            <a:spLocks noGrp="1"/>
          </p:cNvSpPr>
          <p:nvPr/>
        </p:nvSpPr>
        <p:spPr>
          <a:xfrm>
            <a:off x="514350" y="5162550"/>
            <a:ext cx="4191000" cy="276225"/>
          </a:xfrm>
          <a:prstGeom prst="rect">
            <a:avLst/>
          </a:prstGeom>
          <a:noFill/>
          <a:ln w="0">
            <a:noFill/>
          </a:ln>
        </p:spPr>
        <p:txBody>
          <a:bodyPr anchor="ctr"/>
          <a:lstStyle>
            <a:defPPr>
              <a:defRPr sz="1125" b="0">
                <a:solidFill>
                  <a:srgbClr val="737B91"/>
                </a:solidFill>
                <a:latin typeface="Arial"/>
                <a:ea typeface="Arial"/>
                <a:cs typeface="Arial"/>
              </a:defRPr>
            </a:defPPr>
          </a:lstStyle>
          <a:p>
            <a:pPr>
              <a:defRPr sz="1125" b="0">
                <a:solidFill>
                  <a:srgbClr val="737B91"/>
                </a:solidFill>
                <a:latin typeface="Arial"/>
                <a:ea typeface="Arial"/>
                <a:cs typeface="Arial"/>
              </a:defRPr>
            </a:pPr>
            <a:r>
              <a:rPr sz="1100" b="0" dirty="0">
                <a:solidFill>
                  <a:srgbClr val="737B91"/>
                </a:solidFill>
                <a:latin typeface="Arial"/>
                <a:ea typeface="Arial"/>
                <a:cs typeface="Arial"/>
              </a:rPr>
              <a:t>AI-generated illustration</a:t>
            </a:r>
          </a:p>
        </p:txBody>
      </p:sp>
      <p:sp>
        <p:nvSpPr>
          <p:cNvPr id="6" name="diagram-heading">
            <a:extLst>
              <a:ext uri="{FF2B5EF4-FFF2-40B4-BE49-F238E27FC236}">
                <a16:creationId xmlns:a16="http://schemas.microsoft.com/office/drawing/2014/main" id="{1456C31B-4195-4231-8A4C-FFCB6A72794B}"/>
              </a:ext>
            </a:extLst>
          </p:cNvPr>
          <p:cNvSpPr>
            <a:spLocks noGrp="1"/>
          </p:cNvSpPr>
          <p:nvPr/>
        </p:nvSpPr>
        <p:spPr>
          <a:xfrm>
            <a:off x="4953000" y="1800225"/>
            <a:ext cx="64770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COMPONENT CONNECTIONS</a:t>
            </a:r>
          </a:p>
        </p:txBody>
      </p:sp>
      <p:sp>
        <p:nvSpPr>
          <p:cNvPr id="7" name="plastic-box-group">
            <a:extLst>
              <a:ext uri="{FF2B5EF4-FFF2-40B4-BE49-F238E27FC236}">
                <a16:creationId xmlns:a16="http://schemas.microsoft.com/office/drawing/2014/main" id="{7935FBE1-9F73-4B6A-9098-0D2453EBF2DB}"/>
              </a:ext>
            </a:extLst>
          </p:cNvPr>
          <p:cNvSpPr>
            <a:spLocks noGrp="1"/>
          </p:cNvSpPr>
          <p:nvPr/>
        </p:nvSpPr>
        <p:spPr>
          <a:xfrm>
            <a:off x="4857750" y="2419350"/>
            <a:ext cx="1905000" cy="2590800"/>
          </a:xfrm>
          <a:prstGeom prst="roundRect">
            <a:avLst>
              <a:gd name="adj" fmla="val 4000"/>
            </a:avLst>
          </a:prstGeom>
          <a:solidFill>
            <a:srgbClr val="F1F8F7"/>
          </a:solidFill>
          <a:ln w="14288">
            <a:solidFill>
              <a:srgbClr val="A8CCC5"/>
            </a:solidFill>
          </a:ln>
        </p:spPr>
        <p:txBody>
          <a:bodyPr/>
          <a:lstStyle/>
          <a:p>
            <a:endParaRPr lang="en-IE" dirty="0"/>
          </a:p>
        </p:txBody>
      </p:sp>
      <p:sp>
        <p:nvSpPr>
          <p:cNvPr id="8" name="box-label">
            <a:extLst>
              <a:ext uri="{FF2B5EF4-FFF2-40B4-BE49-F238E27FC236}">
                <a16:creationId xmlns:a16="http://schemas.microsoft.com/office/drawing/2014/main" id="{2F894E3A-6697-4C24-A5C8-82B797A19FC0}"/>
              </a:ext>
            </a:extLst>
          </p:cNvPr>
          <p:cNvSpPr>
            <a:spLocks noGrp="1"/>
          </p:cNvSpPr>
          <p:nvPr/>
        </p:nvSpPr>
        <p:spPr>
          <a:xfrm>
            <a:off x="5019675" y="2486025"/>
            <a:ext cx="1619250" cy="295275"/>
          </a:xfrm>
          <a:prstGeom prst="rect">
            <a:avLst/>
          </a:prstGeom>
          <a:noFill/>
          <a:ln w="0">
            <a:noFill/>
          </a:ln>
        </p:spPr>
        <p:txBody>
          <a:bodyPr anchor="ctr"/>
          <a:lstStyle>
            <a:defPPr>
              <a:defRPr sz="1500" b="1">
                <a:solidFill>
                  <a:srgbClr val="336B62"/>
                </a:solidFill>
                <a:latin typeface="Arial"/>
                <a:ea typeface="Arial"/>
                <a:cs typeface="Arial"/>
              </a:defRPr>
            </a:defPPr>
          </a:lstStyle>
          <a:p>
            <a:pPr>
              <a:defRPr sz="1500" b="1">
                <a:solidFill>
                  <a:srgbClr val="336B62"/>
                </a:solidFill>
                <a:latin typeface="Arial"/>
                <a:ea typeface="Arial"/>
                <a:cs typeface="Arial"/>
              </a:defRPr>
            </a:pPr>
            <a:r>
              <a:rPr sz="1500" b="1">
                <a:solidFill>
                  <a:srgbClr val="336B62"/>
                </a:solidFill>
                <a:latin typeface="Arial"/>
                <a:ea typeface="Arial"/>
                <a:cs typeface="Arial"/>
              </a:rPr>
              <a:t>Plastic box</a:t>
            </a:r>
          </a:p>
        </p:txBody>
      </p:sp>
      <p:sp>
        <p:nvSpPr>
          <p:cNvPr id="9" name="sensor">
            <a:extLst>
              <a:ext uri="{FF2B5EF4-FFF2-40B4-BE49-F238E27FC236}">
                <a16:creationId xmlns:a16="http://schemas.microsoft.com/office/drawing/2014/main" id="{0E5F9939-147B-4648-A4BB-F4633D5859AE}"/>
              </a:ext>
            </a:extLst>
          </p:cNvPr>
          <p:cNvSpPr>
            <a:spLocks noGrp="1"/>
          </p:cNvSpPr>
          <p:nvPr/>
        </p:nvSpPr>
        <p:spPr>
          <a:xfrm>
            <a:off x="5000625" y="2971800"/>
            <a:ext cx="1619250" cy="742950"/>
          </a:xfrm>
          <a:prstGeom prst="roundRect">
            <a:avLst>
              <a:gd name="adj" fmla="val 10256"/>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SCD-41</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Temperature sensor</a:t>
            </a:r>
          </a:p>
        </p:txBody>
      </p:sp>
      <p:sp>
        <p:nvSpPr>
          <p:cNvPr id="10" name="warning-led">
            <a:extLst>
              <a:ext uri="{FF2B5EF4-FFF2-40B4-BE49-F238E27FC236}">
                <a16:creationId xmlns:a16="http://schemas.microsoft.com/office/drawing/2014/main" id="{BADC3E0F-D0B2-4B48-911B-BC3F4C7BFF52}"/>
              </a:ext>
            </a:extLst>
          </p:cNvPr>
          <p:cNvSpPr>
            <a:spLocks noGrp="1"/>
          </p:cNvSpPr>
          <p:nvPr/>
        </p:nvSpPr>
        <p:spPr>
          <a:xfrm>
            <a:off x="5000625" y="4133850"/>
            <a:ext cx="1619250" cy="685800"/>
          </a:xfrm>
          <a:prstGeom prst="roundRect">
            <a:avLst>
              <a:gd name="adj" fmla="val 11111"/>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Single-colour LED</a:t>
            </a:r>
          </a:p>
          <a:p>
            <a:pPr algn="ctr">
              <a:defRPr sz="1350" b="1">
                <a:solidFill>
                  <a:srgbClr val="182D86"/>
                </a:solidFill>
                <a:latin typeface="Arial"/>
                <a:ea typeface="Arial"/>
                <a:cs typeface="Arial"/>
              </a:defRPr>
            </a:pPr>
            <a:r>
              <a:rPr sz="1350" b="1">
                <a:solidFill>
                  <a:srgbClr val="182D86"/>
                </a:solidFill>
                <a:latin typeface="Arial"/>
                <a:ea typeface="Arial"/>
                <a:cs typeface="Arial"/>
              </a:rPr>
              <a:t>Warning light</a:t>
            </a:r>
          </a:p>
        </p:txBody>
      </p:sp>
      <p:sp>
        <p:nvSpPr>
          <p:cNvPr id="11" name="breadboard">
            <a:extLst>
              <a:ext uri="{FF2B5EF4-FFF2-40B4-BE49-F238E27FC236}">
                <a16:creationId xmlns:a16="http://schemas.microsoft.com/office/drawing/2014/main" id="{90223C3A-5CBD-4D61-807F-B376C8CBC74B}"/>
              </a:ext>
            </a:extLst>
          </p:cNvPr>
          <p:cNvSpPr>
            <a:spLocks noGrp="1"/>
          </p:cNvSpPr>
          <p:nvPr/>
        </p:nvSpPr>
        <p:spPr>
          <a:xfrm>
            <a:off x="7486650" y="3409950"/>
            <a:ext cx="1847850"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Breadboard</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Temporary connections</a:t>
            </a:r>
          </a:p>
        </p:txBody>
      </p:sp>
      <p:sp>
        <p:nvSpPr>
          <p:cNvPr id="12" name="pi400">
            <a:extLst>
              <a:ext uri="{FF2B5EF4-FFF2-40B4-BE49-F238E27FC236}">
                <a16:creationId xmlns:a16="http://schemas.microsoft.com/office/drawing/2014/main" id="{C1A154AA-890C-4504-A46A-4DFD9B3A14FD}"/>
              </a:ext>
            </a:extLst>
          </p:cNvPr>
          <p:cNvSpPr>
            <a:spLocks noGrp="1"/>
          </p:cNvSpPr>
          <p:nvPr/>
        </p:nvSpPr>
        <p:spPr>
          <a:xfrm>
            <a:off x="10096500" y="3409950"/>
            <a:ext cx="1666875"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400</a:t>
            </a:r>
          </a:p>
          <a:p>
            <a:pPr algn="ctr">
              <a:defRPr sz="1350" b="1">
                <a:solidFill>
                  <a:srgbClr val="182D86"/>
                </a:solidFill>
                <a:latin typeface="Arial"/>
                <a:ea typeface="Arial"/>
                <a:cs typeface="Arial"/>
              </a:defRPr>
            </a:pPr>
            <a:r>
              <a:rPr sz="1350" b="1">
                <a:solidFill>
                  <a:srgbClr val="182D86"/>
                </a:solidFill>
                <a:latin typeface="Arial"/>
                <a:ea typeface="Arial"/>
                <a:cs typeface="Arial"/>
              </a:rPr>
              <a:t>GPIO header</a:t>
            </a:r>
          </a:p>
        </p:txBody>
      </p:sp>
      <p:sp>
        <p:nvSpPr>
          <p:cNvPr id="13" name="mains-power">
            <a:extLst>
              <a:ext uri="{FF2B5EF4-FFF2-40B4-BE49-F238E27FC236}">
                <a16:creationId xmlns:a16="http://schemas.microsoft.com/office/drawing/2014/main" id="{28ABA661-1D89-4D9B-A796-26B0C2791C71}"/>
              </a:ext>
            </a:extLst>
          </p:cNvPr>
          <p:cNvSpPr>
            <a:spLocks noGrp="1"/>
          </p:cNvSpPr>
          <p:nvPr/>
        </p:nvSpPr>
        <p:spPr>
          <a:xfrm>
            <a:off x="10096500" y="2266950"/>
            <a:ext cx="1666875"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USB-C power</a:t>
            </a:r>
          </a:p>
          <a:p>
            <a:pPr algn="ctr">
              <a:defRPr sz="1350" b="1">
                <a:solidFill>
                  <a:srgbClr val="182D86"/>
                </a:solidFill>
                <a:latin typeface="Arial"/>
                <a:ea typeface="Arial"/>
                <a:cs typeface="Arial"/>
              </a:defRPr>
            </a:pPr>
            <a:r>
              <a:rPr sz="1350" b="1">
                <a:solidFill>
                  <a:srgbClr val="182D86"/>
                </a:solidFill>
                <a:latin typeface="Arial"/>
                <a:ea typeface="Arial"/>
                <a:cs typeface="Arial"/>
              </a:rPr>
              <a:t>Mains supply</a:t>
            </a:r>
          </a:p>
        </p:txBody>
      </p:sp>
      <p:sp>
        <p:nvSpPr>
          <p:cNvPr id="14" name="remote-laptop">
            <a:extLst>
              <a:ext uri="{FF2B5EF4-FFF2-40B4-BE49-F238E27FC236}">
                <a16:creationId xmlns:a16="http://schemas.microsoft.com/office/drawing/2014/main" id="{454DCAEA-F7A0-4533-881F-DF40BC30B3AB}"/>
              </a:ext>
            </a:extLst>
          </p:cNvPr>
          <p:cNvSpPr>
            <a:spLocks noGrp="1"/>
          </p:cNvSpPr>
          <p:nvPr/>
        </p:nvSpPr>
        <p:spPr>
          <a:xfrm>
            <a:off x="9915525" y="5000625"/>
            <a:ext cx="1847850"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Laptop</a:t>
            </a:r>
          </a:p>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Connect</a:t>
            </a:r>
          </a:p>
        </p:txBody>
      </p:sp>
      <p:sp>
        <p:nvSpPr>
          <p:cNvPr id="20" name="sensor-wire-label">
            <a:extLst>
              <a:ext uri="{FF2B5EF4-FFF2-40B4-BE49-F238E27FC236}">
                <a16:creationId xmlns:a16="http://schemas.microsoft.com/office/drawing/2014/main" id="{7AA55D15-C522-4F25-B2A0-91E989BDAC33}"/>
              </a:ext>
            </a:extLst>
          </p:cNvPr>
          <p:cNvSpPr>
            <a:spLocks noGrp="1"/>
          </p:cNvSpPr>
          <p:nvPr/>
        </p:nvSpPr>
        <p:spPr>
          <a:xfrm>
            <a:off x="6762750" y="2886075"/>
            <a:ext cx="142875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Power + I²C</a:t>
            </a:r>
          </a:p>
        </p:txBody>
      </p:sp>
      <p:sp>
        <p:nvSpPr>
          <p:cNvPr id="21" name="led-wire-label">
            <a:extLst>
              <a:ext uri="{FF2B5EF4-FFF2-40B4-BE49-F238E27FC236}">
                <a16:creationId xmlns:a16="http://schemas.microsoft.com/office/drawing/2014/main" id="{1E6B12AB-174E-4615-86C5-1E31C24D806A}"/>
              </a:ext>
            </a:extLst>
          </p:cNvPr>
          <p:cNvSpPr>
            <a:spLocks noGrp="1"/>
          </p:cNvSpPr>
          <p:nvPr/>
        </p:nvSpPr>
        <p:spPr>
          <a:xfrm>
            <a:off x="6753225" y="4543425"/>
            <a:ext cx="152400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Wires + resistor</a:t>
            </a:r>
          </a:p>
        </p:txBody>
      </p:sp>
      <p:sp>
        <p:nvSpPr>
          <p:cNvPr id="22" name="gpio-wire-label">
            <a:extLst>
              <a:ext uri="{FF2B5EF4-FFF2-40B4-BE49-F238E27FC236}">
                <a16:creationId xmlns:a16="http://schemas.microsoft.com/office/drawing/2014/main" id="{7DAD0533-600B-459C-B7D5-63E1589229AD}"/>
              </a:ext>
            </a:extLst>
          </p:cNvPr>
          <p:cNvSpPr>
            <a:spLocks noGrp="1"/>
          </p:cNvSpPr>
          <p:nvPr/>
        </p:nvSpPr>
        <p:spPr>
          <a:xfrm>
            <a:off x="9305925" y="3124200"/>
            <a:ext cx="1095375" cy="247650"/>
          </a:xfrm>
          <a:prstGeom prst="rect">
            <a:avLst/>
          </a:prstGeom>
          <a:noFill/>
          <a:ln w="0">
            <a:noFill/>
          </a:ln>
        </p:spPr>
        <p:txBody>
          <a:bodyPr anchor="ctr"/>
          <a:lstStyle>
            <a:defPPr>
              <a:defRPr sz="1125" b="0">
                <a:solidFill>
                  <a:srgbClr val="5D647A"/>
                </a:solidFill>
                <a:latin typeface="Arial"/>
                <a:ea typeface="Arial"/>
                <a:cs typeface="Arial"/>
              </a:defRPr>
            </a:defPPr>
          </a:lstStyle>
          <a:p>
            <a:pPr>
              <a:defRPr sz="1125" b="0">
                <a:solidFill>
                  <a:srgbClr val="5D647A"/>
                </a:solidFill>
                <a:latin typeface="Arial"/>
                <a:ea typeface="Arial"/>
                <a:cs typeface="Arial"/>
              </a:defRPr>
            </a:pPr>
            <a:r>
              <a:rPr sz="1125" b="0">
                <a:solidFill>
                  <a:srgbClr val="5D647A"/>
                </a:solidFill>
                <a:latin typeface="Arial"/>
                <a:ea typeface="Arial"/>
                <a:cs typeface="Arial"/>
              </a:rPr>
              <a:t>Jumper wires</a:t>
            </a:r>
          </a:p>
        </p:txBody>
      </p:sp>
      <p:sp>
        <p:nvSpPr>
          <p:cNvPr id="23" name="wifi-label">
            <a:extLst>
              <a:ext uri="{FF2B5EF4-FFF2-40B4-BE49-F238E27FC236}">
                <a16:creationId xmlns:a16="http://schemas.microsoft.com/office/drawing/2014/main" id="{BFAA3AA4-5B78-4B6B-9BD2-B26B54301612}"/>
              </a:ext>
            </a:extLst>
          </p:cNvPr>
          <p:cNvSpPr>
            <a:spLocks noGrp="1"/>
          </p:cNvSpPr>
          <p:nvPr/>
        </p:nvSpPr>
        <p:spPr>
          <a:xfrm>
            <a:off x="8553450" y="4600575"/>
            <a:ext cx="1714500" cy="24765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Wi-Fi / Internet</a:t>
            </a:r>
          </a:p>
        </p:txBody>
      </p:sp>
      <p:sp>
        <p:nvSpPr>
          <p:cNvPr id="25" name="shannon-journey-background">
            <a:extLst>
              <a:ext uri="{FF2B5EF4-FFF2-40B4-BE49-F238E27FC236}">
                <a16:creationId xmlns:a16="http://schemas.microsoft.com/office/drawing/2014/main" id="{E1D149FE-4703-4AE7-AAB1-CD16EC967EAE}"/>
              </a:ext>
            </a:extLst>
          </p:cNvPr>
          <p:cNvSpPr>
            <a:spLocks noGrp="1"/>
          </p:cNvSpPr>
          <p:nvPr/>
        </p:nvSpPr>
        <p:spPr>
          <a:xfrm>
            <a:off x="400050" y="1000125"/>
            <a:ext cx="11430000" cy="638175"/>
          </a:xfrm>
          <a:prstGeom prst="roundRect">
            <a:avLst>
              <a:gd name="adj" fmla="val 11940"/>
            </a:avLst>
          </a:prstGeom>
          <a:solidFill>
            <a:srgbClr val="FFF4DE"/>
          </a:solidFill>
          <a:ln w="0">
            <a:noFill/>
          </a:ln>
        </p:spPr>
        <p:txBody>
          <a:bodyPr/>
          <a:lstStyle/>
          <a:p>
            <a:endParaRPr lang="en-IE"/>
          </a:p>
        </p:txBody>
      </p:sp>
      <p:sp>
        <p:nvSpPr>
          <p:cNvPr id="26" name="use-case-label">
            <a:extLst>
              <a:ext uri="{FF2B5EF4-FFF2-40B4-BE49-F238E27FC236}">
                <a16:creationId xmlns:a16="http://schemas.microsoft.com/office/drawing/2014/main" id="{8F1215DA-97D6-4E0F-A0B0-008CADEACC3D}"/>
              </a:ext>
            </a:extLst>
          </p:cNvPr>
          <p:cNvSpPr>
            <a:spLocks noGrp="1"/>
          </p:cNvSpPr>
          <p:nvPr/>
        </p:nvSpPr>
        <p:spPr>
          <a:xfrm>
            <a:off x="514350" y="1019175"/>
            <a:ext cx="11049000" cy="228600"/>
          </a:xfrm>
          <a:prstGeom prst="rect">
            <a:avLst/>
          </a:prstGeom>
          <a:noFill/>
          <a:ln w="0">
            <a:noFill/>
          </a:ln>
        </p:spPr>
        <p:txBody>
          <a:bodyPr anchor="ctr"/>
          <a:lstStyle>
            <a:defPPr>
              <a:defRPr sz="1200" b="1">
                <a:solidFill>
                  <a:srgbClr val="737B91"/>
                </a:solidFill>
                <a:latin typeface="Arial"/>
                <a:ea typeface="Arial"/>
                <a:cs typeface="Arial"/>
              </a:defRPr>
            </a:defPPr>
          </a:lstStyle>
          <a:p>
            <a:pPr>
              <a:defRPr sz="1200" b="1">
                <a:solidFill>
                  <a:srgbClr val="737B91"/>
                </a:solidFill>
                <a:latin typeface="Arial"/>
                <a:ea typeface="Arial"/>
                <a:cs typeface="Arial"/>
              </a:defRPr>
            </a:pPr>
            <a:r>
              <a:rPr lang="en-IE" sz="1200" b="1" dirty="0">
                <a:solidFill>
                  <a:srgbClr val="737B91"/>
                </a:solidFill>
                <a:latin typeface="Arial"/>
                <a:ea typeface="Arial"/>
                <a:cs typeface="Arial"/>
              </a:rPr>
              <a:t>USER</a:t>
            </a:r>
            <a:r>
              <a:rPr sz="1200" b="1" dirty="0">
                <a:solidFill>
                  <a:srgbClr val="737B91"/>
                </a:solidFill>
                <a:latin typeface="Arial"/>
                <a:ea typeface="Arial"/>
                <a:cs typeface="Arial"/>
              </a:rPr>
              <a:t>'S JOURNEY</a:t>
            </a:r>
          </a:p>
        </p:txBody>
      </p:sp>
      <p:sp>
        <p:nvSpPr>
          <p:cNvPr id="27" name="journey-number-0">
            <a:extLst>
              <a:ext uri="{FF2B5EF4-FFF2-40B4-BE49-F238E27FC236}">
                <a16:creationId xmlns:a16="http://schemas.microsoft.com/office/drawing/2014/main" id="{78FE1A4F-E8A7-463F-AA7D-916F6A30C63C}"/>
              </a:ext>
            </a:extLst>
          </p:cNvPr>
          <p:cNvSpPr>
            <a:spLocks noGrp="1"/>
          </p:cNvSpPr>
          <p:nvPr/>
        </p:nvSpPr>
        <p:spPr>
          <a:xfrm>
            <a:off x="51435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1</a:t>
            </a:r>
          </a:p>
        </p:txBody>
      </p:sp>
      <p:sp>
        <p:nvSpPr>
          <p:cNvPr id="28" name="journey-action-0">
            <a:extLst>
              <a:ext uri="{FF2B5EF4-FFF2-40B4-BE49-F238E27FC236}">
                <a16:creationId xmlns:a16="http://schemas.microsoft.com/office/drawing/2014/main" id="{E53453AD-90A7-4BE0-BEBF-8FBA2AE31178}"/>
              </a:ext>
            </a:extLst>
          </p:cNvPr>
          <p:cNvSpPr>
            <a:spLocks noGrp="1"/>
          </p:cNvSpPr>
          <p:nvPr/>
        </p:nvSpPr>
        <p:spPr>
          <a:xfrm>
            <a:off x="1276350" y="1257300"/>
            <a:ext cx="2667000" cy="323850"/>
          </a:xfrm>
          <a:prstGeom prst="rect">
            <a:avLst/>
          </a:prstGeom>
          <a:noFill/>
          <a:ln w="0">
            <a:noFill/>
          </a:ln>
        </p:spPr>
        <p:txBody>
          <a:bodyPr anchor="ctr"/>
          <a:lstStyle>
            <a:defPPr>
              <a:defRPr sz="1650" b="1">
                <a:solidFill>
                  <a:srgbClr val="986317"/>
                </a:solidFill>
                <a:latin typeface="Arial"/>
                <a:ea typeface="Arial"/>
                <a:cs typeface="Arial"/>
              </a:defRPr>
            </a:defPPr>
          </a:lstStyle>
          <a:p>
            <a:pPr>
              <a:defRPr sz="1650" b="1">
                <a:solidFill>
                  <a:srgbClr val="986317"/>
                </a:solidFill>
                <a:latin typeface="Arial"/>
                <a:ea typeface="Arial"/>
                <a:cs typeface="Arial"/>
              </a:defRPr>
            </a:pPr>
            <a:r>
              <a:rPr sz="1650" b="1">
                <a:solidFill>
                  <a:srgbClr val="986317"/>
                </a:solidFill>
                <a:latin typeface="Arial"/>
                <a:ea typeface="Arial"/>
                <a:cs typeface="Arial"/>
              </a:rPr>
              <a:t>Receive an alert</a:t>
            </a:r>
          </a:p>
        </p:txBody>
      </p:sp>
      <p:sp>
        <p:nvSpPr>
          <p:cNvPr id="29" name="journey-number-1">
            <a:extLst>
              <a:ext uri="{FF2B5EF4-FFF2-40B4-BE49-F238E27FC236}">
                <a16:creationId xmlns:a16="http://schemas.microsoft.com/office/drawing/2014/main" id="{4D0284CE-A1A7-4DAB-88F3-D64CBBD74470}"/>
              </a:ext>
            </a:extLst>
          </p:cNvPr>
          <p:cNvSpPr>
            <a:spLocks noGrp="1"/>
          </p:cNvSpPr>
          <p:nvPr/>
        </p:nvSpPr>
        <p:spPr>
          <a:xfrm>
            <a:off x="4543425"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2</a:t>
            </a:r>
          </a:p>
        </p:txBody>
      </p:sp>
      <p:sp>
        <p:nvSpPr>
          <p:cNvPr id="30" name="journey-action-1">
            <a:extLst>
              <a:ext uri="{FF2B5EF4-FFF2-40B4-BE49-F238E27FC236}">
                <a16:creationId xmlns:a16="http://schemas.microsoft.com/office/drawing/2014/main" id="{580033FB-F99D-40D3-A47B-8DD739DA5EE9}"/>
              </a:ext>
            </a:extLst>
          </p:cNvPr>
          <p:cNvSpPr>
            <a:spLocks noGrp="1"/>
          </p:cNvSpPr>
          <p:nvPr/>
        </p:nvSpPr>
        <p:spPr>
          <a:xfrm>
            <a:off x="5305425" y="1257300"/>
            <a:ext cx="2667000" cy="3238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dirty="0">
                <a:solidFill>
                  <a:srgbClr val="182D86"/>
                </a:solidFill>
                <a:latin typeface="Arial"/>
                <a:ea typeface="Arial"/>
                <a:cs typeface="Arial"/>
              </a:rPr>
              <a:t>Check the app</a:t>
            </a:r>
          </a:p>
        </p:txBody>
      </p:sp>
      <p:sp>
        <p:nvSpPr>
          <p:cNvPr id="31" name="journey-number-2">
            <a:extLst>
              <a:ext uri="{FF2B5EF4-FFF2-40B4-BE49-F238E27FC236}">
                <a16:creationId xmlns:a16="http://schemas.microsoft.com/office/drawing/2014/main" id="{31399E21-F546-4A4A-BB46-06210EB76640}"/>
              </a:ext>
            </a:extLst>
          </p:cNvPr>
          <p:cNvSpPr>
            <a:spLocks noGrp="1"/>
          </p:cNvSpPr>
          <p:nvPr/>
        </p:nvSpPr>
        <p:spPr>
          <a:xfrm>
            <a:off x="857250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3</a:t>
            </a:r>
          </a:p>
        </p:txBody>
      </p:sp>
      <p:sp>
        <p:nvSpPr>
          <p:cNvPr id="32" name="journey-action-2">
            <a:extLst>
              <a:ext uri="{FF2B5EF4-FFF2-40B4-BE49-F238E27FC236}">
                <a16:creationId xmlns:a16="http://schemas.microsoft.com/office/drawing/2014/main" id="{506BA9C4-AFC3-4A9E-B127-5FA4F1C0B51B}"/>
              </a:ext>
            </a:extLst>
          </p:cNvPr>
          <p:cNvSpPr>
            <a:spLocks noGrp="1"/>
          </p:cNvSpPr>
          <p:nvPr/>
        </p:nvSpPr>
        <p:spPr>
          <a:xfrm>
            <a:off x="9334500" y="1257300"/>
            <a:ext cx="2667000" cy="323850"/>
          </a:xfrm>
          <a:prstGeom prst="rect">
            <a:avLst/>
          </a:prstGeom>
          <a:noFill/>
          <a:ln w="0">
            <a:noFill/>
          </a:ln>
        </p:spPr>
        <p:txBody>
          <a:bodyPr anchor="ctr"/>
          <a:lstStyle>
            <a:defPPr>
              <a:defRPr sz="1650" b="1">
                <a:solidFill>
                  <a:srgbClr val="336B62"/>
                </a:solidFill>
                <a:latin typeface="Arial"/>
                <a:ea typeface="Arial"/>
                <a:cs typeface="Arial"/>
              </a:defRPr>
            </a:defPPr>
          </a:lstStyle>
          <a:p>
            <a:pPr>
              <a:defRPr sz="1650" b="1">
                <a:solidFill>
                  <a:srgbClr val="336B62"/>
                </a:solidFill>
                <a:latin typeface="Arial"/>
                <a:ea typeface="Arial"/>
                <a:cs typeface="Arial"/>
              </a:defRPr>
            </a:pPr>
            <a:r>
              <a:rPr sz="1650" b="1">
                <a:solidFill>
                  <a:srgbClr val="336B62"/>
                </a:solidFill>
                <a:latin typeface="Arial"/>
                <a:ea typeface="Arial"/>
                <a:cs typeface="Arial"/>
              </a:rPr>
              <a:t>Review the box history</a:t>
            </a:r>
          </a:p>
        </p:txBody>
      </p:sp>
      <p:sp>
        <p:nvSpPr>
          <p:cNvPr id="33" name="data-flow-0">
            <a:extLst>
              <a:ext uri="{FF2B5EF4-FFF2-40B4-BE49-F238E27FC236}">
                <a16:creationId xmlns:a16="http://schemas.microsoft.com/office/drawing/2014/main" id="{B685F9C1-9169-43A7-9050-AD5843B04FCB}"/>
              </a:ext>
            </a:extLst>
          </p:cNvPr>
          <p:cNvSpPr>
            <a:spLocks noGrp="1"/>
          </p:cNvSpPr>
          <p:nvPr/>
        </p:nvSpPr>
        <p:spPr>
          <a:xfrm>
            <a:off x="47625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SCD-41 → Pi 400</a:t>
            </a:r>
          </a:p>
        </p:txBody>
      </p:sp>
      <p:sp>
        <p:nvSpPr>
          <p:cNvPr id="34" name="data-detail-0">
            <a:extLst>
              <a:ext uri="{FF2B5EF4-FFF2-40B4-BE49-F238E27FC236}">
                <a16:creationId xmlns:a16="http://schemas.microsoft.com/office/drawing/2014/main" id="{0339BD15-0320-4193-BECF-31F72C1C6CF1}"/>
              </a:ext>
            </a:extLst>
          </p:cNvPr>
          <p:cNvSpPr>
            <a:spLocks noGrp="1"/>
          </p:cNvSpPr>
          <p:nvPr/>
        </p:nvSpPr>
        <p:spPr>
          <a:xfrm>
            <a:off x="476251"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Temperature samples + local LED</a:t>
            </a:r>
          </a:p>
        </p:txBody>
      </p:sp>
      <p:sp>
        <p:nvSpPr>
          <p:cNvPr id="35" name="data-arrow-0">
            <a:extLst>
              <a:ext uri="{FF2B5EF4-FFF2-40B4-BE49-F238E27FC236}">
                <a16:creationId xmlns:a16="http://schemas.microsoft.com/office/drawing/2014/main" id="{8018479F-C83C-4923-9DF1-C3D51E9A6ECF}"/>
              </a:ext>
            </a:extLst>
          </p:cNvPr>
          <p:cNvSpPr>
            <a:spLocks noGrp="1"/>
          </p:cNvSpPr>
          <p:nvPr/>
        </p:nvSpPr>
        <p:spPr>
          <a:xfrm>
            <a:off x="3429001" y="5681663"/>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6" name="data-flow-1">
            <a:extLst>
              <a:ext uri="{FF2B5EF4-FFF2-40B4-BE49-F238E27FC236}">
                <a16:creationId xmlns:a16="http://schemas.microsoft.com/office/drawing/2014/main" id="{F3C7C80D-1D1B-4A1E-A3DB-A71D50ED26BD}"/>
              </a:ext>
            </a:extLst>
          </p:cNvPr>
          <p:cNvSpPr>
            <a:spLocks noGrp="1"/>
          </p:cNvSpPr>
          <p:nvPr/>
        </p:nvSpPr>
        <p:spPr>
          <a:xfrm>
            <a:off x="4505326"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HTTPS API</a:t>
            </a:r>
          </a:p>
        </p:txBody>
      </p:sp>
      <p:sp>
        <p:nvSpPr>
          <p:cNvPr id="37" name="data-detail-1">
            <a:extLst>
              <a:ext uri="{FF2B5EF4-FFF2-40B4-BE49-F238E27FC236}">
                <a16:creationId xmlns:a16="http://schemas.microsoft.com/office/drawing/2014/main" id="{4DBF7D4A-038C-430E-B479-B3178E2F45C7}"/>
              </a:ext>
            </a:extLst>
          </p:cNvPr>
          <p:cNvSpPr>
            <a:spLocks noGrp="1"/>
          </p:cNvSpPr>
          <p:nvPr/>
        </p:nvSpPr>
        <p:spPr>
          <a:xfrm>
            <a:off x="4505326"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FastAPI + MySQL</a:t>
            </a:r>
          </a:p>
        </p:txBody>
      </p:sp>
      <p:sp>
        <p:nvSpPr>
          <p:cNvPr id="38" name="data-arrow-1">
            <a:extLst>
              <a:ext uri="{FF2B5EF4-FFF2-40B4-BE49-F238E27FC236}">
                <a16:creationId xmlns:a16="http://schemas.microsoft.com/office/drawing/2014/main" id="{A9665AA6-4BE3-4701-9F52-B22896B5B65D}"/>
              </a:ext>
            </a:extLst>
          </p:cNvPr>
          <p:cNvSpPr>
            <a:spLocks noGrp="1"/>
          </p:cNvSpPr>
          <p:nvPr/>
        </p:nvSpPr>
        <p:spPr>
          <a:xfrm>
            <a:off x="6448425" y="5657850"/>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9" name="data-flow-2">
            <a:extLst>
              <a:ext uri="{FF2B5EF4-FFF2-40B4-BE49-F238E27FC236}">
                <a16:creationId xmlns:a16="http://schemas.microsoft.com/office/drawing/2014/main" id="{DA561F34-FA83-43B2-A9D8-19A0DCC6CD42}"/>
              </a:ext>
            </a:extLst>
          </p:cNvPr>
          <p:cNvSpPr>
            <a:spLocks noGrp="1"/>
          </p:cNvSpPr>
          <p:nvPr/>
        </p:nvSpPr>
        <p:spPr>
          <a:xfrm>
            <a:off x="742950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lang="en-IE" sz="1650" b="1" dirty="0">
                <a:solidFill>
                  <a:srgbClr val="182D86"/>
                </a:solidFill>
                <a:latin typeface="Arial"/>
                <a:ea typeface="Arial"/>
                <a:cs typeface="Arial"/>
              </a:rPr>
              <a:t>Mobile</a:t>
            </a:r>
            <a:r>
              <a:rPr sz="1650" b="1" dirty="0">
                <a:solidFill>
                  <a:srgbClr val="182D86"/>
                </a:solidFill>
                <a:latin typeface="Arial"/>
                <a:ea typeface="Arial"/>
                <a:cs typeface="Arial"/>
              </a:rPr>
              <a:t> application</a:t>
            </a:r>
          </a:p>
        </p:txBody>
      </p:sp>
      <p:sp>
        <p:nvSpPr>
          <p:cNvPr id="40" name="data-detail-2">
            <a:extLst>
              <a:ext uri="{FF2B5EF4-FFF2-40B4-BE49-F238E27FC236}">
                <a16:creationId xmlns:a16="http://schemas.microsoft.com/office/drawing/2014/main" id="{6DAF5155-A84B-4FA1-80E7-A6FAEC267FBB}"/>
              </a:ext>
            </a:extLst>
          </p:cNvPr>
          <p:cNvSpPr>
            <a:spLocks noGrp="1"/>
          </p:cNvSpPr>
          <p:nvPr/>
        </p:nvSpPr>
        <p:spPr>
          <a:xfrm>
            <a:off x="7305675"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Status + history + phone alerts</a:t>
            </a:r>
          </a:p>
        </p:txBody>
      </p:sp>
    </p:spTree>
    <p:extLst>
      <p:ext uri="{BB962C8B-B14F-4D97-AF65-F5344CB8AC3E}">
        <p14:creationId xmlns:p14="http://schemas.microsoft.com/office/powerpoint/2010/main" val="3904041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9728" y="91440"/>
            <a:ext cx="11969496" cy="6675120"/>
          </a:xfrm>
          <a:prstGeom prst="roundRect">
            <a:avLst>
              <a:gd name="adj" fmla="val 1644"/>
            </a:avLst>
          </a:prstGeom>
          <a:solidFill>
            <a:srgbClr val="FFFFFF"/>
          </a:solidFill>
          <a:ln w="12700">
            <a:solidFill>
              <a:srgbClr val="E3DDF0"/>
            </a:solidFill>
            <a:prstDash val="solid"/>
          </a:ln>
        </p:spPr>
        <p:txBody>
          <a:bodyPr/>
          <a:lstStyle/>
          <a:p>
            <a:endParaRPr lang="en-IE"/>
          </a:p>
        </p:txBody>
      </p:sp>
      <p:sp>
        <p:nvSpPr>
          <p:cNvPr id="3" name="Text 1"/>
          <p:cNvSpPr txBox="1"/>
          <p:nvPr/>
        </p:nvSpPr>
        <p:spPr>
          <a:xfrm>
            <a:off x="502920" y="320040"/>
            <a:ext cx="8229600" cy="685800"/>
          </a:xfrm>
          <a:prstGeom prst="rect">
            <a:avLst/>
          </a:prstGeom>
          <a:noFill/>
          <a:ln/>
        </p:spPr>
        <p:txBody>
          <a:bodyPr wrap="square" lIns="0" tIns="0" rIns="0" bIns="0" rtlCol="0" anchor="ctr"/>
          <a:lstStyle/>
          <a:p>
            <a:pPr marL="0" indent="0">
              <a:buNone/>
            </a:pPr>
            <a:r>
              <a:rPr lang="en-US" sz="3800" b="1" dirty="0">
                <a:solidFill>
                  <a:srgbClr val="142C86"/>
                </a:solidFill>
                <a:latin typeface="Aptos Display" pitchFamily="34" charset="0"/>
                <a:ea typeface="Aptos Display" pitchFamily="34" charset="-122"/>
                <a:cs typeface="Aptos Display" pitchFamily="34" charset="-120"/>
              </a:rPr>
              <a:t>Shannon's Dashboard</a:t>
            </a:r>
            <a:endParaRPr lang="en-US" sz="3800" dirty="0"/>
          </a:p>
        </p:txBody>
      </p:sp>
      <p:sp>
        <p:nvSpPr>
          <p:cNvPr id="4" name="Text 2"/>
          <p:cNvSpPr txBox="1"/>
          <p:nvPr/>
        </p:nvSpPr>
        <p:spPr>
          <a:xfrm>
            <a:off x="502920" y="987552"/>
            <a:ext cx="9144000" cy="411480"/>
          </a:xfrm>
          <a:prstGeom prst="rect">
            <a:avLst/>
          </a:prstGeom>
          <a:noFill/>
          <a:ln/>
        </p:spPr>
        <p:txBody>
          <a:bodyPr wrap="square" lIns="0" tIns="0" rIns="0" bIns="0" rtlCol="0" anchor="ctr"/>
          <a:lstStyle/>
          <a:p>
            <a:pPr marL="0" indent="0">
              <a:buNone/>
            </a:pPr>
            <a:r>
              <a:rPr lang="en-US" sz="1800" b="1" dirty="0">
                <a:solidFill>
                  <a:srgbClr val="1D3D9C"/>
                </a:solidFill>
                <a:latin typeface="Aptos" pitchFamily="34" charset="0"/>
                <a:ea typeface="Aptos" pitchFamily="34" charset="-122"/>
                <a:cs typeface="Aptos" pitchFamily="34" charset="-120"/>
              </a:rPr>
              <a:t>From the alert to the decision — what she sees, when she needs it</a:t>
            </a:r>
            <a:endParaRPr lang="en-US" sz="1800" dirty="0"/>
          </a:p>
        </p:txBody>
      </p:sp>
      <p:sp>
        <p:nvSpPr>
          <p:cNvPr id="5" name="Shape 3"/>
          <p:cNvSpPr/>
          <p:nvPr/>
        </p:nvSpPr>
        <p:spPr>
          <a:xfrm>
            <a:off x="54864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6" name="Text 4"/>
          <p:cNvSpPr txBox="1"/>
          <p:nvPr/>
        </p:nvSpPr>
        <p:spPr>
          <a:xfrm>
            <a:off x="54864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7" name="Text 5"/>
          <p:cNvSpPr txBox="1"/>
          <p:nvPr/>
        </p:nvSpPr>
        <p:spPr>
          <a:xfrm>
            <a:off x="102412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DURING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alert reaches her</a:t>
            </a:r>
            <a:endParaRPr lang="en-US" sz="1000" dirty="0"/>
          </a:p>
        </p:txBody>
      </p:sp>
      <p:sp>
        <p:nvSpPr>
          <p:cNvPr id="8" name="Shape 6"/>
          <p:cNvSpPr/>
          <p:nvPr/>
        </p:nvSpPr>
        <p:spPr>
          <a:xfrm>
            <a:off x="3310128"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9" name="Text 7"/>
          <p:cNvSpPr txBox="1"/>
          <p:nvPr/>
        </p:nvSpPr>
        <p:spPr>
          <a:xfrm>
            <a:off x="3310128"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0" name="Text 8"/>
          <p:cNvSpPr txBox="1"/>
          <p:nvPr/>
        </p:nvSpPr>
        <p:spPr>
          <a:xfrm>
            <a:off x="3785616"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ONE GLANCE</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Status + exposure timer</a:t>
            </a:r>
            <a:endParaRPr lang="en-US" sz="1000" dirty="0"/>
          </a:p>
        </p:txBody>
      </p:sp>
      <p:sp>
        <p:nvSpPr>
          <p:cNvPr id="11" name="Shape 9"/>
          <p:cNvSpPr/>
          <p:nvPr/>
        </p:nvSpPr>
        <p:spPr>
          <a:xfrm>
            <a:off x="617220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12" name="Text 10"/>
          <p:cNvSpPr txBox="1"/>
          <p:nvPr/>
        </p:nvSpPr>
        <p:spPr>
          <a:xfrm>
            <a:off x="617220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13" name="Text 11"/>
          <p:cNvSpPr txBox="1"/>
          <p:nvPr/>
        </p:nvSpPr>
        <p:spPr>
          <a:xfrm>
            <a:off x="664768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AFTER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full record</a:t>
            </a:r>
            <a:endParaRPr lang="en-US" sz="1000" dirty="0"/>
          </a:p>
        </p:txBody>
      </p:sp>
      <p:pic>
        <p:nvPicPr>
          <p:cNvPr id="14" name="Image 0" descr="Phone lock screen with TempSafe urgent and warning notifications"/>
          <p:cNvPicPr>
            <a:picLocks noChangeAspect="1"/>
          </p:cNvPicPr>
          <p:nvPr/>
        </p:nvPicPr>
        <p:blipFill>
          <a:blip r:embed="rId3"/>
          <a:stretch>
            <a:fillRect/>
          </a:stretch>
        </p:blipFill>
        <p:spPr>
          <a:xfrm>
            <a:off x="548640" y="2148840"/>
            <a:ext cx="2487168" cy="4319818"/>
          </a:xfrm>
          <a:prstGeom prst="rect">
            <a:avLst/>
          </a:prstGeom>
        </p:spPr>
      </p:pic>
      <p:pic>
        <p:nvPicPr>
          <p:cNvPr id="15" name="Image 1" descr="TempSafe phone app showing EXCURSION status and 12 minute exposure timer"/>
          <p:cNvPicPr>
            <a:picLocks noChangeAspect="1"/>
          </p:cNvPicPr>
          <p:nvPr/>
        </p:nvPicPr>
        <p:blipFill>
          <a:blip r:embed="rId4"/>
          <a:stretch>
            <a:fillRect/>
          </a:stretch>
        </p:blipFill>
        <p:spPr>
          <a:xfrm>
            <a:off x="3310128" y="2148840"/>
            <a:ext cx="2487168" cy="4319818"/>
          </a:xfrm>
          <a:prstGeom prst="rect">
            <a:avLst/>
          </a:prstGeom>
        </p:spPr>
      </p:pic>
      <p:pic>
        <p:nvPicPr>
          <p:cNvPr id="16" name="Image 2" descr="Web dashboard with temperature over time chart and recorded excursion 14:05 to 14:23, 18 min, max 27.4°C"/>
          <p:cNvPicPr>
            <a:picLocks noChangeAspect="1"/>
          </p:cNvPicPr>
          <p:nvPr/>
        </p:nvPicPr>
        <p:blipFill>
          <a:blip r:embed="rId5"/>
          <a:stretch>
            <a:fillRect/>
          </a:stretch>
        </p:blipFill>
        <p:spPr>
          <a:xfrm>
            <a:off x="6172200" y="2148840"/>
            <a:ext cx="5440680" cy="3025684"/>
          </a:xfrm>
          <a:prstGeom prst="rect">
            <a:avLst/>
          </a:prstGeom>
        </p:spPr>
      </p:pic>
      <p:sp>
        <p:nvSpPr>
          <p:cNvPr id="17" name="Shape 12"/>
          <p:cNvSpPr/>
          <p:nvPr/>
        </p:nvSpPr>
        <p:spPr>
          <a:xfrm>
            <a:off x="6172200" y="5403124"/>
            <a:ext cx="5440680" cy="1065534"/>
          </a:xfrm>
          <a:prstGeom prst="roundRect">
            <a:avLst>
              <a:gd name="adj" fmla="val 8582"/>
            </a:avLst>
          </a:prstGeom>
          <a:solidFill>
            <a:srgbClr val="F7F5FC"/>
          </a:solidFill>
          <a:ln w="12700">
            <a:solidFill>
              <a:srgbClr val="E3DDF0"/>
            </a:solidFill>
            <a:prstDash val="solid"/>
          </a:ln>
        </p:spPr>
        <p:txBody>
          <a:bodyPr/>
          <a:lstStyle/>
          <a:p>
            <a:endParaRPr lang="en-IE"/>
          </a:p>
        </p:txBody>
      </p:sp>
      <p:sp>
        <p:nvSpPr>
          <p:cNvPr id="18" name="Shape 13"/>
          <p:cNvSpPr/>
          <p:nvPr/>
        </p:nvSpPr>
        <p:spPr>
          <a:xfrm>
            <a:off x="635508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19" name="Image 3" descr="preencoded.png"/>
          <p:cNvPicPr>
            <a:picLocks noChangeAspect="1"/>
          </p:cNvPicPr>
          <p:nvPr/>
        </p:nvPicPr>
        <p:blipFill>
          <a:blip r:embed="rId6"/>
          <a:stretch>
            <a:fillRect/>
          </a:stretch>
        </p:blipFill>
        <p:spPr>
          <a:xfrm>
            <a:off x="6473952" y="5826163"/>
            <a:ext cx="219456" cy="219456"/>
          </a:xfrm>
          <a:prstGeom prst="rect">
            <a:avLst/>
          </a:prstGeom>
        </p:spPr>
      </p:pic>
      <p:sp>
        <p:nvSpPr>
          <p:cNvPr id="20" name="Text 14"/>
          <p:cNvSpPr txBox="1"/>
          <p:nvPr/>
        </p:nvSpPr>
        <p:spPr>
          <a:xfrm>
            <a:off x="688543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Not colour alone</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icon + word + °C</a:t>
            </a:r>
            <a:endParaRPr lang="en-US" sz="1250" dirty="0"/>
          </a:p>
        </p:txBody>
      </p:sp>
      <p:sp>
        <p:nvSpPr>
          <p:cNvPr id="21" name="Shape 15"/>
          <p:cNvSpPr/>
          <p:nvPr/>
        </p:nvSpPr>
        <p:spPr>
          <a:xfrm>
            <a:off x="804672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2" name="Image 4" descr="preencoded.png"/>
          <p:cNvPicPr>
            <a:picLocks noChangeAspect="1"/>
          </p:cNvPicPr>
          <p:nvPr/>
        </p:nvPicPr>
        <p:blipFill>
          <a:blip r:embed="rId7"/>
          <a:stretch>
            <a:fillRect/>
          </a:stretch>
        </p:blipFill>
        <p:spPr>
          <a:xfrm>
            <a:off x="8165592" y="5826163"/>
            <a:ext cx="219456" cy="219456"/>
          </a:xfrm>
          <a:prstGeom prst="rect">
            <a:avLst/>
          </a:prstGeom>
        </p:spPr>
      </p:pic>
      <p:sp>
        <p:nvSpPr>
          <p:cNvPr id="23" name="Text 16"/>
          <p:cNvSpPr txBox="1"/>
          <p:nvPr/>
        </p:nvSpPr>
        <p:spPr>
          <a:xfrm>
            <a:off x="857707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Only 2 alerts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warning → urgent</a:t>
            </a:r>
            <a:endParaRPr lang="en-US" sz="1250" dirty="0"/>
          </a:p>
        </p:txBody>
      </p:sp>
      <p:sp>
        <p:nvSpPr>
          <p:cNvPr id="24" name="Shape 17"/>
          <p:cNvSpPr/>
          <p:nvPr/>
        </p:nvSpPr>
        <p:spPr>
          <a:xfrm>
            <a:off x="973836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5" name="Image 5" descr="preencoded.png"/>
          <p:cNvPicPr>
            <a:picLocks noChangeAspect="1"/>
          </p:cNvPicPr>
          <p:nvPr/>
        </p:nvPicPr>
        <p:blipFill>
          <a:blip r:embed="rId8"/>
          <a:stretch>
            <a:fillRect/>
          </a:stretch>
        </p:blipFill>
        <p:spPr>
          <a:xfrm>
            <a:off x="9857232" y="5826163"/>
            <a:ext cx="219456" cy="219456"/>
          </a:xfrm>
          <a:prstGeom prst="rect">
            <a:avLst/>
          </a:prstGeom>
        </p:spPr>
      </p:pic>
      <p:sp>
        <p:nvSpPr>
          <p:cNvPr id="26" name="Text 18"/>
          <p:cNvSpPr txBox="1"/>
          <p:nvPr/>
        </p:nvSpPr>
        <p:spPr>
          <a:xfrm>
            <a:off x="1026871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Nothing lost</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start · end · max</a:t>
            </a:r>
            <a:endParaRPr lang="en-US" sz="1250" dirty="0"/>
          </a:p>
        </p:txBody>
      </p:sp>
      <p:sp>
        <p:nvSpPr>
          <p:cNvPr id="27" name="Text 19"/>
          <p:cNvSpPr txBox="1"/>
          <p:nvPr/>
        </p:nvSpPr>
        <p:spPr>
          <a:xfrm>
            <a:off x="8686800" y="384048"/>
            <a:ext cx="3200400" cy="274320"/>
          </a:xfrm>
          <a:prstGeom prst="rect">
            <a:avLst/>
          </a:prstGeom>
          <a:noFill/>
          <a:ln/>
        </p:spPr>
        <p:txBody>
          <a:bodyPr wrap="square" lIns="0" tIns="0" rIns="0" bIns="0" rtlCol="0" anchor="ctr"/>
          <a:lstStyle/>
          <a:p>
            <a:pPr marL="0" indent="0" algn="r">
              <a:buNone/>
            </a:pPr>
            <a:r>
              <a:rPr lang="en-US" sz="900" dirty="0">
                <a:solidFill>
                  <a:srgbClr val="8C8FA0"/>
                </a:solidFill>
                <a:latin typeface="Aptos" pitchFamily="34" charset="0"/>
                <a:ea typeface="Aptos" pitchFamily="34" charset="-122"/>
                <a:cs typeface="Aptos" pitchFamily="34" charset="-120"/>
              </a:rPr>
              <a:t>Mock-up · sample data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w="8890">
          <a:solidFill>
            <a:srgbClr val="FFFFFF"/>
          </a:solidFill>
          <a:prstDash val="solid"/>
        </a:ln>
        <a:effectLst>
          <a:outerShdw blurRad="25400" dist="50800" dir="2700000" algn="bl" rotWithShape="0">
            <a:srgbClr val="B7AACD">
              <a:alpha val="28000"/>
            </a:srgbClr>
          </a:outerShdw>
        </a:effectLst>
      </a:spPr>
      <a:bodyPr/>
      <a:lstStyle>
        <a:defPPr algn="l">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TotalTime>
  <Words>827</Words>
  <Application>Microsoft Macintosh PowerPoint</Application>
  <PresentationFormat>Widescreen</PresentationFormat>
  <Paragraphs>109</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TempSafe – Problem &amp; Idea</dc:title>
  <dc:subject>TempSafe editable slide</dc:subject>
  <dc:creator>OpenAI</dc:creator>
  <cp:lastModifiedBy>Nikita Smiichyk</cp:lastModifiedBy>
  <cp:revision>3</cp:revision>
  <dcterms:created xsi:type="dcterms:W3CDTF">2026-10-05T21:06:14Z</dcterms:created>
  <dcterms:modified xsi:type="dcterms:W3CDTF">2026-10-09T00:24:36Z</dcterms:modified>
</cp:coreProperties>
</file>