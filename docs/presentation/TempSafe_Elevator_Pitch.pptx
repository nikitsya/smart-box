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7"/>
  </p:notesMasterIdLst>
  <p:sldIdLst>
    <p:sldId id="260" r:id="rId3"/>
    <p:sldId id="256" r:id="rId4"/>
    <p:sldId id="257"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C4A416-4C3A-495D-9625-8A44EDC70D33}" v="25" dt="2026-10-06T07:56:24.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9" d="100"/>
          <a:sy n="69" d="100"/>
        </p:scale>
        <p:origin x="67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 Bokariuk" userId="fd5399e8-0949-4b9d-b255-fc007b27d60c" providerId="ADAL" clId="{8C1C02D4-1D0A-483D-B224-A1E06DCB062F}"/>
    <pc:docChg chg="undo custSel modSld">
      <pc:chgData name="Hanna Bokariuk" userId="fd5399e8-0949-4b9d-b255-fc007b27d60c" providerId="ADAL" clId="{8C1C02D4-1D0A-483D-B224-A1E06DCB062F}" dt="2026-10-06T07:56:36.618" v="46" actId="1076"/>
      <pc:docMkLst>
        <pc:docMk/>
      </pc:docMkLst>
      <pc:sldChg chg="addSp delSp modSp mod modAnim">
        <pc:chgData name="Hanna Bokariuk" userId="fd5399e8-0949-4b9d-b255-fc007b27d60c" providerId="ADAL" clId="{8C1C02D4-1D0A-483D-B224-A1E06DCB062F}" dt="2026-10-06T07:56:36.618" v="46" actId="1076"/>
        <pc:sldMkLst>
          <pc:docMk/>
          <pc:sldMk cId="0" sldId="256"/>
        </pc:sldMkLst>
        <pc:spChg chg="add del mod ord">
          <ac:chgData name="Hanna Bokariuk" userId="fd5399e8-0949-4b9d-b255-fc007b27d60c" providerId="ADAL" clId="{8C1C02D4-1D0A-483D-B224-A1E06DCB062F}" dt="2026-10-06T07:56:36.618" v="46" actId="1076"/>
          <ac:spMkLst>
            <pc:docMk/>
            <pc:sldMk cId="0" sldId="256"/>
            <ac:spMk id="2" creationId="{00000000-0000-0000-0000-000000000000}"/>
          </ac:spMkLst>
        </pc:spChg>
        <pc:spChg chg="mod">
          <ac:chgData name="Hanna Bokariuk" userId="fd5399e8-0949-4b9d-b255-fc007b27d60c" providerId="ADAL" clId="{8C1C02D4-1D0A-483D-B224-A1E06DCB062F}" dt="2026-10-05T22:30:04.809" v="2" actId="1076"/>
          <ac:spMkLst>
            <pc:docMk/>
            <pc:sldMk cId="0" sldId="256"/>
            <ac:spMk id="6" creationId="{00000000-0000-0000-0000-000000000000}"/>
          </ac:spMkLst>
        </pc:spChg>
        <pc:spChg chg="mod">
          <ac:chgData name="Hanna Bokariuk" userId="fd5399e8-0949-4b9d-b255-fc007b27d60c" providerId="ADAL" clId="{8C1C02D4-1D0A-483D-B224-A1E06DCB062F}" dt="2026-10-06T07:53:17.626" v="32" actId="164"/>
          <ac:spMkLst>
            <pc:docMk/>
            <pc:sldMk cId="0" sldId="256"/>
            <ac:spMk id="8" creationId="{00000000-0000-0000-0000-000000000000}"/>
          </ac:spMkLst>
        </pc:spChg>
        <pc:spChg chg="mod">
          <ac:chgData name="Hanna Bokariuk" userId="fd5399e8-0949-4b9d-b255-fc007b27d60c" providerId="ADAL" clId="{8C1C02D4-1D0A-483D-B224-A1E06DCB062F}" dt="2026-10-06T07:53:17.626" v="32" actId="164"/>
          <ac:spMkLst>
            <pc:docMk/>
            <pc:sldMk cId="0" sldId="256"/>
            <ac:spMk id="9" creationId="{00000000-0000-0000-0000-000000000000}"/>
          </ac:spMkLst>
        </pc:spChg>
        <pc:spChg chg="mod">
          <ac:chgData name="Hanna Bokariuk" userId="fd5399e8-0949-4b9d-b255-fc007b27d60c" providerId="ADAL" clId="{8C1C02D4-1D0A-483D-B224-A1E06DCB062F}" dt="2026-10-06T07:53:17.626" v="32" actId="164"/>
          <ac:spMkLst>
            <pc:docMk/>
            <pc:sldMk cId="0" sldId="256"/>
            <ac:spMk id="10" creationId="{00000000-0000-0000-0000-000000000000}"/>
          </ac:spMkLst>
        </pc:spChg>
        <pc:spChg chg="mod">
          <ac:chgData name="Hanna Bokariuk" userId="fd5399e8-0949-4b9d-b255-fc007b27d60c" providerId="ADAL" clId="{8C1C02D4-1D0A-483D-B224-A1E06DCB062F}" dt="2026-10-06T07:53:17.626" v="32" actId="164"/>
          <ac:spMkLst>
            <pc:docMk/>
            <pc:sldMk cId="0" sldId="256"/>
            <ac:spMk id="11" creationId="{00000000-0000-0000-0000-000000000000}"/>
          </ac:spMkLst>
        </pc:spChg>
        <pc:spChg chg="mod">
          <ac:chgData name="Hanna Bokariuk" userId="fd5399e8-0949-4b9d-b255-fc007b27d60c" providerId="ADAL" clId="{8C1C02D4-1D0A-483D-B224-A1E06DCB062F}" dt="2026-10-06T07:53:17.626" v="32" actId="164"/>
          <ac:spMkLst>
            <pc:docMk/>
            <pc:sldMk cId="0" sldId="256"/>
            <ac:spMk id="12" creationId="{00000000-0000-0000-0000-000000000000}"/>
          </ac:spMkLst>
        </pc:spChg>
        <pc:spChg chg="mod">
          <ac:chgData name="Hanna Bokariuk" userId="fd5399e8-0949-4b9d-b255-fc007b27d60c" providerId="ADAL" clId="{8C1C02D4-1D0A-483D-B224-A1E06DCB062F}" dt="2026-10-06T07:52:11.583" v="25" actId="164"/>
          <ac:spMkLst>
            <pc:docMk/>
            <pc:sldMk cId="0" sldId="256"/>
            <ac:spMk id="13" creationId="{00000000-0000-0000-0000-000000000000}"/>
          </ac:spMkLst>
        </pc:spChg>
        <pc:spChg chg="mod">
          <ac:chgData name="Hanna Bokariuk" userId="fd5399e8-0949-4b9d-b255-fc007b27d60c" providerId="ADAL" clId="{8C1C02D4-1D0A-483D-B224-A1E06DCB062F}" dt="2026-10-06T07:52:11.583" v="25" actId="164"/>
          <ac:spMkLst>
            <pc:docMk/>
            <pc:sldMk cId="0" sldId="256"/>
            <ac:spMk id="14" creationId="{00000000-0000-0000-0000-000000000000}"/>
          </ac:spMkLst>
        </pc:spChg>
        <pc:spChg chg="mod">
          <ac:chgData name="Hanna Bokariuk" userId="fd5399e8-0949-4b9d-b255-fc007b27d60c" providerId="ADAL" clId="{8C1C02D4-1D0A-483D-B224-A1E06DCB062F}" dt="2026-10-06T07:52:11.583" v="25" actId="164"/>
          <ac:spMkLst>
            <pc:docMk/>
            <pc:sldMk cId="0" sldId="256"/>
            <ac:spMk id="15" creationId="{00000000-0000-0000-0000-000000000000}"/>
          </ac:spMkLst>
        </pc:spChg>
        <pc:spChg chg="mod">
          <ac:chgData name="Hanna Bokariuk" userId="fd5399e8-0949-4b9d-b255-fc007b27d60c" providerId="ADAL" clId="{8C1C02D4-1D0A-483D-B224-A1E06DCB062F}" dt="2026-10-06T07:52:11.583" v="25" actId="164"/>
          <ac:spMkLst>
            <pc:docMk/>
            <pc:sldMk cId="0" sldId="256"/>
            <ac:spMk id="16" creationId="{00000000-0000-0000-0000-000000000000}"/>
          </ac:spMkLst>
        </pc:spChg>
        <pc:spChg chg="mod">
          <ac:chgData name="Hanna Bokariuk" userId="fd5399e8-0949-4b9d-b255-fc007b27d60c" providerId="ADAL" clId="{8C1C02D4-1D0A-483D-B224-A1E06DCB062F}" dt="2026-10-06T07:52:11.583" v="25" actId="164"/>
          <ac:spMkLst>
            <pc:docMk/>
            <pc:sldMk cId="0" sldId="256"/>
            <ac:spMk id="17" creationId="{00000000-0000-0000-0000-000000000000}"/>
          </ac:spMkLst>
        </pc:spChg>
        <pc:spChg chg="mod">
          <ac:chgData name="Hanna Bokariuk" userId="fd5399e8-0949-4b9d-b255-fc007b27d60c" providerId="ADAL" clId="{8C1C02D4-1D0A-483D-B224-A1E06DCB062F}" dt="2026-10-06T07:51:55.819" v="24" actId="164"/>
          <ac:spMkLst>
            <pc:docMk/>
            <pc:sldMk cId="0" sldId="256"/>
            <ac:spMk id="18" creationId="{00000000-0000-0000-0000-000000000000}"/>
          </ac:spMkLst>
        </pc:spChg>
        <pc:spChg chg="mod">
          <ac:chgData name="Hanna Bokariuk" userId="fd5399e8-0949-4b9d-b255-fc007b27d60c" providerId="ADAL" clId="{8C1C02D4-1D0A-483D-B224-A1E06DCB062F}" dt="2026-10-06T07:51:55.819" v="24" actId="164"/>
          <ac:spMkLst>
            <pc:docMk/>
            <pc:sldMk cId="0" sldId="256"/>
            <ac:spMk id="19" creationId="{00000000-0000-0000-0000-000000000000}"/>
          </ac:spMkLst>
        </pc:spChg>
        <pc:spChg chg="mod">
          <ac:chgData name="Hanna Bokariuk" userId="fd5399e8-0949-4b9d-b255-fc007b27d60c" providerId="ADAL" clId="{8C1C02D4-1D0A-483D-B224-A1E06DCB062F}" dt="2026-10-06T07:51:55.819" v="24" actId="164"/>
          <ac:spMkLst>
            <pc:docMk/>
            <pc:sldMk cId="0" sldId="256"/>
            <ac:spMk id="20" creationId="{00000000-0000-0000-0000-000000000000}"/>
          </ac:spMkLst>
        </pc:spChg>
        <pc:spChg chg="mod">
          <ac:chgData name="Hanna Bokariuk" userId="fd5399e8-0949-4b9d-b255-fc007b27d60c" providerId="ADAL" clId="{8C1C02D4-1D0A-483D-B224-A1E06DCB062F}" dt="2026-10-06T07:51:55.819" v="24" actId="164"/>
          <ac:spMkLst>
            <pc:docMk/>
            <pc:sldMk cId="0" sldId="256"/>
            <ac:spMk id="21" creationId="{00000000-0000-0000-0000-000000000000}"/>
          </ac:spMkLst>
        </pc:spChg>
        <pc:spChg chg="mod">
          <ac:chgData name="Hanna Bokariuk" userId="fd5399e8-0949-4b9d-b255-fc007b27d60c" providerId="ADAL" clId="{8C1C02D4-1D0A-483D-B224-A1E06DCB062F}" dt="2026-10-06T07:51:55.819" v="24" actId="164"/>
          <ac:spMkLst>
            <pc:docMk/>
            <pc:sldMk cId="0" sldId="256"/>
            <ac:spMk id="22" creationId="{00000000-0000-0000-0000-000000000000}"/>
          </ac:spMkLst>
        </pc:spChg>
        <pc:spChg chg="mod">
          <ac:chgData name="Hanna Bokariuk" userId="fd5399e8-0949-4b9d-b255-fc007b27d60c" providerId="ADAL" clId="{8C1C02D4-1D0A-483D-B224-A1E06DCB062F}" dt="2026-10-06T07:56:18.513" v="44" actId="164"/>
          <ac:spMkLst>
            <pc:docMk/>
            <pc:sldMk cId="0" sldId="256"/>
            <ac:spMk id="23" creationId="{00000000-0000-0000-0000-000000000000}"/>
          </ac:spMkLst>
        </pc:spChg>
        <pc:spChg chg="mod">
          <ac:chgData name="Hanna Bokariuk" userId="fd5399e8-0949-4b9d-b255-fc007b27d60c" providerId="ADAL" clId="{8C1C02D4-1D0A-483D-B224-A1E06DCB062F}" dt="2026-10-06T07:56:18.513" v="44" actId="164"/>
          <ac:spMkLst>
            <pc:docMk/>
            <pc:sldMk cId="0" sldId="256"/>
            <ac:spMk id="24" creationId="{00000000-0000-0000-0000-000000000000}"/>
          </ac:spMkLst>
        </pc:spChg>
        <pc:spChg chg="mod">
          <ac:chgData name="Hanna Bokariuk" userId="fd5399e8-0949-4b9d-b255-fc007b27d60c" providerId="ADAL" clId="{8C1C02D4-1D0A-483D-B224-A1E06DCB062F}" dt="2026-10-06T07:56:18.513" v="44" actId="164"/>
          <ac:spMkLst>
            <pc:docMk/>
            <pc:sldMk cId="0" sldId="256"/>
            <ac:spMk id="25" creationId="{00000000-0000-0000-0000-000000000000}"/>
          </ac:spMkLst>
        </pc:spChg>
        <pc:spChg chg="mod">
          <ac:chgData name="Hanna Bokariuk" userId="fd5399e8-0949-4b9d-b255-fc007b27d60c" providerId="ADAL" clId="{8C1C02D4-1D0A-483D-B224-A1E06DCB062F}" dt="2026-10-06T07:56:18.513" v="44" actId="164"/>
          <ac:spMkLst>
            <pc:docMk/>
            <pc:sldMk cId="0" sldId="256"/>
            <ac:spMk id="26" creationId="{00000000-0000-0000-0000-000000000000}"/>
          </ac:spMkLst>
        </pc:spChg>
        <pc:spChg chg="mod">
          <ac:chgData name="Hanna Bokariuk" userId="fd5399e8-0949-4b9d-b255-fc007b27d60c" providerId="ADAL" clId="{8C1C02D4-1D0A-483D-B224-A1E06DCB062F}" dt="2026-10-06T07:56:18.513" v="44" actId="164"/>
          <ac:spMkLst>
            <pc:docMk/>
            <pc:sldMk cId="0" sldId="256"/>
            <ac:spMk id="27" creationId="{00000000-0000-0000-0000-000000000000}"/>
          </ac:spMkLst>
        </pc:spChg>
        <pc:spChg chg="mod">
          <ac:chgData name="Hanna Bokariuk" userId="fd5399e8-0949-4b9d-b255-fc007b27d60c" providerId="ADAL" clId="{8C1C02D4-1D0A-483D-B224-A1E06DCB062F}" dt="2026-10-05T22:29:57.236" v="1" actId="1076"/>
          <ac:spMkLst>
            <pc:docMk/>
            <pc:sldMk cId="0" sldId="256"/>
            <ac:spMk id="29" creationId="{A6127068-4B25-9293-33A4-97EF49858F13}"/>
          </ac:spMkLst>
        </pc:spChg>
        <pc:grpChg chg="add mod">
          <ac:chgData name="Hanna Bokariuk" userId="fd5399e8-0949-4b9d-b255-fc007b27d60c" providerId="ADAL" clId="{8C1C02D4-1D0A-483D-B224-A1E06DCB062F}" dt="2026-10-06T07:51:25.562" v="22" actId="164"/>
          <ac:grpSpMkLst>
            <pc:docMk/>
            <pc:sldMk cId="0" sldId="256"/>
            <ac:grpSpMk id="28" creationId="{6509B96E-BDA4-7EE7-5854-69521607260E}"/>
          </ac:grpSpMkLst>
        </pc:grpChg>
        <pc:grpChg chg="add mod">
          <ac:chgData name="Hanna Bokariuk" userId="fd5399e8-0949-4b9d-b255-fc007b27d60c" providerId="ADAL" clId="{8C1C02D4-1D0A-483D-B224-A1E06DCB062F}" dt="2026-10-06T07:51:55.819" v="24" actId="164"/>
          <ac:grpSpMkLst>
            <pc:docMk/>
            <pc:sldMk cId="0" sldId="256"/>
            <ac:grpSpMk id="30" creationId="{FFB08D8C-4489-86E2-0084-10A640D248DC}"/>
          </ac:grpSpMkLst>
        </pc:grpChg>
        <pc:grpChg chg="add mod">
          <ac:chgData name="Hanna Bokariuk" userId="fd5399e8-0949-4b9d-b255-fc007b27d60c" providerId="ADAL" clId="{8C1C02D4-1D0A-483D-B224-A1E06DCB062F}" dt="2026-10-06T07:52:11.583" v="25" actId="164"/>
          <ac:grpSpMkLst>
            <pc:docMk/>
            <pc:sldMk cId="0" sldId="256"/>
            <ac:grpSpMk id="31" creationId="{18270035-8730-62D3-59B1-01B98DDCD359}"/>
          </ac:grpSpMkLst>
        </pc:grpChg>
        <pc:grpChg chg="add mod">
          <ac:chgData name="Hanna Bokariuk" userId="fd5399e8-0949-4b9d-b255-fc007b27d60c" providerId="ADAL" clId="{8C1C02D4-1D0A-483D-B224-A1E06DCB062F}" dt="2026-10-06T07:53:17.626" v="32" actId="164"/>
          <ac:grpSpMkLst>
            <pc:docMk/>
            <pc:sldMk cId="0" sldId="256"/>
            <ac:grpSpMk id="32" creationId="{416ACE97-F67E-92FE-EC9E-8E5029918450}"/>
          </ac:grpSpMkLst>
        </pc:grpChg>
        <pc:grpChg chg="add mod">
          <ac:chgData name="Hanna Bokariuk" userId="fd5399e8-0949-4b9d-b255-fc007b27d60c" providerId="ADAL" clId="{8C1C02D4-1D0A-483D-B224-A1E06DCB062F}" dt="2026-10-06T07:56:18.513" v="44" actId="164"/>
          <ac:grpSpMkLst>
            <pc:docMk/>
            <pc:sldMk cId="0" sldId="256"/>
            <ac:grpSpMk id="33" creationId="{5A66D382-E3E3-9C5D-23E5-4A63E50CD3DE}"/>
          </ac:grpSpMkLst>
        </pc:grpChg>
      </pc:sldChg>
      <pc:sldChg chg="delSp modSp mod">
        <pc:chgData name="Hanna Bokariuk" userId="fd5399e8-0949-4b9d-b255-fc007b27d60c" providerId="ADAL" clId="{8C1C02D4-1D0A-483D-B224-A1E06DCB062F}" dt="2026-10-06T07:49:44.289" v="19" actId="478"/>
        <pc:sldMkLst>
          <pc:docMk/>
          <pc:sldMk cId="1346267894" sldId="257"/>
        </pc:sldMkLst>
        <pc:spChg chg="del mod">
          <ac:chgData name="Hanna Bokariuk" userId="fd5399e8-0949-4b9d-b255-fc007b27d60c" providerId="ADAL" clId="{8C1C02D4-1D0A-483D-B224-A1E06DCB062F}" dt="2026-10-06T07:49:44.289" v="19" actId="478"/>
          <ac:spMkLst>
            <pc:docMk/>
            <pc:sldMk cId="1346267894"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78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Planned student prototype, demonstrated on a bench with no medicines. One physical box, with multiple users assigned to the same box ID. The existing SCD-41 provides the temperature measurement for this release. Its humidity and CO2 capabilities are outside the application scope. The photographed white dome module is not the temperature sensor used for this project. The physical LED is single-colour and lights for Warning or Alert, with distinct blinking for sensor failure. Application colours are separate. Phone notifications are Must Have and require connectivity, permission and a delivery channel to be selected and tested. Buzzer is Should Have. During an outage the Pi stores sample attempts locally and uploads them with original times after reconnection. Shannon follows her service procedures; the prototype makes no clinical decisions. Hardware: Raspberry Pi 400 powered from mains and connected over Wi-Fi. A separate computer accesses it using https://connect.raspberrypi.com/devices for remote desktop or shell access. This development access is separate from the TempSafe application and device data flow. The simple plastic or wooden box is still to be selected; the image illustrates a plastic option. Source: https://www.raspberrypi.com/documentation/services/connect.html and https://www.adafruit.com/product/5190. Image: generated using OpenAI image generation on 8 October 2026 as a concept illustration, not a photo of completed hardware. Device observations are published to a cloud MQTT broker over TLS. The ingestion worker stores them in MySQL and acknowledges committed sample IDs; the browser accesses FastAPI over HTTPS. This pub-sub design follows the IoT G-CA1 brief. Sources: project functional requirements, hardware parts list and initial test plan in this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This is the proposed interface journey using synthetic demonstration data. The application is not yet implemented.
One: she is with a patient. At 14:04 she gets a quiet warning at 24 degrees. At 14:05 the box goes above 25: the single-colour LED remains lit and the optional buzzer sounds if implemented, and she gets one urgent alert. Repeated unchanged states are suppressed; delivery requires connectivity, permission and supported Web Push.
Two: when she has a free second, one glance at the app tells her everything: Alert, freshness and the latest temperature; an optional estimated excursion summary can show 12 minutes and a maximum of 27.4 degrees. The status is never just colour: there is always an icon, a word and the temperature.
Three: after the call she opens the web dashboard. She sees the temperature over time and the recorded observations, including gaps and errors. If implemented, the estimated summary can show a period from 14:05 to 14:23 and a maximum of 27.4 degrees; it does not prove continuous exposure. With this she can follow her service's policy and seek the appropriate review of the medicine. TempSafe gives her the facts; Shannon makes the decision.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731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75892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425243"/>
      </p:ext>
    </p:extLst>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3FF"/>
        </a:solidFill>
        <a:effectLst/>
      </p:bgPr>
    </p:bg>
    <p:spTree>
      <p:nvGrpSpPr>
        <p:cNvPr id="1" name=""/>
        <p:cNvGrpSpPr/>
        <p:nvPr/>
      </p:nvGrpSpPr>
      <p:grpSpPr>
        <a:xfrm>
          <a:off x="0" y="0"/>
          <a:ext cx="0" cy="0"/>
          <a:chOff x="0" y="0"/>
          <a:chExt cx="0" cy="0"/>
        </a:xfrm>
      </p:grpSpPr>
      <p:sp>
        <p:nvSpPr>
          <p:cNvPr id="2" name="Shape 0"/>
          <p:cNvSpPr/>
          <p:nvPr/>
        </p:nvSpPr>
        <p:spPr>
          <a:xfrm>
            <a:off x="345949" y="283464"/>
            <a:ext cx="11500104" cy="6217920"/>
          </a:xfrm>
          <a:prstGeom prst="roundRect">
            <a:avLst>
              <a:gd name="adj" fmla="val 2222"/>
            </a:avLst>
          </a:prstGeom>
          <a:solidFill>
            <a:srgbClr val="FFFFFF"/>
          </a:solidFill>
          <a:ln w="889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164592" y="137160"/>
            <a:ext cx="11862511" cy="73152"/>
          </a:xfrm>
          <a:prstGeom prst="rect">
            <a:avLst/>
          </a:prstGeom>
          <a:solidFill>
            <a:srgbClr val="E9E5F7"/>
          </a:solidFill>
          <a:ln w="12700">
            <a:solidFill>
              <a:srgbClr val="E9E5F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Shape 2"/>
          <p:cNvSpPr/>
          <p:nvPr/>
        </p:nvSpPr>
        <p:spPr>
          <a:xfrm>
            <a:off x="7461227" y="438912"/>
            <a:ext cx="4170218" cy="548640"/>
          </a:xfrm>
          <a:prstGeom prst="roundRect">
            <a:avLst>
              <a:gd name="adj" fmla="val 22222"/>
            </a:avLst>
          </a:prstGeom>
          <a:solidFill>
            <a:srgbClr val="F8F6FE"/>
          </a:solid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9262872" y="475698"/>
            <a:ext cx="566928" cy="182880"/>
          </a:xfrm>
          <a:prstGeom prst="rect">
            <a:avLst/>
          </a:prstGeom>
          <a:noFill/>
          <a:ln/>
        </p:spPr>
        <p:txBody>
          <a:bodyPr wrap="square" lIns="254" tIns="254" rIns="254" bIns="254" rtlCol="0" anchor="ct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DkIT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7824182" y="462096"/>
            <a:ext cx="3617382" cy="507562"/>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Dundalk Institute of Technology</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2738628" y="1202921"/>
            <a:ext cx="5806440" cy="256032"/>
          </a:xfrm>
          <a:prstGeom prst="rect">
            <a:avLst/>
          </a:prstGeom>
          <a:noFill/>
          <a:ln/>
        </p:spPr>
        <p:txBody>
          <a:bodyPr wrap="square" lIns="254" tIns="254" rIns="254" bIns="254"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447A6"/>
                </a:solidFill>
                <a:effectLst/>
                <a:uLnTx/>
                <a:uFillTx/>
                <a:latin typeface="Aptos" pitchFamily="34" charset="0"/>
                <a:ea typeface="Aptos" pitchFamily="34" charset="-122"/>
                <a:cs typeface="Aptos" pitchFamily="34" charset="-120"/>
              </a:rPr>
              <a:t>Smart Temperature Monitoring for a Controlled Drug Box</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4100251" y="436949"/>
            <a:ext cx="2761489" cy="546034"/>
          </a:xfrm>
          <a:prstGeom prst="roundRect">
            <a:avLst>
              <a:gd name="adj" fmla="val 42857"/>
            </a:avLst>
          </a:prstGeom>
          <a:solidFill>
            <a:srgbClr val="ECE9FB"/>
          </a:solid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4480560" y="566077"/>
            <a:ext cx="2041468" cy="34375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Team: </a:t>
            </a:r>
            <a:r>
              <a:rPr kumimoji="0" lang="en-US" sz="2000" b="0"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Smart box</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713231" y="1770215"/>
            <a:ext cx="3497255" cy="2473452"/>
          </a:xfrm>
          <a:prstGeom prst="roundRect">
            <a:avLst>
              <a:gd name="adj" fmla="val 5581"/>
            </a:avLst>
          </a:prstGeom>
          <a:solidFill>
            <a:srgbClr val="F8F6FE"/>
          </a:solidFill>
          <a:ln w="10160">
            <a:solidFill>
              <a:srgbClr val="DAD3EF"/>
            </a:solidFill>
            <a:prstDash val="solid"/>
          </a:ln>
          <a:effectLst>
            <a:outerShdw blurRad="15240" dist="50800" dir="2700000" algn="bl" rotWithShape="0">
              <a:srgbClr val="C6BDE2">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812815" y="1787118"/>
            <a:ext cx="1381745" cy="2043796"/>
          </a:xfrm>
          <a:prstGeom prst="ellipse">
            <a:avLst/>
          </a:prstGeom>
          <a:solidFill>
            <a:srgbClr val="FFFFFF"/>
          </a:solidFill>
          <a:ln w="1778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2194559" y="2283659"/>
            <a:ext cx="1920239" cy="888953"/>
          </a:xfrm>
          <a:prstGeom prst="rect">
            <a:avLst/>
          </a:prstGeom>
          <a:no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Nikita Smiichyk</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3"/>
          <p:cNvSpPr/>
          <p:nvPr/>
        </p:nvSpPr>
        <p:spPr>
          <a:xfrm>
            <a:off x="2180012" y="3320866"/>
            <a:ext cx="1920239" cy="365760"/>
          </a:xfrm>
          <a:prstGeom prst="rect">
            <a:avLst/>
          </a:prstGeom>
          <a:noFill/>
          <a:ln/>
        </p:spPr>
        <p:txBody>
          <a:bodyPr wrap="square" lIns="254" tIns="254" rIns="254" bIns="254"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Backend/Database, Testing</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941832" y="3878650"/>
            <a:ext cx="3158420" cy="25416"/>
          </a:xfrm>
          <a:prstGeom prst="line">
            <a:avLst/>
          </a:prstGeom>
          <a:noFill/>
          <a:ln w="762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1079497" y="3959352"/>
            <a:ext cx="3130989" cy="212563"/>
          </a:xfrm>
          <a:prstGeom prst="rect">
            <a:avLst/>
          </a:prstGeom>
          <a:noFill/>
          <a:ln/>
        </p:spPr>
        <p:txBody>
          <a:bodyPr wrap="square" lIns="254" tIns="254" rIns="254" bIns="254"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Team member 1</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Shape 16"/>
          <p:cNvSpPr/>
          <p:nvPr/>
        </p:nvSpPr>
        <p:spPr>
          <a:xfrm>
            <a:off x="4342801" y="1778310"/>
            <a:ext cx="3320103" cy="2473452"/>
          </a:xfrm>
          <a:prstGeom prst="roundRect">
            <a:avLst>
              <a:gd name="adj" fmla="val 5581"/>
            </a:avLst>
          </a:prstGeom>
          <a:solidFill>
            <a:srgbClr val="F8F6FE"/>
          </a:solidFill>
          <a:ln w="10160">
            <a:solidFill>
              <a:srgbClr val="DAD3EF"/>
            </a:solidFill>
            <a:prstDash val="solid"/>
          </a:ln>
          <a:effectLst>
            <a:outerShdw blurRad="15240" dist="50800" dir="2700000" algn="bl" rotWithShape="0">
              <a:srgbClr val="C6BDE2">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Shape 17"/>
          <p:cNvSpPr/>
          <p:nvPr/>
        </p:nvSpPr>
        <p:spPr>
          <a:xfrm>
            <a:off x="4434743" y="1809011"/>
            <a:ext cx="1472868" cy="2007104"/>
          </a:xfrm>
          <a:prstGeom prst="ellipse">
            <a:avLst/>
          </a:prstGeom>
          <a:solidFill>
            <a:srgbClr val="FFFFFF"/>
          </a:solidFill>
          <a:ln w="1778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5850903" y="2368296"/>
            <a:ext cx="1812001" cy="621791"/>
          </a:xfrm>
          <a:prstGeom prst="rect">
            <a:avLst/>
          </a:prstGeom>
          <a:noFill/>
          <a:ln/>
        </p:spPr>
        <p:txBody>
          <a:bodyPr wrap="square" lIns="254" tIns="254" rIns="254" bIns="254"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Hanna Bokariuk</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5985597" y="3293503"/>
            <a:ext cx="1781381" cy="365759"/>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Hardware</a:t>
            </a:r>
            <a:r>
              <a:rPr kumimoji="0" lang="ru-RU" sz="140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  </a:t>
            </a:r>
            <a:r>
              <a:rPr kumimoji="0" lang="en-US" sz="140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UI/UX/UD</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flipV="1">
            <a:off x="4480559" y="3878650"/>
            <a:ext cx="2980667" cy="4798"/>
          </a:xfrm>
          <a:prstGeom prst="line">
            <a:avLst/>
          </a:prstGeom>
          <a:noFill/>
          <a:ln w="762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Text 22"/>
          <p:cNvSpPr/>
          <p:nvPr/>
        </p:nvSpPr>
        <p:spPr>
          <a:xfrm>
            <a:off x="4768596" y="3959352"/>
            <a:ext cx="2651760" cy="146304"/>
          </a:xfrm>
          <a:prstGeom prst="rect">
            <a:avLst/>
          </a:prstGeom>
          <a:noFill/>
          <a:ln/>
        </p:spPr>
        <p:txBody>
          <a:bodyPr wrap="square" lIns="254" tIns="254" rIns="254" bIns="254"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Team member 2</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7844964" y="1772436"/>
            <a:ext cx="3651538" cy="2473452"/>
          </a:xfrm>
          <a:prstGeom prst="roundRect">
            <a:avLst>
              <a:gd name="adj" fmla="val 5581"/>
            </a:avLst>
          </a:prstGeom>
          <a:solidFill>
            <a:srgbClr val="F8F6FE"/>
          </a:solidFill>
          <a:ln w="10160">
            <a:solidFill>
              <a:srgbClr val="DAD3EF"/>
            </a:solidFill>
            <a:prstDash val="solid"/>
          </a:ln>
          <a:effectLst>
            <a:outerShdw blurRad="15240" dist="50800" dir="2700000" algn="bl" rotWithShape="0">
              <a:srgbClr val="C6BDE2">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7881466" y="1814970"/>
            <a:ext cx="1481329" cy="1984087"/>
          </a:xfrm>
          <a:prstGeom prst="ellipse">
            <a:avLst/>
          </a:prstGeom>
          <a:solidFill>
            <a:srgbClr val="FFFFFF"/>
          </a:solidFill>
          <a:ln w="1778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28" name="Text 26"/>
          <p:cNvSpPr/>
          <p:nvPr/>
        </p:nvSpPr>
        <p:spPr>
          <a:xfrm>
            <a:off x="9221723" y="2178591"/>
            <a:ext cx="2018971" cy="1209226"/>
          </a:xfrm>
          <a:prstGeom prst="rect">
            <a:avLst/>
          </a:prstGeom>
          <a:noFill/>
          <a:ln/>
        </p:spPr>
        <p:txBody>
          <a:bodyPr wrap="square" lIns="254" tIns="254" rIns="254" bIns="254" rtlCol="0" anchor="ctr">
            <a:normAutofit/>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Maryna Hordiienko</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27"/>
          <p:cNvSpPr/>
          <p:nvPr/>
        </p:nvSpPr>
        <p:spPr>
          <a:xfrm>
            <a:off x="9592056" y="3318614"/>
            <a:ext cx="1883664" cy="365760"/>
          </a:xfrm>
          <a:prstGeom prst="rect">
            <a:avLst/>
          </a:prstGeom>
          <a:noFill/>
          <a:ln/>
        </p:spPr>
        <p:txBody>
          <a:bodyPr wrap="square" lIns="254" tIns="254" rIns="254" bIns="25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Front-End, UI/UX/UD</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Shape 28"/>
          <p:cNvSpPr/>
          <p:nvPr/>
        </p:nvSpPr>
        <p:spPr>
          <a:xfrm>
            <a:off x="7903031" y="3864067"/>
            <a:ext cx="3493839" cy="29026"/>
          </a:xfrm>
          <a:prstGeom prst="line">
            <a:avLst/>
          </a:prstGeom>
          <a:noFill/>
          <a:ln w="762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7844964" y="3956513"/>
            <a:ext cx="3533030" cy="175987"/>
          </a:xfrm>
          <a:prstGeom prst="rect">
            <a:avLst/>
          </a:prstGeom>
          <a:noFill/>
          <a:ln/>
        </p:spPr>
        <p:txBody>
          <a:bodyPr wrap="square" lIns="254" tIns="254" rIns="254" bIns="254"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Team member 3</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30"/>
          <p:cNvSpPr/>
          <p:nvPr/>
        </p:nvSpPr>
        <p:spPr>
          <a:xfrm>
            <a:off x="713232" y="4599432"/>
            <a:ext cx="10762488" cy="1170432"/>
          </a:xfrm>
          <a:prstGeom prst="roundRect">
            <a:avLst>
              <a:gd name="adj" fmla="val 9375"/>
            </a:avLst>
          </a:prstGeom>
          <a:solidFill>
            <a:srgbClr val="FFFFFF"/>
          </a:solidFill>
          <a:ln w="10160">
            <a:solidFill>
              <a:srgbClr val="DAD3EF"/>
            </a:solidFill>
            <a:prstDash val="solid"/>
          </a:ln>
          <a:effectLst>
            <a:outerShdw blurRad="15240" dist="50800" dir="2700000" algn="bl" rotWithShape="0">
              <a:srgbClr val="C6BDE2">
                <a:alpha val="1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Shape 31"/>
          <p:cNvSpPr/>
          <p:nvPr/>
        </p:nvSpPr>
        <p:spPr>
          <a:xfrm>
            <a:off x="3639312" y="4791456"/>
            <a:ext cx="0" cy="786384"/>
          </a:xfrm>
          <a:prstGeom prst="line">
            <a:avLst/>
          </a:prstGeom>
          <a:no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Shape 32"/>
          <p:cNvSpPr/>
          <p:nvPr/>
        </p:nvSpPr>
        <p:spPr>
          <a:xfrm>
            <a:off x="6922008" y="4791456"/>
            <a:ext cx="0" cy="786384"/>
          </a:xfrm>
          <a:prstGeom prst="line">
            <a:avLst/>
          </a:prstGeom>
          <a:no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987552" y="4828032"/>
            <a:ext cx="1645920" cy="146304"/>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GROUP</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987552" y="5084064"/>
            <a:ext cx="2267712" cy="237744"/>
          </a:xfrm>
          <a:prstGeom prst="rect">
            <a:avLst/>
          </a:prstGeom>
          <a:noFill/>
          <a:ln/>
        </p:spPr>
        <p:txBody>
          <a:bodyPr wrap="square" lIns="254" tIns="254" rIns="254" bIns="254"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53617A"/>
                </a:solidFill>
                <a:effectLst/>
                <a:uLnTx/>
                <a:uFillTx/>
                <a:latin typeface="Aptos" pitchFamily="34" charset="0"/>
                <a:ea typeface="+mn-ea"/>
                <a:cs typeface="+mn-cs"/>
              </a:rPr>
              <a:t>Sd3a</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Text 35"/>
          <p:cNvSpPr/>
          <p:nvPr/>
        </p:nvSpPr>
        <p:spPr>
          <a:xfrm>
            <a:off x="3931920" y="4828032"/>
            <a:ext cx="1645920" cy="146304"/>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COURSE</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3931920" y="5010912"/>
            <a:ext cx="2651760" cy="50292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4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BSc (Hons) Computing in</a:t>
            </a:r>
            <a:endParaRPr kumimoji="0" lang="en-US" sz="134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4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Software Development</a:t>
            </a:r>
            <a:endParaRPr kumimoji="0" lang="en-US" sz="134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7223760" y="4828032"/>
            <a:ext cx="2011680" cy="146304"/>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ASSESSMENT THEME</a:t>
            </a:r>
            <a:endParaRPr kumimoji="0" lang="en-US" sz="90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Text 38"/>
          <p:cNvSpPr/>
          <p:nvPr/>
        </p:nvSpPr>
        <p:spPr>
          <a:xfrm>
            <a:off x="7223760" y="5010912"/>
            <a:ext cx="3749040" cy="50292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4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Smart Temperature Monitoring for</a:t>
            </a:r>
            <a:endParaRPr kumimoji="0" lang="en-US" sz="134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40" b="0" i="0" u="none" strike="noStrike" kern="1200" cap="none" spc="0" normalizeH="0" baseline="0" noProof="0" dirty="0">
                <a:ln>
                  <a:noFill/>
                </a:ln>
                <a:solidFill>
                  <a:srgbClr val="53617A"/>
                </a:solidFill>
                <a:effectLst/>
                <a:uLnTx/>
                <a:uFillTx/>
                <a:latin typeface="Aptos" pitchFamily="34" charset="0"/>
                <a:ea typeface="Aptos" pitchFamily="34" charset="-122"/>
                <a:cs typeface="Aptos" pitchFamily="34" charset="-120"/>
              </a:rPr>
              <a:t>a Controlled Drug Box</a:t>
            </a:r>
            <a:endParaRPr kumimoji="0" lang="en-US" sz="1340" b="0" i="0" u="none" strike="noStrike" kern="1200" cap="none" spc="0" normalizeH="0" baseline="0" noProof="0" dirty="0">
              <a:ln>
                <a:noFill/>
              </a:ln>
              <a:solidFill>
                <a:prstClr val="black"/>
              </a:solidFill>
              <a:effectLst/>
              <a:uLnTx/>
              <a:uFillTx/>
              <a:latin typeface="Aptos"/>
              <a:ea typeface="+mn-ea"/>
              <a:cs typeface="+mn-cs"/>
            </a:endParaRPr>
          </a:p>
        </p:txBody>
      </p:sp>
      <p:sp>
        <p:nvSpPr>
          <p:cNvPr id="41" name="Shape 39"/>
          <p:cNvSpPr/>
          <p:nvPr/>
        </p:nvSpPr>
        <p:spPr>
          <a:xfrm>
            <a:off x="713232" y="5925312"/>
            <a:ext cx="10762488" cy="438912"/>
          </a:xfrm>
          <a:prstGeom prst="roundRect">
            <a:avLst>
              <a:gd name="adj" fmla="val 25000"/>
            </a:avLst>
          </a:prstGeom>
          <a:solidFill>
            <a:srgbClr val="F0EDFA"/>
          </a:solid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sp>
        <p:nvSpPr>
          <p:cNvPr id="42" name="Text 40"/>
          <p:cNvSpPr/>
          <p:nvPr/>
        </p:nvSpPr>
        <p:spPr>
          <a:xfrm>
            <a:off x="987552" y="6062472"/>
            <a:ext cx="640080" cy="118872"/>
          </a:xfrm>
          <a:prstGeom prst="rect">
            <a:avLst/>
          </a:prstGeom>
          <a:noFill/>
          <a:ln/>
        </p:spPr>
        <p:txBody>
          <a:bodyPr wrap="square" lIns="254" tIns="254" rIns="254" bIns="254"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60" b="1"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MODULE</a:t>
            </a:r>
            <a:endParaRPr kumimoji="0" lang="en-US" sz="860" b="0" i="0" u="none" strike="noStrike" kern="1200" cap="none" spc="0" normalizeH="0" baseline="0" noProof="0" dirty="0">
              <a:ln>
                <a:noFill/>
              </a:ln>
              <a:solidFill>
                <a:prstClr val="black"/>
              </a:solidFill>
              <a:effectLst/>
              <a:uLnTx/>
              <a:uFillTx/>
              <a:latin typeface="Aptos"/>
              <a:ea typeface="+mn-ea"/>
              <a:cs typeface="+mn-cs"/>
            </a:endParaRPr>
          </a:p>
        </p:txBody>
      </p:sp>
      <p:sp>
        <p:nvSpPr>
          <p:cNvPr id="43" name="Text 41"/>
          <p:cNvSpPr/>
          <p:nvPr/>
        </p:nvSpPr>
        <p:spPr>
          <a:xfrm>
            <a:off x="1901952" y="6016752"/>
            <a:ext cx="3337560" cy="210312"/>
          </a:xfrm>
          <a:prstGeom prst="rect">
            <a:avLst/>
          </a:prstGeom>
          <a:noFill/>
          <a:ln/>
        </p:spPr>
        <p:txBody>
          <a:bodyPr wrap="square" lIns="254" tIns="254" rIns="254" bIns="254"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2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Universal Design Project</a:t>
            </a:r>
            <a:endParaRPr kumimoji="0" lang="en-US" sz="1520" b="0" i="0" u="none" strike="noStrike" kern="1200" cap="none" spc="0" normalizeH="0" baseline="0" noProof="0" dirty="0">
              <a:ln>
                <a:noFill/>
              </a:ln>
              <a:solidFill>
                <a:prstClr val="black"/>
              </a:solidFill>
              <a:effectLst/>
              <a:uLnTx/>
              <a:uFillTx/>
              <a:latin typeface="Aptos"/>
              <a:ea typeface="+mn-ea"/>
              <a:cs typeface="+mn-cs"/>
            </a:endParaRPr>
          </a:p>
        </p:txBody>
      </p:sp>
      <p:sp>
        <p:nvSpPr>
          <p:cNvPr id="44" name="Text 42"/>
          <p:cNvSpPr/>
          <p:nvPr/>
        </p:nvSpPr>
        <p:spPr>
          <a:xfrm>
            <a:off x="7948248" y="6035040"/>
            <a:ext cx="3017520" cy="201168"/>
          </a:xfrm>
          <a:prstGeom prst="rect">
            <a:avLst/>
          </a:prstGeom>
          <a:noFill/>
          <a:ln/>
        </p:spPr>
        <p:txBody>
          <a:bodyPr wrap="square" lIns="254" tIns="254" rIns="254" bIns="254"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58198"/>
                </a:solidFill>
                <a:effectLst/>
                <a:uLnTx/>
                <a:uFillTx/>
                <a:latin typeface="Aptos" pitchFamily="34" charset="0"/>
                <a:ea typeface="Aptos" pitchFamily="34" charset="-122"/>
                <a:cs typeface="Aptos" pitchFamily="34" charset="-120"/>
              </a:rPr>
              <a:t>09/10/2026</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5" name="Shape 43"/>
          <p:cNvSpPr/>
          <p:nvPr/>
        </p:nvSpPr>
        <p:spPr>
          <a:xfrm>
            <a:off x="164592" y="6647688"/>
            <a:ext cx="11862511" cy="73152"/>
          </a:xfrm>
          <a:prstGeom prst="rect">
            <a:avLst/>
          </a:prstGeom>
          <a:solidFill>
            <a:srgbClr val="E9E5F7"/>
          </a:solidFill>
          <a:ln w="12700">
            <a:solidFill>
              <a:srgbClr val="E9E5F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Aptos"/>
              <a:ea typeface="+mn-ea"/>
              <a:cs typeface="+mn-cs"/>
            </a:endParaRPr>
          </a:p>
        </p:txBody>
      </p:sp>
      <p:pic>
        <p:nvPicPr>
          <p:cNvPr id="47" name="Picture 46">
            <a:extLst>
              <a:ext uri="{FF2B5EF4-FFF2-40B4-BE49-F238E27FC236}">
                <a16:creationId xmlns:a16="http://schemas.microsoft.com/office/drawing/2014/main" id="{3E8DA742-7331-1CE7-DB6C-96EB7B267FBE}"/>
              </a:ext>
            </a:extLst>
          </p:cNvPr>
          <p:cNvPicPr>
            <a:picLocks noChangeAspect="1"/>
          </p:cNvPicPr>
          <p:nvPr/>
        </p:nvPicPr>
        <p:blipFill>
          <a:blip r:embed="rId3"/>
          <a:stretch>
            <a:fillRect/>
          </a:stretch>
        </p:blipFill>
        <p:spPr>
          <a:xfrm>
            <a:off x="8194685" y="2018839"/>
            <a:ext cx="932948" cy="1658574"/>
          </a:xfrm>
          <a:prstGeom prst="rect">
            <a:avLst/>
          </a:prstGeom>
          <a:effectLst>
            <a:softEdge rad="63500"/>
          </a:effectLst>
        </p:spPr>
      </p:pic>
      <p:pic>
        <p:nvPicPr>
          <p:cNvPr id="51" name="Picture 50">
            <a:extLst>
              <a:ext uri="{FF2B5EF4-FFF2-40B4-BE49-F238E27FC236}">
                <a16:creationId xmlns:a16="http://schemas.microsoft.com/office/drawing/2014/main" id="{839B47B3-859B-B5F3-7353-D96C9996B338}"/>
              </a:ext>
            </a:extLst>
          </p:cNvPr>
          <p:cNvPicPr>
            <a:picLocks noChangeAspect="1"/>
          </p:cNvPicPr>
          <p:nvPr/>
        </p:nvPicPr>
        <p:blipFill>
          <a:blip r:embed="rId4"/>
          <a:stretch>
            <a:fillRect/>
          </a:stretch>
        </p:blipFill>
        <p:spPr>
          <a:xfrm>
            <a:off x="4734399" y="2035648"/>
            <a:ext cx="972325" cy="1650978"/>
          </a:xfrm>
          <a:prstGeom prst="rect">
            <a:avLst/>
          </a:prstGeom>
          <a:effectLst>
            <a:softEdge rad="63500"/>
          </a:effectLst>
        </p:spPr>
      </p:pic>
      <p:sp>
        <p:nvSpPr>
          <p:cNvPr id="53" name="Shape 7">
            <a:extLst>
              <a:ext uri="{FF2B5EF4-FFF2-40B4-BE49-F238E27FC236}">
                <a16:creationId xmlns:a16="http://schemas.microsoft.com/office/drawing/2014/main" id="{FFEA8D85-73A5-58CF-8233-C89E1596AD89}"/>
              </a:ext>
            </a:extLst>
          </p:cNvPr>
          <p:cNvSpPr/>
          <p:nvPr/>
        </p:nvSpPr>
        <p:spPr>
          <a:xfrm>
            <a:off x="633965" y="438912"/>
            <a:ext cx="2987059" cy="548640"/>
          </a:xfrm>
          <a:prstGeom prst="roundRect">
            <a:avLst>
              <a:gd name="adj" fmla="val 42857"/>
            </a:avLst>
          </a:prstGeom>
          <a:solidFill>
            <a:srgbClr val="ECE9FB"/>
          </a:solidFill>
          <a:ln w="10160">
            <a:solidFill>
              <a:srgbClr val="DAD3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4" name="Text 8">
            <a:extLst>
              <a:ext uri="{FF2B5EF4-FFF2-40B4-BE49-F238E27FC236}">
                <a16:creationId xmlns:a16="http://schemas.microsoft.com/office/drawing/2014/main" id="{F662F7B4-D230-A756-54BF-36F899ED1EB6}"/>
              </a:ext>
            </a:extLst>
          </p:cNvPr>
          <p:cNvSpPr/>
          <p:nvPr/>
        </p:nvSpPr>
        <p:spPr>
          <a:xfrm>
            <a:off x="1173825" y="542775"/>
            <a:ext cx="2041468" cy="380122"/>
          </a:xfrm>
          <a:prstGeom prst="rect">
            <a:avLst/>
          </a:prstGeom>
          <a:noFill/>
          <a:ln/>
        </p:spPr>
        <p:txBody>
          <a:bodyPr wrap="square" lIns="254" tIns="254" rIns="254" bIns="25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App: </a:t>
            </a:r>
            <a:r>
              <a:rPr kumimoji="0" lang="en-US" sz="2000" b="0" i="0" u="none" strike="noStrike" kern="1200" cap="none" spc="0" normalizeH="0" baseline="0" noProof="0" dirty="0">
                <a:ln>
                  <a:noFill/>
                </a:ln>
                <a:solidFill>
                  <a:srgbClr val="143A9D"/>
                </a:solidFill>
                <a:effectLst/>
                <a:uLnTx/>
                <a:uFillTx/>
                <a:latin typeface="Aptos" pitchFamily="34" charset="0"/>
                <a:ea typeface="Aptos" pitchFamily="34" charset="-122"/>
                <a:cs typeface="Aptos" pitchFamily="34" charset="-120"/>
              </a:rPr>
              <a:t>TempSafe</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pic>
        <p:nvPicPr>
          <p:cNvPr id="13" name="Picture 12">
            <a:extLst>
              <a:ext uri="{FF2B5EF4-FFF2-40B4-BE49-F238E27FC236}">
                <a16:creationId xmlns:a16="http://schemas.microsoft.com/office/drawing/2014/main" id="{2A2F1614-3928-E6A8-30CD-6AD0AD3A05C1}"/>
              </a:ext>
            </a:extLst>
          </p:cNvPr>
          <p:cNvPicPr>
            <a:picLocks noChangeAspect="1"/>
          </p:cNvPicPr>
          <p:nvPr/>
        </p:nvPicPr>
        <p:blipFill>
          <a:blip r:embed="rId5"/>
          <a:stretch>
            <a:fillRect/>
          </a:stretch>
        </p:blipFill>
        <p:spPr>
          <a:xfrm>
            <a:off x="1112897" y="2004653"/>
            <a:ext cx="880775" cy="1596544"/>
          </a:xfrm>
          <a:prstGeom prst="rect">
            <a:avLst/>
          </a:prstGeom>
          <a:effectLst>
            <a:softEdge rad="63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EFEAF9"/>
        </a:solidFill>
        <a:effectLst/>
      </p:bgPr>
    </p:bg>
    <p:spTree>
      <p:nvGrpSpPr>
        <p:cNvPr id="1" name=""/>
        <p:cNvGrpSpPr/>
        <p:nvPr/>
      </p:nvGrpSpPr>
      <p:grpSpPr>
        <a:xfrm>
          <a:off x="0" y="0"/>
          <a:ext cx="0" cy="0"/>
          <a:chOff x="0" y="0"/>
          <a:chExt cx="0" cy="0"/>
        </a:xfrm>
      </p:grpSpPr>
      <p:sp>
        <p:nvSpPr>
          <p:cNvPr id="2" name="Shape 0"/>
          <p:cNvSpPr/>
          <p:nvPr/>
        </p:nvSpPr>
        <p:spPr>
          <a:xfrm>
            <a:off x="81225" y="98503"/>
            <a:ext cx="11930888" cy="6583680"/>
          </a:xfrm>
          <a:prstGeom prst="roundRect">
            <a:avLst>
              <a:gd name="adj" fmla="val 1774"/>
            </a:avLst>
          </a:prstGeom>
          <a:solidFill>
            <a:srgbClr val="FFFFFF"/>
          </a:solidFill>
          <a:ln w="8890">
            <a:solidFill>
              <a:srgbClr val="FFFFFF"/>
            </a:solidFill>
            <a:prstDash val="solid"/>
          </a:ln>
          <a:effectLst>
            <a:outerShdw blurRad="25400" dist="50800" dir="2700000" algn="bl" rotWithShape="0">
              <a:srgbClr val="B7AACD">
                <a:alpha val="28000"/>
              </a:srgbClr>
            </a:outerShdw>
          </a:effectLst>
        </p:spPr>
        <p:txBody>
          <a:bodyPr/>
          <a:lstStyle/>
          <a:p>
            <a:endParaRPr lang="en-IE"/>
          </a:p>
        </p:txBody>
      </p:sp>
      <p:pic>
        <p:nvPicPr>
          <p:cNvPr id="3" name="Image 0" descr="/mnt/data/tempsafe_photo_panel_crop.png"/>
          <p:cNvPicPr>
            <a:picLocks noChangeAspect="1"/>
          </p:cNvPicPr>
          <p:nvPr/>
        </p:nvPicPr>
        <p:blipFill>
          <a:blip r:embed="rId3"/>
          <a:stretch>
            <a:fillRect/>
          </a:stretch>
        </p:blipFill>
        <p:spPr>
          <a:xfrm>
            <a:off x="164592" y="137160"/>
            <a:ext cx="3346704" cy="6565392"/>
          </a:xfrm>
          <a:prstGeom prst="rect">
            <a:avLst/>
          </a:prstGeom>
        </p:spPr>
      </p:pic>
      <p:sp>
        <p:nvSpPr>
          <p:cNvPr id="4" name="Shape 1"/>
          <p:cNvSpPr/>
          <p:nvPr/>
        </p:nvSpPr>
        <p:spPr>
          <a:xfrm>
            <a:off x="3602736" y="182880"/>
            <a:ext cx="18288" cy="6492240"/>
          </a:xfrm>
          <a:prstGeom prst="rect">
            <a:avLst/>
          </a:prstGeom>
          <a:solidFill>
            <a:srgbClr val="EEEAF6"/>
          </a:solidFill>
          <a:ln w="12700">
            <a:solidFill>
              <a:srgbClr val="EEEAF6">
                <a:alpha val="0"/>
              </a:srgbClr>
            </a:solidFill>
            <a:prstDash val="solid"/>
          </a:ln>
        </p:spPr>
        <p:txBody>
          <a:bodyPr/>
          <a:lstStyle/>
          <a:p>
            <a:endParaRPr lang="en-IE"/>
          </a:p>
        </p:txBody>
      </p:sp>
      <p:sp>
        <p:nvSpPr>
          <p:cNvPr id="5" name="Text 2"/>
          <p:cNvSpPr/>
          <p:nvPr/>
        </p:nvSpPr>
        <p:spPr>
          <a:xfrm>
            <a:off x="3794760" y="315468"/>
            <a:ext cx="7589520" cy="685800"/>
          </a:xfrm>
          <a:prstGeom prst="rect">
            <a:avLst/>
          </a:prstGeom>
          <a:noFill/>
          <a:ln/>
        </p:spPr>
        <p:txBody>
          <a:bodyPr wrap="square" lIns="0" tIns="0" rIns="0" bIns="0" rtlCol="0" anchor="t">
            <a:normAutofit/>
          </a:bodyPr>
          <a:lstStyle/>
          <a:p>
            <a:pPr marL="0" indent="0" algn="l">
              <a:buNone/>
            </a:pPr>
            <a:r>
              <a:rPr lang="en-US" sz="4400" b="1" dirty="0">
                <a:solidFill>
                  <a:srgbClr val="142C86"/>
                </a:solidFill>
                <a:latin typeface="Aptos Display" pitchFamily="34" charset="0"/>
                <a:ea typeface="Aptos Display" pitchFamily="34" charset="-122"/>
                <a:cs typeface="Aptos Display" pitchFamily="34" charset="-120"/>
              </a:rPr>
              <a:t>TempSafe</a:t>
            </a:r>
            <a:endParaRPr lang="en-US" sz="4400" dirty="0"/>
          </a:p>
        </p:txBody>
      </p:sp>
      <p:sp>
        <p:nvSpPr>
          <p:cNvPr id="6" name="Text 3"/>
          <p:cNvSpPr/>
          <p:nvPr/>
        </p:nvSpPr>
        <p:spPr>
          <a:xfrm>
            <a:off x="4421632" y="958404"/>
            <a:ext cx="7680960" cy="384048"/>
          </a:xfrm>
          <a:prstGeom prst="rect">
            <a:avLst/>
          </a:prstGeom>
          <a:noFill/>
          <a:ln/>
        </p:spPr>
        <p:txBody>
          <a:bodyPr wrap="square" lIns="0" tIns="0" rIns="0" bIns="0" rtlCol="0" anchor="t">
            <a:normAutofit/>
          </a:bodyPr>
          <a:lstStyle/>
          <a:p>
            <a:pPr marL="0" indent="0" algn="l">
              <a:buNone/>
            </a:pPr>
            <a:r>
              <a:rPr lang="en-US" sz="2200" b="1" dirty="0">
                <a:solidFill>
                  <a:srgbClr val="1D3D9C"/>
                </a:solidFill>
                <a:latin typeface="Aptos" pitchFamily="34" charset="0"/>
                <a:ea typeface="Aptos" pitchFamily="34" charset="-122"/>
                <a:cs typeface="Aptos" pitchFamily="34" charset="-120"/>
              </a:rPr>
              <a:t>Smart temperature monitoring for a Controlled Drug Box</a:t>
            </a:r>
            <a:endParaRPr lang="en-US" sz="2200" dirty="0"/>
          </a:p>
        </p:txBody>
      </p:sp>
      <p:sp>
        <p:nvSpPr>
          <p:cNvPr id="7" name="Text 4"/>
          <p:cNvSpPr/>
          <p:nvPr/>
        </p:nvSpPr>
        <p:spPr>
          <a:xfrm>
            <a:off x="3886200" y="1138428"/>
            <a:ext cx="7744968" cy="1458468"/>
          </a:xfrm>
          <a:prstGeom prst="rect">
            <a:avLst/>
          </a:prstGeom>
          <a:noFill/>
          <a:ln/>
        </p:spPr>
        <p:txBody>
          <a:bodyPr wrap="square" lIns="0" tIns="0" rIns="0" bIns="0" rtlCol="0" anchor="t">
            <a:normAutofit/>
          </a:bodyPr>
          <a:lstStyle/>
          <a:p>
            <a:pPr marL="0" indent="0" algn="l">
              <a:buNone/>
            </a:pPr>
            <a:endParaRPr lang="en-US" sz="1550" dirty="0"/>
          </a:p>
        </p:txBody>
      </p:sp>
      <p:grpSp>
        <p:nvGrpSpPr>
          <p:cNvPr id="32" name="Group 31">
            <a:extLst>
              <a:ext uri="{FF2B5EF4-FFF2-40B4-BE49-F238E27FC236}">
                <a16:creationId xmlns:a16="http://schemas.microsoft.com/office/drawing/2014/main" id="{416ACE97-F67E-92FE-EC9E-8E5029918450}"/>
              </a:ext>
            </a:extLst>
          </p:cNvPr>
          <p:cNvGrpSpPr/>
          <p:nvPr/>
        </p:nvGrpSpPr>
        <p:grpSpPr>
          <a:xfrm>
            <a:off x="3936492" y="4050792"/>
            <a:ext cx="2514600" cy="1691640"/>
            <a:chOff x="3936492" y="4050792"/>
            <a:chExt cx="2514600" cy="1691640"/>
          </a:xfrm>
        </p:grpSpPr>
        <p:sp>
          <p:nvSpPr>
            <p:cNvPr id="8" name="Shape 5"/>
            <p:cNvSpPr/>
            <p:nvPr/>
          </p:nvSpPr>
          <p:spPr>
            <a:xfrm>
              <a:off x="3936492" y="4050792"/>
              <a:ext cx="2514600" cy="1691640"/>
            </a:xfrm>
            <a:prstGeom prst="roundRect">
              <a:avLst>
                <a:gd name="adj" fmla="val 5946"/>
              </a:avLst>
            </a:prstGeom>
            <a:solidFill>
              <a:srgbClr val="FFFFFF"/>
            </a:solidFill>
            <a:ln w="8890">
              <a:solidFill>
                <a:srgbClr val="E3DDF0"/>
              </a:solidFill>
              <a:prstDash val="solid"/>
            </a:ln>
            <a:effectLst>
              <a:outerShdw blurRad="25400" dist="50800" dir="2700000" algn="bl" rotWithShape="0">
                <a:srgbClr val="B7AACD">
                  <a:alpha val="28000"/>
                </a:srgbClr>
              </a:outerShdw>
            </a:effectLst>
          </p:spPr>
          <p:txBody>
            <a:bodyPr/>
            <a:lstStyle/>
            <a:p>
              <a:endParaRPr lang="en-IE"/>
            </a:p>
          </p:txBody>
        </p:sp>
        <p:sp>
          <p:nvSpPr>
            <p:cNvPr id="9" name="Shape 6"/>
            <p:cNvSpPr/>
            <p:nvPr/>
          </p:nvSpPr>
          <p:spPr>
            <a:xfrm>
              <a:off x="3965331" y="4082797"/>
              <a:ext cx="530352" cy="530352"/>
            </a:xfrm>
            <a:prstGeom prst="ellipse">
              <a:avLst/>
            </a:prstGeom>
            <a:solidFill>
              <a:srgbClr val="ECEBFF"/>
            </a:solidFill>
            <a:ln w="12700">
              <a:solidFill>
                <a:srgbClr val="ECEBFF">
                  <a:alpha val="0"/>
                </a:srgbClr>
              </a:solidFill>
              <a:prstDash val="solid"/>
            </a:ln>
          </p:spPr>
          <p:txBody>
            <a:bodyPr/>
            <a:lstStyle/>
            <a:p>
              <a:endParaRPr lang="en-IE"/>
            </a:p>
          </p:txBody>
        </p:sp>
        <p:sp>
          <p:nvSpPr>
            <p:cNvPr id="10" name="Text 7"/>
            <p:cNvSpPr/>
            <p:nvPr/>
          </p:nvSpPr>
          <p:spPr>
            <a:xfrm>
              <a:off x="4041648" y="4133088"/>
              <a:ext cx="420624" cy="411480"/>
            </a:xfrm>
            <a:prstGeom prst="rect">
              <a:avLst/>
            </a:prstGeom>
            <a:noFill/>
            <a:ln/>
          </p:spPr>
          <p:txBody>
            <a:bodyPr wrap="square" lIns="0" tIns="0" rIns="0" bIns="0" rtlCol="0" anchor="ctr">
              <a:normAutofit/>
            </a:bodyPr>
            <a:lstStyle/>
            <a:p>
              <a:pPr marL="0" indent="0" algn="ctr">
                <a:buNone/>
              </a:pPr>
              <a:r>
                <a:rPr lang="en-US" sz="2200" dirty="0">
                  <a:solidFill>
                    <a:srgbClr val="1D3D9C"/>
                  </a:solidFill>
                  <a:latin typeface="Aptos" pitchFamily="34" charset="0"/>
                  <a:ea typeface="Aptos" pitchFamily="34" charset="-122"/>
                  <a:cs typeface="Aptos" pitchFamily="34" charset="-120"/>
                </a:rPr>
                <a:t>♨</a:t>
              </a:r>
              <a:endParaRPr lang="en-US" sz="2200" dirty="0"/>
            </a:p>
          </p:txBody>
        </p:sp>
        <p:sp>
          <p:nvSpPr>
            <p:cNvPr id="11" name="Text 8"/>
            <p:cNvSpPr/>
            <p:nvPr/>
          </p:nvSpPr>
          <p:spPr>
            <a:xfrm>
              <a:off x="4654296" y="4179617"/>
              <a:ext cx="1637640" cy="559991"/>
            </a:xfrm>
            <a:prstGeom prst="rect">
              <a:avLst/>
            </a:prstGeom>
            <a:noFill/>
            <a:ln/>
          </p:spPr>
          <p:txBody>
            <a:bodyPr wrap="square" lIns="0" tIns="0" rIns="0" bIns="0" rtlCol="0" anchor="t">
              <a:noAutofit/>
            </a:bodyPr>
            <a:lstStyle/>
            <a:p>
              <a:pPr marL="0" indent="0" algn="l">
                <a:buNone/>
              </a:pPr>
              <a:r>
                <a:rPr lang="en-US" b="1" dirty="0">
                  <a:solidFill>
                    <a:srgbClr val="1D3D9C"/>
                  </a:solidFill>
                  <a:latin typeface="Aptos" pitchFamily="34" charset="0"/>
                  <a:ea typeface="Aptos" pitchFamily="34" charset="-122"/>
                  <a:cs typeface="Aptos" pitchFamily="34" charset="-120"/>
                </a:rPr>
                <a:t>Continuous </a:t>
              </a:r>
            </a:p>
            <a:p>
              <a:pPr marL="0" indent="0" algn="l">
                <a:buNone/>
              </a:pPr>
              <a:r>
                <a:rPr lang="en-US" b="1" dirty="0">
                  <a:solidFill>
                    <a:srgbClr val="1D3D9C"/>
                  </a:solidFill>
                  <a:latin typeface="Aptos" pitchFamily="34" charset="0"/>
                  <a:ea typeface="Aptos" pitchFamily="34" charset="-122"/>
                  <a:cs typeface="Aptos" pitchFamily="34" charset="-120"/>
                </a:rPr>
                <a:t>Monitoring</a:t>
              </a:r>
              <a:endParaRPr lang="en-US" dirty="0"/>
            </a:p>
          </p:txBody>
        </p:sp>
        <p:sp>
          <p:nvSpPr>
            <p:cNvPr id="12" name="Text 9"/>
            <p:cNvSpPr/>
            <p:nvPr/>
          </p:nvSpPr>
          <p:spPr>
            <a:xfrm>
              <a:off x="4053078" y="4757026"/>
              <a:ext cx="2331720" cy="724455"/>
            </a:xfrm>
            <a:prstGeom prst="rect">
              <a:avLst/>
            </a:prstGeom>
            <a:noFill/>
            <a:ln/>
          </p:spPr>
          <p:txBody>
            <a:bodyPr wrap="square" lIns="0" tIns="0" rIns="0" bIns="0" rtlCol="0" anchor="t">
              <a:normAutofit/>
            </a:bodyPr>
            <a:lstStyle/>
            <a:p>
              <a:pPr marL="0" indent="0" algn="l">
                <a:buNone/>
              </a:pPr>
              <a:r>
                <a:rPr lang="en-US" sz="1600" dirty="0">
                  <a:solidFill>
                    <a:srgbClr val="5F6375"/>
                  </a:solidFill>
                  <a:latin typeface="Aptos" pitchFamily="34" charset="0"/>
                  <a:ea typeface="Aptos" pitchFamily="34" charset="-122"/>
                  <a:cs typeface="Aptos" pitchFamily="34" charset="-120"/>
                </a:rPr>
                <a:t>Samples box temperature every 30 seconds</a:t>
              </a:r>
              <a:r>
                <a:rPr lang="en-US" sz="1260" dirty="0">
                  <a:solidFill>
                    <a:srgbClr val="5F6375"/>
                  </a:solidFill>
                  <a:latin typeface="Aptos" pitchFamily="34" charset="0"/>
                  <a:ea typeface="Aptos" pitchFamily="34" charset="-122"/>
                  <a:cs typeface="Aptos" pitchFamily="34" charset="-120"/>
                </a:rPr>
                <a:t>.</a:t>
              </a:r>
              <a:endParaRPr lang="en-US" sz="1260" dirty="0"/>
            </a:p>
          </p:txBody>
        </p:sp>
      </p:grpSp>
      <p:grpSp>
        <p:nvGrpSpPr>
          <p:cNvPr id="31" name="Group 30">
            <a:extLst>
              <a:ext uri="{FF2B5EF4-FFF2-40B4-BE49-F238E27FC236}">
                <a16:creationId xmlns:a16="http://schemas.microsoft.com/office/drawing/2014/main" id="{18270035-8730-62D3-59B1-01B98DDCD359}"/>
              </a:ext>
            </a:extLst>
          </p:cNvPr>
          <p:cNvGrpSpPr/>
          <p:nvPr/>
        </p:nvGrpSpPr>
        <p:grpSpPr>
          <a:xfrm>
            <a:off x="6751555" y="4079675"/>
            <a:ext cx="2643905" cy="1691640"/>
            <a:chOff x="6751555" y="4079675"/>
            <a:chExt cx="2643905" cy="1691640"/>
          </a:xfrm>
        </p:grpSpPr>
        <p:sp>
          <p:nvSpPr>
            <p:cNvPr id="13" name="Shape 10"/>
            <p:cNvSpPr/>
            <p:nvPr/>
          </p:nvSpPr>
          <p:spPr>
            <a:xfrm>
              <a:off x="6759702" y="4079675"/>
              <a:ext cx="2514600" cy="1691640"/>
            </a:xfrm>
            <a:prstGeom prst="roundRect">
              <a:avLst>
                <a:gd name="adj" fmla="val 5946"/>
              </a:avLst>
            </a:prstGeom>
            <a:solidFill>
              <a:srgbClr val="FFFFFF"/>
            </a:solidFill>
            <a:ln w="8890">
              <a:solidFill>
                <a:srgbClr val="E3DDF0"/>
              </a:solidFill>
              <a:prstDash val="solid"/>
            </a:ln>
            <a:effectLst>
              <a:outerShdw blurRad="25400" dist="50800" dir="2700000" algn="bl" rotWithShape="0">
                <a:srgbClr val="B7AACD">
                  <a:alpha val="28000"/>
                </a:srgbClr>
              </a:outerShdw>
            </a:effectLst>
          </p:spPr>
          <p:txBody>
            <a:bodyPr/>
            <a:lstStyle/>
            <a:p>
              <a:endParaRPr lang="en-IE"/>
            </a:p>
          </p:txBody>
        </p:sp>
        <p:sp>
          <p:nvSpPr>
            <p:cNvPr id="14" name="Shape 11"/>
            <p:cNvSpPr/>
            <p:nvPr/>
          </p:nvSpPr>
          <p:spPr>
            <a:xfrm>
              <a:off x="6751555" y="4092175"/>
              <a:ext cx="530352" cy="530352"/>
            </a:xfrm>
            <a:prstGeom prst="ellipse">
              <a:avLst/>
            </a:prstGeom>
            <a:solidFill>
              <a:srgbClr val="ECEBFF"/>
            </a:solidFill>
            <a:ln w="12700">
              <a:solidFill>
                <a:srgbClr val="ECEBFF">
                  <a:alpha val="0"/>
                </a:srgbClr>
              </a:solidFill>
              <a:prstDash val="solid"/>
            </a:ln>
          </p:spPr>
          <p:txBody>
            <a:bodyPr/>
            <a:lstStyle/>
            <a:p>
              <a:endParaRPr lang="en-IE"/>
            </a:p>
          </p:txBody>
        </p:sp>
        <p:sp>
          <p:nvSpPr>
            <p:cNvPr id="15" name="Text 12"/>
            <p:cNvSpPr/>
            <p:nvPr/>
          </p:nvSpPr>
          <p:spPr>
            <a:xfrm>
              <a:off x="6797860" y="4142233"/>
              <a:ext cx="420624" cy="411480"/>
            </a:xfrm>
            <a:prstGeom prst="rect">
              <a:avLst/>
            </a:prstGeom>
            <a:noFill/>
            <a:ln/>
          </p:spPr>
          <p:txBody>
            <a:bodyPr wrap="square" lIns="0" tIns="0" rIns="0" bIns="0" rtlCol="0" anchor="ctr">
              <a:normAutofit/>
            </a:bodyPr>
            <a:lstStyle/>
            <a:p>
              <a:pPr marL="0" indent="0" algn="ctr">
                <a:buNone/>
              </a:pPr>
              <a:r>
                <a:rPr lang="en-US" sz="2200" dirty="0">
                  <a:solidFill>
                    <a:srgbClr val="1D3D9C"/>
                  </a:solidFill>
                  <a:latin typeface="Aptos" pitchFamily="34" charset="0"/>
                  <a:ea typeface="Aptos" pitchFamily="34" charset="-122"/>
                  <a:cs typeface="Aptos" pitchFamily="34" charset="-120"/>
                </a:rPr>
                <a:t>◷</a:t>
              </a:r>
              <a:endParaRPr lang="en-US" sz="2200" dirty="0"/>
            </a:p>
          </p:txBody>
        </p:sp>
        <p:sp>
          <p:nvSpPr>
            <p:cNvPr id="16" name="Text 13"/>
            <p:cNvSpPr/>
            <p:nvPr/>
          </p:nvSpPr>
          <p:spPr>
            <a:xfrm>
              <a:off x="7461799" y="4159875"/>
              <a:ext cx="1866665" cy="549400"/>
            </a:xfrm>
            <a:prstGeom prst="rect">
              <a:avLst/>
            </a:prstGeom>
            <a:noFill/>
            <a:ln/>
          </p:spPr>
          <p:txBody>
            <a:bodyPr wrap="square" lIns="0" tIns="0" rIns="0" bIns="0" rtlCol="0" anchor="t">
              <a:normAutofit/>
            </a:bodyPr>
            <a:lstStyle/>
            <a:p>
              <a:pPr marL="0" indent="0" algn="l">
                <a:buNone/>
              </a:pPr>
              <a:r>
                <a:rPr lang="en-US" b="1" dirty="0">
                  <a:solidFill>
                    <a:srgbClr val="1D3D9C"/>
                  </a:solidFill>
                  <a:latin typeface="Aptos" pitchFamily="34" charset="0"/>
                  <a:ea typeface="Aptos" pitchFamily="34" charset="-122"/>
                  <a:cs typeface="Aptos" pitchFamily="34" charset="-120"/>
                </a:rPr>
                <a:t>Exposure</a:t>
              </a:r>
            </a:p>
            <a:p>
              <a:pPr marL="0" indent="0" algn="l">
                <a:buNone/>
              </a:pPr>
              <a:r>
                <a:rPr lang="en-US" b="1" dirty="0">
                  <a:solidFill>
                    <a:srgbClr val="1D3D9C"/>
                  </a:solidFill>
                  <a:latin typeface="Aptos" pitchFamily="34" charset="0"/>
                  <a:ea typeface="Aptos" pitchFamily="34" charset="-122"/>
                  <a:cs typeface="Aptos" pitchFamily="34" charset="-120"/>
                </a:rPr>
                <a:t> Time</a:t>
              </a:r>
              <a:endParaRPr lang="en-US" dirty="0"/>
            </a:p>
          </p:txBody>
        </p:sp>
        <p:sp>
          <p:nvSpPr>
            <p:cNvPr id="17" name="Text 14"/>
            <p:cNvSpPr/>
            <p:nvPr/>
          </p:nvSpPr>
          <p:spPr>
            <a:xfrm>
              <a:off x="7063740" y="4739608"/>
              <a:ext cx="2331720" cy="844573"/>
            </a:xfrm>
            <a:prstGeom prst="rect">
              <a:avLst/>
            </a:prstGeom>
            <a:noFill/>
            <a:ln/>
          </p:spPr>
          <p:txBody>
            <a:bodyPr wrap="square" lIns="0" tIns="0" rIns="0" bIns="0" rtlCol="0" anchor="t">
              <a:normAutofit/>
            </a:bodyPr>
            <a:lstStyle/>
            <a:p>
              <a:pPr marL="0" indent="0" algn="l">
                <a:buNone/>
              </a:pPr>
              <a:r>
                <a:rPr lang="en-US" sz="1600" dirty="0">
                  <a:solidFill>
                    <a:srgbClr val="5F6375"/>
                  </a:solidFill>
                  <a:latin typeface="Aptos" pitchFamily="34" charset="0"/>
                  <a:ea typeface="Aptos" pitchFamily="34" charset="-122"/>
                  <a:cs typeface="Aptos" pitchFamily="34" charset="-120"/>
                </a:rPr>
                <a:t>Logs out-of-range readings; estimated duration is optional.</a:t>
              </a:r>
              <a:endParaRPr lang="en-US" sz="1600" dirty="0"/>
            </a:p>
          </p:txBody>
        </p:sp>
      </p:grpSp>
      <p:grpSp>
        <p:nvGrpSpPr>
          <p:cNvPr id="30" name="Group 29">
            <a:extLst>
              <a:ext uri="{FF2B5EF4-FFF2-40B4-BE49-F238E27FC236}">
                <a16:creationId xmlns:a16="http://schemas.microsoft.com/office/drawing/2014/main" id="{FFB08D8C-4489-86E2-0084-10A640D248DC}"/>
              </a:ext>
            </a:extLst>
          </p:cNvPr>
          <p:cNvGrpSpPr/>
          <p:nvPr/>
        </p:nvGrpSpPr>
        <p:grpSpPr>
          <a:xfrm>
            <a:off x="9400032" y="4040241"/>
            <a:ext cx="2423160" cy="1691640"/>
            <a:chOff x="9400032" y="4040241"/>
            <a:chExt cx="2423160" cy="1691640"/>
          </a:xfrm>
        </p:grpSpPr>
        <p:sp>
          <p:nvSpPr>
            <p:cNvPr id="18" name="Shape 15"/>
            <p:cNvSpPr/>
            <p:nvPr/>
          </p:nvSpPr>
          <p:spPr>
            <a:xfrm>
              <a:off x="9400032" y="4040241"/>
              <a:ext cx="2331720" cy="1691640"/>
            </a:xfrm>
            <a:prstGeom prst="roundRect">
              <a:avLst>
                <a:gd name="adj" fmla="val 5946"/>
              </a:avLst>
            </a:prstGeom>
            <a:solidFill>
              <a:srgbClr val="FFFFFF"/>
            </a:solidFill>
            <a:ln w="8890">
              <a:solidFill>
                <a:srgbClr val="E3DDF0"/>
              </a:solidFill>
              <a:prstDash val="solid"/>
            </a:ln>
            <a:effectLst>
              <a:outerShdw blurRad="25400" dist="50800" dir="2700000" algn="bl" rotWithShape="0">
                <a:srgbClr val="B7AACD">
                  <a:alpha val="28000"/>
                </a:srgbClr>
              </a:outerShdw>
            </a:effectLst>
          </p:spPr>
          <p:txBody>
            <a:bodyPr/>
            <a:lstStyle/>
            <a:p>
              <a:endParaRPr lang="en-IE"/>
            </a:p>
          </p:txBody>
        </p:sp>
        <p:sp>
          <p:nvSpPr>
            <p:cNvPr id="19" name="Shape 16"/>
            <p:cNvSpPr/>
            <p:nvPr/>
          </p:nvSpPr>
          <p:spPr>
            <a:xfrm>
              <a:off x="9445635" y="4082797"/>
              <a:ext cx="530352" cy="530352"/>
            </a:xfrm>
            <a:prstGeom prst="ellipse">
              <a:avLst/>
            </a:prstGeom>
            <a:solidFill>
              <a:srgbClr val="ECEBFF"/>
            </a:solidFill>
            <a:ln w="12700">
              <a:solidFill>
                <a:srgbClr val="ECEBFF">
                  <a:alpha val="0"/>
                </a:srgbClr>
              </a:solidFill>
              <a:prstDash val="solid"/>
            </a:ln>
          </p:spPr>
          <p:txBody>
            <a:bodyPr/>
            <a:lstStyle/>
            <a:p>
              <a:endParaRPr lang="en-IE"/>
            </a:p>
          </p:txBody>
        </p:sp>
        <p:sp>
          <p:nvSpPr>
            <p:cNvPr id="20" name="Text 17"/>
            <p:cNvSpPr/>
            <p:nvPr/>
          </p:nvSpPr>
          <p:spPr>
            <a:xfrm>
              <a:off x="9515975" y="4134729"/>
              <a:ext cx="420624" cy="411480"/>
            </a:xfrm>
            <a:prstGeom prst="rect">
              <a:avLst/>
            </a:prstGeom>
            <a:noFill/>
            <a:ln/>
          </p:spPr>
          <p:txBody>
            <a:bodyPr wrap="square" lIns="0" tIns="0" rIns="0" bIns="0" rtlCol="0" anchor="ctr">
              <a:normAutofit/>
            </a:bodyPr>
            <a:lstStyle/>
            <a:p>
              <a:pPr marL="0" indent="0" algn="ctr">
                <a:buNone/>
              </a:pPr>
              <a:r>
                <a:rPr lang="en-US" sz="2200" dirty="0">
                  <a:solidFill>
                    <a:srgbClr val="1D3D9C"/>
                  </a:solidFill>
                  <a:latin typeface="Aptos" pitchFamily="34" charset="0"/>
                  <a:ea typeface="Aptos" pitchFamily="34" charset="-122"/>
                  <a:cs typeface="Aptos" pitchFamily="34" charset="-120"/>
                </a:rPr>
                <a:t>⚠</a:t>
              </a:r>
              <a:endParaRPr lang="en-US" sz="2200" dirty="0"/>
            </a:p>
          </p:txBody>
        </p:sp>
        <p:sp>
          <p:nvSpPr>
            <p:cNvPr id="21" name="Text 18"/>
            <p:cNvSpPr/>
            <p:nvPr/>
          </p:nvSpPr>
          <p:spPr>
            <a:xfrm>
              <a:off x="10368578" y="4217939"/>
              <a:ext cx="1015702" cy="404588"/>
            </a:xfrm>
            <a:prstGeom prst="rect">
              <a:avLst/>
            </a:prstGeom>
            <a:noFill/>
            <a:ln/>
          </p:spPr>
          <p:txBody>
            <a:bodyPr wrap="square" lIns="0" tIns="0" rIns="0" bIns="0" rtlCol="0" anchor="t">
              <a:noAutofit/>
            </a:bodyPr>
            <a:lstStyle/>
            <a:p>
              <a:pPr marL="0" indent="0" algn="l">
                <a:buNone/>
              </a:pPr>
              <a:r>
                <a:rPr lang="en-US" b="1" dirty="0">
                  <a:solidFill>
                    <a:srgbClr val="1D3D9C"/>
                  </a:solidFill>
                  <a:latin typeface="Aptos" pitchFamily="34" charset="0"/>
                  <a:ea typeface="Aptos" pitchFamily="34" charset="-122"/>
                  <a:cs typeface="Aptos" pitchFamily="34" charset="-120"/>
                </a:rPr>
                <a:t>Alerts</a:t>
              </a:r>
              <a:endParaRPr lang="en-US" dirty="0"/>
            </a:p>
          </p:txBody>
        </p:sp>
        <p:sp>
          <p:nvSpPr>
            <p:cNvPr id="22" name="Text 19"/>
            <p:cNvSpPr/>
            <p:nvPr/>
          </p:nvSpPr>
          <p:spPr>
            <a:xfrm>
              <a:off x="9582911" y="4790223"/>
              <a:ext cx="2240281" cy="918973"/>
            </a:xfrm>
            <a:prstGeom prst="rect">
              <a:avLst/>
            </a:prstGeom>
            <a:noFill/>
            <a:ln/>
          </p:spPr>
          <p:txBody>
            <a:bodyPr wrap="square" lIns="0" tIns="0" rIns="0" bIns="0" rtlCol="0" anchor="t">
              <a:normAutofit/>
            </a:bodyPr>
            <a:lstStyle/>
            <a:p>
              <a:pPr marL="0" indent="0" algn="l">
                <a:buNone/>
              </a:pPr>
              <a:r>
                <a:rPr lang="en-US" sz="1600" dirty="0">
                  <a:solidFill>
                    <a:srgbClr val="5F6375"/>
                  </a:solidFill>
                  <a:latin typeface="Aptos" pitchFamily="34" charset="0"/>
                  <a:ea typeface="Aptos" pitchFamily="34" charset="-122"/>
                  <a:cs typeface="Aptos" pitchFamily="34" charset="-120"/>
                </a:rPr>
                <a:t>Uses a single-colour LED and online phone alerts; buzzer optional.</a:t>
              </a:r>
              <a:endParaRPr lang="en-US" sz="1600" dirty="0"/>
            </a:p>
          </p:txBody>
        </p:sp>
      </p:grpSp>
      <p:grpSp>
        <p:nvGrpSpPr>
          <p:cNvPr id="33" name="Group 32">
            <a:extLst>
              <a:ext uri="{FF2B5EF4-FFF2-40B4-BE49-F238E27FC236}">
                <a16:creationId xmlns:a16="http://schemas.microsoft.com/office/drawing/2014/main" id="{5A66D382-E3E3-9C5D-23E5-4A63E50CD3DE}"/>
              </a:ext>
            </a:extLst>
          </p:cNvPr>
          <p:cNvGrpSpPr/>
          <p:nvPr/>
        </p:nvGrpSpPr>
        <p:grpSpPr>
          <a:xfrm>
            <a:off x="4021923" y="5934456"/>
            <a:ext cx="7691540" cy="747727"/>
            <a:chOff x="4021923" y="5934456"/>
            <a:chExt cx="7691540" cy="747727"/>
          </a:xfrm>
        </p:grpSpPr>
        <p:sp>
          <p:nvSpPr>
            <p:cNvPr id="23" name="Shape 20"/>
            <p:cNvSpPr/>
            <p:nvPr/>
          </p:nvSpPr>
          <p:spPr>
            <a:xfrm>
              <a:off x="4021923" y="5934456"/>
              <a:ext cx="7691540" cy="667512"/>
            </a:xfrm>
            <a:prstGeom prst="roundRect">
              <a:avLst>
                <a:gd name="adj" fmla="val 8148"/>
              </a:avLst>
            </a:prstGeom>
            <a:solidFill>
              <a:srgbClr val="FFFFFF"/>
            </a:solidFill>
            <a:ln w="8890">
              <a:solidFill>
                <a:srgbClr val="E3DDF0"/>
              </a:solidFill>
              <a:prstDash val="solid"/>
            </a:ln>
            <a:effectLst>
              <a:outerShdw blurRad="25400" dist="50800" dir="2700000" algn="bl" rotWithShape="0">
                <a:srgbClr val="B7AACD">
                  <a:alpha val="28000"/>
                </a:srgbClr>
              </a:outerShdw>
            </a:effectLst>
          </p:spPr>
          <p:txBody>
            <a:bodyPr/>
            <a:lstStyle/>
            <a:p>
              <a:endParaRPr lang="en-IE" dirty="0"/>
            </a:p>
          </p:txBody>
        </p:sp>
        <p:sp>
          <p:nvSpPr>
            <p:cNvPr id="24" name="Shape 21"/>
            <p:cNvSpPr/>
            <p:nvPr/>
          </p:nvSpPr>
          <p:spPr>
            <a:xfrm>
              <a:off x="4142232" y="6003036"/>
              <a:ext cx="530352" cy="530352"/>
            </a:xfrm>
            <a:prstGeom prst="ellipse">
              <a:avLst/>
            </a:prstGeom>
            <a:solidFill>
              <a:srgbClr val="ECEBFF"/>
            </a:solidFill>
            <a:ln w="12700">
              <a:solidFill>
                <a:srgbClr val="ECEBFF">
                  <a:alpha val="0"/>
                </a:srgbClr>
              </a:solidFill>
              <a:prstDash val="solid"/>
            </a:ln>
          </p:spPr>
          <p:txBody>
            <a:bodyPr/>
            <a:lstStyle/>
            <a:p>
              <a:endParaRPr lang="en-IE"/>
            </a:p>
          </p:txBody>
        </p:sp>
        <p:sp>
          <p:nvSpPr>
            <p:cNvPr id="25" name="Text 22"/>
            <p:cNvSpPr/>
            <p:nvPr/>
          </p:nvSpPr>
          <p:spPr>
            <a:xfrm>
              <a:off x="4207647" y="6071616"/>
              <a:ext cx="420624" cy="411480"/>
            </a:xfrm>
            <a:prstGeom prst="rect">
              <a:avLst/>
            </a:prstGeom>
            <a:noFill/>
            <a:ln/>
          </p:spPr>
          <p:txBody>
            <a:bodyPr wrap="square" lIns="0" tIns="0" rIns="0" bIns="0" rtlCol="0" anchor="ctr">
              <a:normAutofit/>
            </a:bodyPr>
            <a:lstStyle/>
            <a:p>
              <a:pPr marL="0" indent="0" algn="ctr">
                <a:buNone/>
              </a:pPr>
              <a:r>
                <a:rPr lang="en-US" sz="2200" dirty="0">
                  <a:solidFill>
                    <a:srgbClr val="1D3D9C"/>
                  </a:solidFill>
                  <a:latin typeface="Aptos" pitchFamily="34" charset="0"/>
                  <a:ea typeface="Aptos" pitchFamily="34" charset="-122"/>
                  <a:cs typeface="Aptos" pitchFamily="34" charset="-120"/>
                </a:rPr>
                <a:t>✚</a:t>
              </a:r>
              <a:endParaRPr lang="en-US" sz="2200" dirty="0"/>
            </a:p>
          </p:txBody>
        </p:sp>
        <p:sp>
          <p:nvSpPr>
            <p:cNvPr id="26" name="Text 23"/>
            <p:cNvSpPr/>
            <p:nvPr/>
          </p:nvSpPr>
          <p:spPr>
            <a:xfrm>
              <a:off x="4829468" y="6017572"/>
              <a:ext cx="1691640" cy="292608"/>
            </a:xfrm>
            <a:prstGeom prst="rect">
              <a:avLst/>
            </a:prstGeom>
            <a:noFill/>
            <a:ln/>
          </p:spPr>
          <p:txBody>
            <a:bodyPr wrap="square" lIns="0" tIns="0" rIns="0" bIns="0" rtlCol="0" anchor="t">
              <a:normAutofit/>
            </a:bodyPr>
            <a:lstStyle/>
            <a:p>
              <a:pPr marL="0" indent="0" algn="l">
                <a:buNone/>
              </a:pPr>
              <a:r>
                <a:rPr lang="en-US" sz="1750" b="1" dirty="0">
                  <a:solidFill>
                    <a:srgbClr val="1D3D9C"/>
                  </a:solidFill>
                  <a:latin typeface="Aptos" pitchFamily="34" charset="0"/>
                  <a:ea typeface="Aptos" pitchFamily="34" charset="-122"/>
                  <a:cs typeface="Aptos" pitchFamily="34" charset="-120"/>
                </a:rPr>
                <a:t>Why It Matters</a:t>
              </a:r>
              <a:endParaRPr lang="en-US" sz="1750" dirty="0"/>
            </a:p>
          </p:txBody>
        </p:sp>
        <p:sp>
          <p:nvSpPr>
            <p:cNvPr id="27" name="Text 24"/>
            <p:cNvSpPr/>
            <p:nvPr/>
          </p:nvSpPr>
          <p:spPr>
            <a:xfrm>
              <a:off x="6076187" y="6257397"/>
              <a:ext cx="5549763" cy="424786"/>
            </a:xfrm>
            <a:prstGeom prst="rect">
              <a:avLst/>
            </a:prstGeom>
            <a:noFill/>
            <a:ln/>
          </p:spPr>
          <p:txBody>
            <a:bodyPr wrap="square" lIns="0" tIns="0" rIns="0" bIns="0" rtlCol="0" anchor="t">
              <a:normAutofit/>
            </a:bodyPr>
            <a:lstStyle/>
            <a:p>
              <a:r>
                <a:rPr lang="en-IE" dirty="0">
                  <a:solidFill>
                    <a:srgbClr val="5E6373"/>
                  </a:solidFill>
                </a:rPr>
                <a:t>Less manual work.   Actionable alerts only</a:t>
              </a:r>
              <a:r>
                <a:rPr lang="en-IE" dirty="0">
                  <a:solidFill>
                    <a:schemeClr val="accent1">
                      <a:lumMod val="75000"/>
                    </a:schemeClr>
                  </a:solidFill>
                </a:rPr>
                <a:t>.</a:t>
              </a:r>
              <a:endParaRPr lang="ru-RU" dirty="0">
                <a:solidFill>
                  <a:schemeClr val="accent1">
                    <a:lumMod val="75000"/>
                  </a:schemeClr>
                </a:solidFill>
              </a:endParaRPr>
            </a:p>
          </p:txBody>
        </p:sp>
      </p:grpSp>
      <p:sp>
        <p:nvSpPr>
          <p:cNvPr id="29" name="Shape 20">
            <a:extLst>
              <a:ext uri="{FF2B5EF4-FFF2-40B4-BE49-F238E27FC236}">
                <a16:creationId xmlns:a16="http://schemas.microsoft.com/office/drawing/2014/main" id="{A6127068-4B25-9293-33A4-97EF49858F13}"/>
              </a:ext>
            </a:extLst>
          </p:cNvPr>
          <p:cNvSpPr/>
          <p:nvPr/>
        </p:nvSpPr>
        <p:spPr>
          <a:xfrm>
            <a:off x="3961638" y="1570948"/>
            <a:ext cx="7795260" cy="2074581"/>
          </a:xfrm>
          <a:prstGeom prst="roundRect">
            <a:avLst>
              <a:gd name="adj" fmla="val 8148"/>
            </a:avLst>
          </a:prstGeom>
          <a:solidFill>
            <a:srgbClr val="FFFFFF"/>
          </a:solidFill>
          <a:ln w="8890">
            <a:solidFill>
              <a:srgbClr val="E3DDF0"/>
            </a:solidFill>
            <a:prstDash val="solid"/>
          </a:ln>
          <a:effectLst>
            <a:outerShdw blurRad="533400" dir="3480000" algn="bl" rotWithShape="0">
              <a:srgbClr val="B7AACD">
                <a:alpha val="74000"/>
              </a:srgbClr>
            </a:outerShdw>
          </a:effectLst>
        </p:spPr>
        <p:txBody>
          <a:bodyPr/>
          <a:lstStyle/>
          <a:p>
            <a:pPr>
              <a:lnSpc>
                <a:spcPct val="150000"/>
              </a:lnSpc>
            </a:pPr>
            <a:r>
              <a:rPr lang="en-US" b="1" dirty="0">
                <a:solidFill>
                  <a:schemeClr val="accent1">
                    <a:lumMod val="75000"/>
                  </a:schemeClr>
                </a:solidFill>
              </a:rPr>
              <a:t>Problem</a:t>
            </a:r>
          </a:p>
          <a:p>
            <a:r>
              <a:rPr lang="en-US" sz="1600" dirty="0">
                <a:solidFill>
                  <a:srgbClr val="5E6373"/>
                </a:solidFill>
              </a:rPr>
              <a:t>• </a:t>
            </a:r>
            <a:r>
              <a:rPr lang="en-US" b="1" dirty="0">
                <a:solidFill>
                  <a:srgbClr val="5E6373"/>
                </a:solidFill>
              </a:rPr>
              <a:t>Loss of Efficacy: </a:t>
            </a:r>
            <a:r>
              <a:rPr lang="en-US" dirty="0">
                <a:solidFill>
                  <a:srgbClr val="5E6373"/>
                </a:solidFill>
              </a:rPr>
              <a:t>Sensitive controlled drugs (Morphine, Fentanyl) degrade when exposed to heat.</a:t>
            </a:r>
            <a:endParaRPr lang="en-US" sz="1600" dirty="0">
              <a:solidFill>
                <a:srgbClr val="5E6373"/>
              </a:solidFill>
            </a:endParaRPr>
          </a:p>
          <a:p>
            <a:r>
              <a:rPr lang="en-US" dirty="0">
                <a:solidFill>
                  <a:srgbClr val="5E6373"/>
                </a:solidFill>
              </a:rPr>
              <a:t>• </a:t>
            </a:r>
            <a:r>
              <a:rPr lang="en-US" b="1" dirty="0">
                <a:solidFill>
                  <a:srgbClr val="5E6373"/>
                </a:solidFill>
              </a:rPr>
              <a:t>Heat Risk: </a:t>
            </a:r>
            <a:r>
              <a:rPr lang="en-US" dirty="0">
                <a:solidFill>
                  <a:srgbClr val="5E6373"/>
                </a:solidFill>
              </a:rPr>
              <a:t>Ambulance storage temperatures often exceed safe limits.</a:t>
            </a:r>
            <a:endParaRPr lang="en-US" sz="1600" dirty="0">
              <a:solidFill>
                <a:srgbClr val="5E6373"/>
              </a:solidFill>
            </a:endParaRPr>
          </a:p>
          <a:p>
            <a:r>
              <a:rPr lang="en-US" sz="1600" dirty="0">
                <a:solidFill>
                  <a:srgbClr val="5E6373"/>
                </a:solidFill>
              </a:rPr>
              <a:t>• </a:t>
            </a:r>
            <a:r>
              <a:rPr lang="en-US" b="1" dirty="0">
                <a:solidFill>
                  <a:srgbClr val="5E6373"/>
                </a:solidFill>
              </a:rPr>
              <a:t>The Blind Spot: </a:t>
            </a:r>
            <a:r>
              <a:rPr lang="en-US" dirty="0">
                <a:solidFill>
                  <a:srgbClr val="5E6373"/>
                </a:solidFill>
              </a:rPr>
              <a:t>Without tracking, it’s impossible to know exposure duration</a:t>
            </a:r>
            <a:r>
              <a:rPr lang="en-US" sz="1600" dirty="0">
                <a:solidFill>
                  <a:srgbClr val="5E6373"/>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F938F667-CB45-43DF-90B4-01784BE0A6F4}"/>
              </a:ext>
            </a:extLst>
          </p:cNvPr>
          <p:cNvCxnSpPr>
            <a:stCxn id="12" idx="2"/>
            <a:endCxn id="14" idx="0"/>
          </p:cNvCxnSpPr>
          <p:nvPr/>
        </p:nvCxnSpPr>
        <p:spPr>
          <a:xfrm flipH="1">
            <a:off x="10839450" y="4314825"/>
            <a:ext cx="90488" cy="685800"/>
          </a:xfrm>
          <a:prstGeom prst="straightConnector1">
            <a:avLst/>
          </a:prstGeom>
          <a:ln w="23813">
            <a:solidFill>
              <a:srgbClr val="7B8596"/>
            </a:solidFill>
            <a:prstDash val="dash"/>
          </a:ln>
        </p:spPr>
      </p:cxnSp>
      <p:cxnSp>
        <p:nvCxnSpPr>
          <p:cNvPr id="18" name="Straight Arrow Connector 17">
            <a:extLst>
              <a:ext uri="{FF2B5EF4-FFF2-40B4-BE49-F238E27FC236}">
                <a16:creationId xmlns:a16="http://schemas.microsoft.com/office/drawing/2014/main" id="{D9CF3C70-DD31-4B24-9E0F-4924762981C8}"/>
              </a:ext>
            </a:extLst>
          </p:cNvPr>
          <p:cNvCxnSpPr>
            <a:stCxn id="13" idx="2"/>
            <a:endCxn id="12" idx="0"/>
          </p:cNvCxnSpPr>
          <p:nvPr/>
        </p:nvCxnSpPr>
        <p:spPr>
          <a:xfrm>
            <a:off x="10929938" y="2924175"/>
            <a:ext cx="0" cy="485775"/>
          </a:xfrm>
          <a:prstGeom prst="straightConnector1">
            <a:avLst/>
          </a:prstGeom>
          <a:ln w="23813">
            <a:solidFill>
              <a:srgbClr val="8A7AB7"/>
            </a:solidFill>
            <a:prstDash val="solid"/>
          </a:ln>
        </p:spPr>
      </p:cxnSp>
      <p:cxnSp>
        <p:nvCxnSpPr>
          <p:cNvPr id="17" name="Straight Arrow Connector 16">
            <a:extLst>
              <a:ext uri="{FF2B5EF4-FFF2-40B4-BE49-F238E27FC236}">
                <a16:creationId xmlns:a16="http://schemas.microsoft.com/office/drawing/2014/main" id="{C43701C8-883F-4DD4-8998-C4E94A4F8557}"/>
              </a:ext>
            </a:extLst>
          </p:cNvPr>
          <p:cNvCxnSpPr>
            <a:stCxn id="11" idx="3"/>
            <a:endCxn id="12" idx="1"/>
          </p:cNvCxnSpPr>
          <p:nvPr/>
        </p:nvCxnSpPr>
        <p:spPr>
          <a:xfrm>
            <a:off x="9334500" y="3862388"/>
            <a:ext cx="762000" cy="0"/>
          </a:xfrm>
          <a:prstGeom prst="straightConnector1">
            <a:avLst/>
          </a:prstGeom>
          <a:ln w="23813">
            <a:solidFill>
              <a:srgbClr val="8A7AB7"/>
            </a:solidFill>
            <a:prstDash val="solid"/>
          </a:ln>
        </p:spPr>
      </p:cxnSp>
      <p:cxnSp>
        <p:nvCxnSpPr>
          <p:cNvPr id="16" name="Elbow Connector 15">
            <a:extLst>
              <a:ext uri="{FF2B5EF4-FFF2-40B4-BE49-F238E27FC236}">
                <a16:creationId xmlns:a16="http://schemas.microsoft.com/office/drawing/2014/main" id="{5AE253C9-5ECA-4789-A730-6B060F29B951}"/>
              </a:ext>
            </a:extLst>
          </p:cNvPr>
          <p:cNvCxnSpPr>
            <a:stCxn id="10" idx="3"/>
            <a:endCxn id="11" idx="1"/>
          </p:cNvCxnSpPr>
          <p:nvPr/>
        </p:nvCxnSpPr>
        <p:spPr>
          <a:xfrm flipV="1">
            <a:off x="6619875" y="3862388"/>
            <a:ext cx="866775" cy="614363"/>
          </a:xfrm>
          <a:prstGeom prst="bentConnector3">
            <a:avLst>
              <a:gd name="adj1" fmla="val 50000"/>
            </a:avLst>
          </a:prstGeom>
          <a:ln w="23813">
            <a:solidFill>
              <a:srgbClr val="8A7AB7"/>
            </a:solidFill>
            <a:prstDash val="solid"/>
          </a:ln>
        </p:spPr>
      </p:cxnSp>
      <p:cxnSp>
        <p:nvCxnSpPr>
          <p:cNvPr id="15" name="Elbow Connector 14">
            <a:extLst>
              <a:ext uri="{FF2B5EF4-FFF2-40B4-BE49-F238E27FC236}">
                <a16:creationId xmlns:a16="http://schemas.microsoft.com/office/drawing/2014/main" id="{11108D8F-76A3-4186-9BE9-EAF220D67B31}"/>
              </a:ext>
            </a:extLst>
          </p:cNvPr>
          <p:cNvCxnSpPr>
            <a:stCxn id="9" idx="3"/>
            <a:endCxn id="11" idx="1"/>
          </p:cNvCxnSpPr>
          <p:nvPr/>
        </p:nvCxnSpPr>
        <p:spPr>
          <a:xfrm>
            <a:off x="6619875" y="3343275"/>
            <a:ext cx="866775" cy="519113"/>
          </a:xfrm>
          <a:prstGeom prst="bentConnector3">
            <a:avLst>
              <a:gd name="adj1" fmla="val 50000"/>
            </a:avLst>
          </a:prstGeom>
          <a:ln w="23813">
            <a:solidFill>
              <a:srgbClr val="8A7AB7"/>
            </a:solidFill>
            <a:prstDash val="solid"/>
          </a:ln>
        </p:spPr>
      </p:cxnSp>
      <p:sp>
        <p:nvSpPr>
          <p:cNvPr id="41" name="title">
            <a:extLst>
              <a:ext uri="{FF2B5EF4-FFF2-40B4-BE49-F238E27FC236}">
                <a16:creationId xmlns:a16="http://schemas.microsoft.com/office/drawing/2014/main" id="{1AC85DF2-5532-47FB-8CE7-F902638319CD}"/>
              </a:ext>
            </a:extLst>
          </p:cNvPr>
          <p:cNvSpPr>
            <a:spLocks noGrp="1"/>
          </p:cNvSpPr>
          <p:nvPr/>
        </p:nvSpPr>
        <p:spPr>
          <a:xfrm>
            <a:off x="495300" y="285750"/>
            <a:ext cx="7048500" cy="619125"/>
          </a:xfrm>
          <a:prstGeom prst="rect">
            <a:avLst/>
          </a:prstGeom>
          <a:noFill/>
          <a:ln w="0">
            <a:noFill/>
          </a:ln>
        </p:spPr>
        <p:txBody>
          <a:bodyPr anchor="ctr"/>
          <a:lstStyle>
            <a:defPPr>
              <a:defRPr sz="3600" b="1">
                <a:solidFill>
                  <a:srgbClr val="182D86"/>
                </a:solidFill>
                <a:latin typeface="Arial"/>
                <a:ea typeface="Arial"/>
                <a:cs typeface="Arial"/>
              </a:defRPr>
            </a:defPPr>
          </a:lstStyle>
          <a:p>
            <a:pPr>
              <a:defRPr sz="3600" b="1">
                <a:solidFill>
                  <a:srgbClr val="182D86"/>
                </a:solidFill>
                <a:latin typeface="Arial"/>
                <a:ea typeface="Arial"/>
                <a:cs typeface="Arial"/>
              </a:defRPr>
            </a:pPr>
            <a:r>
              <a:rPr sz="3600" b="1">
                <a:solidFill>
                  <a:srgbClr val="182D86"/>
                </a:solidFill>
                <a:latin typeface="Arial"/>
                <a:ea typeface="Arial"/>
                <a:cs typeface="Arial"/>
              </a:rPr>
              <a:t>How TempSafe works</a:t>
            </a:r>
          </a:p>
        </p:txBody>
      </p:sp>
      <p:sp>
        <p:nvSpPr>
          <p:cNvPr id="2" name="context">
            <a:extLst>
              <a:ext uri="{FF2B5EF4-FFF2-40B4-BE49-F238E27FC236}">
                <a16:creationId xmlns:a16="http://schemas.microsoft.com/office/drawing/2014/main" id="{7AF9BD76-3882-4C35-827D-901D3833F58A}"/>
              </a:ext>
            </a:extLst>
          </p:cNvPr>
          <p:cNvSpPr>
            <a:spLocks noGrp="1"/>
          </p:cNvSpPr>
          <p:nvPr/>
        </p:nvSpPr>
        <p:spPr>
          <a:xfrm>
            <a:off x="8001000" y="371475"/>
            <a:ext cx="3714750" cy="495300"/>
          </a:xfrm>
          <a:prstGeom prst="rect">
            <a:avLst/>
          </a:prstGeom>
          <a:noFill/>
          <a:ln w="0">
            <a:noFill/>
          </a:ln>
        </p:spPr>
        <p:txBody>
          <a:bodyPr anchor="ctr"/>
          <a:lstStyle>
            <a:defPPr>
              <a:defRPr sz="1350" b="0">
                <a:solidFill>
                  <a:srgbClr val="737B91"/>
                </a:solidFill>
                <a:latin typeface="Arial"/>
                <a:ea typeface="Arial"/>
                <a:cs typeface="Arial"/>
              </a:defRPr>
            </a:defPPr>
          </a:lstStyle>
          <a:p>
            <a:pPr>
              <a:defRPr sz="1350" b="0">
                <a:solidFill>
                  <a:srgbClr val="737B91"/>
                </a:solidFill>
                <a:latin typeface="Arial"/>
                <a:ea typeface="Arial"/>
                <a:cs typeface="Arial"/>
              </a:defRPr>
            </a:pPr>
            <a:r>
              <a:rPr sz="1350" b="0">
                <a:solidFill>
                  <a:srgbClr val="737B91"/>
                </a:solidFill>
                <a:latin typeface="Arial"/>
                <a:ea typeface="Arial"/>
                <a:cs typeface="Arial"/>
              </a:rPr>
              <a:t>One prototype box · wired components</a:t>
            </a:r>
          </a:p>
          <a:p>
            <a:pPr>
              <a:defRPr sz="1350" b="0">
                <a:solidFill>
                  <a:srgbClr val="737B91"/>
                </a:solidFill>
                <a:latin typeface="Arial"/>
                <a:ea typeface="Arial"/>
                <a:cs typeface="Arial"/>
              </a:defRPr>
            </a:pPr>
            <a:r>
              <a:rPr sz="1350" b="0">
                <a:solidFill>
                  <a:srgbClr val="737B91"/>
                </a:solidFill>
                <a:latin typeface="Arial"/>
                <a:ea typeface="Arial"/>
                <a:cs typeface="Arial"/>
              </a:rPr>
              <a:t>Remote access over Wi-Fi</a:t>
            </a:r>
          </a:p>
        </p:txBody>
      </p:sp>
      <p:pic>
        <p:nvPicPr>
          <p:cNvPr id="3" name="Picture 2">
            <a:extLst>
              <a:ext uri="{FF2B5EF4-FFF2-40B4-BE49-F238E27FC236}">
                <a16:creationId xmlns:a16="http://schemas.microsoft.com/office/drawing/2014/main" id="{45E8BC48-1AF1-4567-80FB-02115C73B8A9}"/>
              </a:ext>
            </a:extLst>
          </p:cNvPr>
          <p:cNvPicPr>
            <a:picLocks noChangeAspect="1"/>
          </p:cNvPicPr>
          <p:nvPr/>
        </p:nvPicPr>
        <p:blipFill>
          <a:blip r:embed="rId3"/>
          <a:srcRect t="1111" b="1111"/>
          <a:stretch>
            <a:fillRect/>
          </a:stretch>
        </p:blipFill>
        <p:spPr>
          <a:xfrm>
            <a:off x="495300" y="2143125"/>
            <a:ext cx="4000500" cy="2933700"/>
          </a:xfrm>
          <a:prstGeom prst="rect">
            <a:avLst/>
          </a:prstGeom>
        </p:spPr>
      </p:pic>
      <p:sp>
        <p:nvSpPr>
          <p:cNvPr id="4" name="photo-heading">
            <a:extLst>
              <a:ext uri="{FF2B5EF4-FFF2-40B4-BE49-F238E27FC236}">
                <a16:creationId xmlns:a16="http://schemas.microsoft.com/office/drawing/2014/main" id="{36775937-0C3D-4099-9496-78DB1E8B7080}"/>
              </a:ext>
            </a:extLst>
          </p:cNvPr>
          <p:cNvSpPr>
            <a:spLocks noGrp="1"/>
          </p:cNvSpPr>
          <p:nvPr/>
        </p:nvSpPr>
        <p:spPr>
          <a:xfrm>
            <a:off x="514350" y="1800225"/>
            <a:ext cx="4000500" cy="266700"/>
          </a:xfrm>
          <a:prstGeom prst="rect">
            <a:avLst/>
          </a:prstGeom>
          <a:noFill/>
          <a:ln w="0">
            <a:noFill/>
          </a:ln>
        </p:spPr>
        <p:txBody>
          <a:bodyPr anchor="ctr"/>
          <a:lstStyle>
            <a:defPPr>
              <a:defRPr sz="1350" b="1">
                <a:solidFill>
                  <a:srgbClr val="737B91"/>
                </a:solidFill>
                <a:latin typeface="Arial"/>
                <a:ea typeface="Arial"/>
                <a:cs typeface="Arial"/>
              </a:defRPr>
            </a:defPPr>
          </a:lstStyle>
          <a:p>
            <a:pPr>
              <a:defRPr sz="1350" b="1">
                <a:solidFill>
                  <a:srgbClr val="737B91"/>
                </a:solidFill>
                <a:latin typeface="Arial"/>
                <a:ea typeface="Arial"/>
                <a:cs typeface="Arial"/>
              </a:defRPr>
            </a:pPr>
            <a:r>
              <a:rPr sz="1350" b="1">
                <a:solidFill>
                  <a:srgbClr val="737B91"/>
                </a:solidFill>
                <a:latin typeface="Arial"/>
                <a:ea typeface="Arial"/>
                <a:cs typeface="Arial"/>
              </a:rPr>
              <a:t>PROTOTYPE CONCEPT</a:t>
            </a:r>
          </a:p>
        </p:txBody>
      </p:sp>
      <p:sp>
        <p:nvSpPr>
          <p:cNvPr id="5" name="image-disclosure">
            <a:extLst>
              <a:ext uri="{FF2B5EF4-FFF2-40B4-BE49-F238E27FC236}">
                <a16:creationId xmlns:a16="http://schemas.microsoft.com/office/drawing/2014/main" id="{BEE3B7E9-2687-4CC6-A4DA-1ABD1480EBE0}"/>
              </a:ext>
            </a:extLst>
          </p:cNvPr>
          <p:cNvSpPr>
            <a:spLocks noGrp="1"/>
          </p:cNvSpPr>
          <p:nvPr/>
        </p:nvSpPr>
        <p:spPr>
          <a:xfrm>
            <a:off x="514350" y="5162550"/>
            <a:ext cx="4191000" cy="276225"/>
          </a:xfrm>
          <a:prstGeom prst="rect">
            <a:avLst/>
          </a:prstGeom>
          <a:noFill/>
          <a:ln w="0">
            <a:noFill/>
          </a:ln>
        </p:spPr>
        <p:txBody>
          <a:bodyPr anchor="ctr"/>
          <a:lstStyle>
            <a:defPPr>
              <a:defRPr sz="1125" b="0">
                <a:solidFill>
                  <a:srgbClr val="737B91"/>
                </a:solidFill>
                <a:latin typeface="Arial"/>
                <a:ea typeface="Arial"/>
                <a:cs typeface="Arial"/>
              </a:defRPr>
            </a:defPPr>
          </a:lstStyle>
          <a:p>
            <a:pPr>
              <a:defRPr sz="1125" b="0">
                <a:solidFill>
                  <a:srgbClr val="737B91"/>
                </a:solidFill>
                <a:latin typeface="Arial"/>
                <a:ea typeface="Arial"/>
                <a:cs typeface="Arial"/>
              </a:defRPr>
            </a:pPr>
            <a:r>
              <a:rPr sz="1100" b="0" dirty="0">
                <a:solidFill>
                  <a:srgbClr val="737B91"/>
                </a:solidFill>
                <a:latin typeface="Arial"/>
                <a:ea typeface="Arial"/>
                <a:cs typeface="Arial"/>
              </a:rPr>
              <a:t>AI-generated illustration</a:t>
            </a:r>
          </a:p>
        </p:txBody>
      </p:sp>
      <p:sp>
        <p:nvSpPr>
          <p:cNvPr id="6" name="diagram-heading">
            <a:extLst>
              <a:ext uri="{FF2B5EF4-FFF2-40B4-BE49-F238E27FC236}">
                <a16:creationId xmlns:a16="http://schemas.microsoft.com/office/drawing/2014/main" id="{1456C31B-4195-4231-8A4C-FFCB6A72794B}"/>
              </a:ext>
            </a:extLst>
          </p:cNvPr>
          <p:cNvSpPr>
            <a:spLocks noGrp="1"/>
          </p:cNvSpPr>
          <p:nvPr/>
        </p:nvSpPr>
        <p:spPr>
          <a:xfrm>
            <a:off x="4953000" y="1800225"/>
            <a:ext cx="6477000" cy="266700"/>
          </a:xfrm>
          <a:prstGeom prst="rect">
            <a:avLst/>
          </a:prstGeom>
          <a:noFill/>
          <a:ln w="0">
            <a:noFill/>
          </a:ln>
        </p:spPr>
        <p:txBody>
          <a:bodyPr anchor="ctr"/>
          <a:lstStyle>
            <a:defPPr>
              <a:defRPr sz="1350" b="1">
                <a:solidFill>
                  <a:srgbClr val="737B91"/>
                </a:solidFill>
                <a:latin typeface="Arial"/>
                <a:ea typeface="Arial"/>
                <a:cs typeface="Arial"/>
              </a:defRPr>
            </a:defPPr>
          </a:lstStyle>
          <a:p>
            <a:pPr>
              <a:defRPr sz="1350" b="1">
                <a:solidFill>
                  <a:srgbClr val="737B91"/>
                </a:solidFill>
                <a:latin typeface="Arial"/>
                <a:ea typeface="Arial"/>
                <a:cs typeface="Arial"/>
              </a:defRPr>
            </a:pPr>
            <a:r>
              <a:rPr sz="1350" b="1">
                <a:solidFill>
                  <a:srgbClr val="737B91"/>
                </a:solidFill>
                <a:latin typeface="Arial"/>
                <a:ea typeface="Arial"/>
                <a:cs typeface="Arial"/>
              </a:rPr>
              <a:t>COMPONENT CONNECTIONS</a:t>
            </a:r>
          </a:p>
        </p:txBody>
      </p:sp>
      <p:sp>
        <p:nvSpPr>
          <p:cNvPr id="7" name="plastic-box-group">
            <a:extLst>
              <a:ext uri="{FF2B5EF4-FFF2-40B4-BE49-F238E27FC236}">
                <a16:creationId xmlns:a16="http://schemas.microsoft.com/office/drawing/2014/main" id="{7935FBE1-9F73-4B6A-9098-0D2453EBF2DB}"/>
              </a:ext>
            </a:extLst>
          </p:cNvPr>
          <p:cNvSpPr>
            <a:spLocks noGrp="1"/>
          </p:cNvSpPr>
          <p:nvPr/>
        </p:nvSpPr>
        <p:spPr>
          <a:xfrm>
            <a:off x="4857750" y="2419350"/>
            <a:ext cx="1905000" cy="2590800"/>
          </a:xfrm>
          <a:prstGeom prst="roundRect">
            <a:avLst>
              <a:gd name="adj" fmla="val 4000"/>
            </a:avLst>
          </a:prstGeom>
          <a:solidFill>
            <a:srgbClr val="F1F8F7"/>
          </a:solidFill>
          <a:ln w="14288">
            <a:solidFill>
              <a:srgbClr val="A8CCC5"/>
            </a:solidFill>
          </a:ln>
        </p:spPr>
        <p:txBody>
          <a:bodyPr/>
          <a:lstStyle/>
          <a:p>
            <a:endParaRPr lang="en-IE" dirty="0"/>
          </a:p>
        </p:txBody>
      </p:sp>
      <p:sp>
        <p:nvSpPr>
          <p:cNvPr id="8" name="box-label">
            <a:extLst>
              <a:ext uri="{FF2B5EF4-FFF2-40B4-BE49-F238E27FC236}">
                <a16:creationId xmlns:a16="http://schemas.microsoft.com/office/drawing/2014/main" id="{2F894E3A-6697-4C24-A5C8-82B797A19FC0}"/>
              </a:ext>
            </a:extLst>
          </p:cNvPr>
          <p:cNvSpPr>
            <a:spLocks noGrp="1"/>
          </p:cNvSpPr>
          <p:nvPr/>
        </p:nvSpPr>
        <p:spPr>
          <a:xfrm>
            <a:off x="5019675" y="2486025"/>
            <a:ext cx="1619250" cy="295275"/>
          </a:xfrm>
          <a:prstGeom prst="rect">
            <a:avLst/>
          </a:prstGeom>
          <a:noFill/>
          <a:ln w="0">
            <a:noFill/>
          </a:ln>
        </p:spPr>
        <p:txBody>
          <a:bodyPr anchor="ctr"/>
          <a:lstStyle>
            <a:defPPr>
              <a:defRPr sz="1500" b="1">
                <a:solidFill>
                  <a:srgbClr val="336B62"/>
                </a:solidFill>
                <a:latin typeface="Arial"/>
                <a:ea typeface="Arial"/>
                <a:cs typeface="Arial"/>
              </a:defRPr>
            </a:defPPr>
          </a:lstStyle>
          <a:p>
            <a:pPr>
              <a:defRPr sz="1500" b="1">
                <a:solidFill>
                  <a:srgbClr val="336B62"/>
                </a:solidFill>
                <a:latin typeface="Arial"/>
                <a:ea typeface="Arial"/>
                <a:cs typeface="Arial"/>
              </a:defRPr>
            </a:pPr>
            <a:r>
              <a:rPr sz="1500" b="1">
                <a:solidFill>
                  <a:srgbClr val="336B62"/>
                </a:solidFill>
                <a:latin typeface="Arial"/>
                <a:ea typeface="Arial"/>
                <a:cs typeface="Arial"/>
              </a:rPr>
              <a:t>Plastic box</a:t>
            </a:r>
          </a:p>
        </p:txBody>
      </p:sp>
      <p:sp>
        <p:nvSpPr>
          <p:cNvPr id="9" name="sensor">
            <a:extLst>
              <a:ext uri="{FF2B5EF4-FFF2-40B4-BE49-F238E27FC236}">
                <a16:creationId xmlns:a16="http://schemas.microsoft.com/office/drawing/2014/main" id="{0E5F9939-147B-4648-A4BB-F4633D5859AE}"/>
              </a:ext>
            </a:extLst>
          </p:cNvPr>
          <p:cNvSpPr>
            <a:spLocks noGrp="1"/>
          </p:cNvSpPr>
          <p:nvPr/>
        </p:nvSpPr>
        <p:spPr>
          <a:xfrm>
            <a:off x="5000625" y="2971800"/>
            <a:ext cx="1619250" cy="742950"/>
          </a:xfrm>
          <a:prstGeom prst="roundRect">
            <a:avLst>
              <a:gd name="adj" fmla="val 10256"/>
            </a:avLst>
          </a:prstGeom>
          <a:solidFill>
            <a:srgbClr val="FFFFFF"/>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SCD-41</a:t>
            </a:r>
          </a:p>
          <a:p>
            <a:pPr algn="ctr">
              <a:defRPr sz="1350" b="1">
                <a:solidFill>
                  <a:srgbClr val="182D86"/>
                </a:solidFill>
                <a:latin typeface="Arial"/>
                <a:ea typeface="Arial"/>
                <a:cs typeface="Arial"/>
              </a:defRPr>
            </a:pPr>
            <a:r>
              <a:rPr sz="1350" b="1">
                <a:solidFill>
                  <a:srgbClr val="182D86"/>
                </a:solidFill>
                <a:latin typeface="Arial"/>
                <a:ea typeface="Arial"/>
                <a:cs typeface="Arial"/>
              </a:rPr>
              <a:t>Temperature sensor</a:t>
            </a:r>
          </a:p>
        </p:txBody>
      </p:sp>
      <p:sp>
        <p:nvSpPr>
          <p:cNvPr id="10" name="warning-led">
            <a:extLst>
              <a:ext uri="{FF2B5EF4-FFF2-40B4-BE49-F238E27FC236}">
                <a16:creationId xmlns:a16="http://schemas.microsoft.com/office/drawing/2014/main" id="{BADC3E0F-D0B2-4B48-911B-BC3F4C7BFF52}"/>
              </a:ext>
            </a:extLst>
          </p:cNvPr>
          <p:cNvSpPr>
            <a:spLocks noGrp="1"/>
          </p:cNvSpPr>
          <p:nvPr/>
        </p:nvSpPr>
        <p:spPr>
          <a:xfrm>
            <a:off x="5000625" y="4133850"/>
            <a:ext cx="1619250" cy="685800"/>
          </a:xfrm>
          <a:prstGeom prst="roundRect">
            <a:avLst>
              <a:gd name="adj" fmla="val 11111"/>
            </a:avLst>
          </a:prstGeom>
          <a:solidFill>
            <a:srgbClr val="FFFFFF"/>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Single-colour LED</a:t>
            </a:r>
          </a:p>
          <a:p>
            <a:pPr algn="ctr">
              <a:defRPr sz="1350" b="1">
                <a:solidFill>
                  <a:srgbClr val="182D86"/>
                </a:solidFill>
                <a:latin typeface="Arial"/>
                <a:ea typeface="Arial"/>
                <a:cs typeface="Arial"/>
              </a:defRPr>
            </a:pPr>
            <a:r>
              <a:rPr sz="1350" b="1">
                <a:solidFill>
                  <a:srgbClr val="182D86"/>
                </a:solidFill>
                <a:latin typeface="Arial"/>
                <a:ea typeface="Arial"/>
                <a:cs typeface="Arial"/>
              </a:rPr>
              <a:t>Warning light</a:t>
            </a:r>
          </a:p>
        </p:txBody>
      </p:sp>
      <p:sp>
        <p:nvSpPr>
          <p:cNvPr id="11" name="breadboard">
            <a:extLst>
              <a:ext uri="{FF2B5EF4-FFF2-40B4-BE49-F238E27FC236}">
                <a16:creationId xmlns:a16="http://schemas.microsoft.com/office/drawing/2014/main" id="{90223C3A-5CBD-4D61-807F-B376C8CBC74B}"/>
              </a:ext>
            </a:extLst>
          </p:cNvPr>
          <p:cNvSpPr>
            <a:spLocks noGrp="1"/>
          </p:cNvSpPr>
          <p:nvPr/>
        </p:nvSpPr>
        <p:spPr>
          <a:xfrm>
            <a:off x="7486650" y="3409950"/>
            <a:ext cx="1847850" cy="904875"/>
          </a:xfrm>
          <a:prstGeom prst="roundRect">
            <a:avLst>
              <a:gd name="adj" fmla="val 8421"/>
            </a:avLst>
          </a:prstGeom>
          <a:solidFill>
            <a:srgbClr val="F4F2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Breadboard</a:t>
            </a:r>
          </a:p>
          <a:p>
            <a:pPr algn="ctr">
              <a:defRPr sz="1350" b="1">
                <a:solidFill>
                  <a:srgbClr val="182D86"/>
                </a:solidFill>
                <a:latin typeface="Arial"/>
                <a:ea typeface="Arial"/>
                <a:cs typeface="Arial"/>
              </a:defRPr>
            </a:pPr>
            <a:r>
              <a:rPr sz="1350" b="1">
                <a:solidFill>
                  <a:srgbClr val="182D86"/>
                </a:solidFill>
                <a:latin typeface="Arial"/>
                <a:ea typeface="Arial"/>
                <a:cs typeface="Arial"/>
              </a:rPr>
              <a:t>Temporary connections</a:t>
            </a:r>
          </a:p>
        </p:txBody>
      </p:sp>
      <p:sp>
        <p:nvSpPr>
          <p:cNvPr id="12" name="pi400">
            <a:extLst>
              <a:ext uri="{FF2B5EF4-FFF2-40B4-BE49-F238E27FC236}">
                <a16:creationId xmlns:a16="http://schemas.microsoft.com/office/drawing/2014/main" id="{C1A154AA-890C-4504-A46A-4DFD9B3A14FD}"/>
              </a:ext>
            </a:extLst>
          </p:cNvPr>
          <p:cNvSpPr>
            <a:spLocks noGrp="1"/>
          </p:cNvSpPr>
          <p:nvPr/>
        </p:nvSpPr>
        <p:spPr>
          <a:xfrm>
            <a:off x="10096500" y="3409950"/>
            <a:ext cx="1666875" cy="904875"/>
          </a:xfrm>
          <a:prstGeom prst="roundRect">
            <a:avLst>
              <a:gd name="adj" fmla="val 8421"/>
            </a:avLst>
          </a:prstGeom>
          <a:solidFill>
            <a:srgbClr val="F4F2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Raspberry Pi 400</a:t>
            </a:r>
          </a:p>
          <a:p>
            <a:pPr algn="ctr">
              <a:defRPr sz="1350" b="1">
                <a:solidFill>
                  <a:srgbClr val="182D86"/>
                </a:solidFill>
                <a:latin typeface="Arial"/>
                <a:ea typeface="Arial"/>
                <a:cs typeface="Arial"/>
              </a:defRPr>
            </a:pPr>
            <a:r>
              <a:rPr sz="1350" b="1">
                <a:solidFill>
                  <a:srgbClr val="182D86"/>
                </a:solidFill>
                <a:latin typeface="Arial"/>
                <a:ea typeface="Arial"/>
                <a:cs typeface="Arial"/>
              </a:rPr>
              <a:t>GPIO header</a:t>
            </a:r>
          </a:p>
        </p:txBody>
      </p:sp>
      <p:sp>
        <p:nvSpPr>
          <p:cNvPr id="13" name="mains-power">
            <a:extLst>
              <a:ext uri="{FF2B5EF4-FFF2-40B4-BE49-F238E27FC236}">
                <a16:creationId xmlns:a16="http://schemas.microsoft.com/office/drawing/2014/main" id="{28ABA661-1D89-4D9B-A796-26B0C2791C71}"/>
              </a:ext>
            </a:extLst>
          </p:cNvPr>
          <p:cNvSpPr>
            <a:spLocks noGrp="1"/>
          </p:cNvSpPr>
          <p:nvPr/>
        </p:nvSpPr>
        <p:spPr>
          <a:xfrm>
            <a:off x="10096500" y="2266950"/>
            <a:ext cx="1666875" cy="657225"/>
          </a:xfrm>
          <a:prstGeom prst="roundRect">
            <a:avLst>
              <a:gd name="adj" fmla="val 11594"/>
            </a:avLst>
          </a:prstGeom>
          <a:solidFill>
            <a:srgbClr val="F1F5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USB-C power</a:t>
            </a:r>
          </a:p>
          <a:p>
            <a:pPr algn="ctr">
              <a:defRPr sz="1350" b="1">
                <a:solidFill>
                  <a:srgbClr val="182D86"/>
                </a:solidFill>
                <a:latin typeface="Arial"/>
                <a:ea typeface="Arial"/>
                <a:cs typeface="Arial"/>
              </a:defRPr>
            </a:pPr>
            <a:r>
              <a:rPr sz="1350" b="1">
                <a:solidFill>
                  <a:srgbClr val="182D86"/>
                </a:solidFill>
                <a:latin typeface="Arial"/>
                <a:ea typeface="Arial"/>
                <a:cs typeface="Arial"/>
              </a:rPr>
              <a:t>Mains supply</a:t>
            </a:r>
          </a:p>
        </p:txBody>
      </p:sp>
      <p:sp>
        <p:nvSpPr>
          <p:cNvPr id="14" name="remote-laptop">
            <a:extLst>
              <a:ext uri="{FF2B5EF4-FFF2-40B4-BE49-F238E27FC236}">
                <a16:creationId xmlns:a16="http://schemas.microsoft.com/office/drawing/2014/main" id="{454DCAEA-F7A0-4533-881F-DF40BC30B3AB}"/>
              </a:ext>
            </a:extLst>
          </p:cNvPr>
          <p:cNvSpPr>
            <a:spLocks noGrp="1"/>
          </p:cNvSpPr>
          <p:nvPr/>
        </p:nvSpPr>
        <p:spPr>
          <a:xfrm>
            <a:off x="9915525" y="5000625"/>
            <a:ext cx="1847850" cy="657225"/>
          </a:xfrm>
          <a:prstGeom prst="roundRect">
            <a:avLst>
              <a:gd name="adj" fmla="val 11594"/>
            </a:avLst>
          </a:prstGeom>
          <a:solidFill>
            <a:srgbClr val="F1F5FA"/>
          </a:solidFill>
          <a:ln w="14288">
            <a:solidFill>
              <a:srgbClr val="B9B0D1"/>
            </a:solidFill>
          </a:ln>
        </p:spPr>
        <p:txBody>
          <a:bodyPr anchor="ctr"/>
          <a:lstStyle>
            <a:defPPr algn="ctr">
              <a:defRPr sz="1350" b="1">
                <a:solidFill>
                  <a:srgbClr val="182D86"/>
                </a:solidFill>
                <a:latin typeface="Arial"/>
                <a:ea typeface="Arial"/>
                <a:cs typeface="Arial"/>
              </a:defRPr>
            </a:defPPr>
          </a:lstStyle>
          <a:p>
            <a:pPr algn="ctr">
              <a:defRPr sz="1350" b="1">
                <a:solidFill>
                  <a:srgbClr val="182D86"/>
                </a:solidFill>
                <a:latin typeface="Arial"/>
                <a:ea typeface="Arial"/>
                <a:cs typeface="Arial"/>
              </a:defRPr>
            </a:pPr>
            <a:r>
              <a:rPr sz="1350" b="1">
                <a:solidFill>
                  <a:srgbClr val="182D86"/>
                </a:solidFill>
                <a:latin typeface="Arial"/>
                <a:ea typeface="Arial"/>
                <a:cs typeface="Arial"/>
              </a:rPr>
              <a:t>Laptop</a:t>
            </a:r>
          </a:p>
          <a:p>
            <a:pPr algn="ctr">
              <a:defRPr sz="1350" b="1">
                <a:solidFill>
                  <a:srgbClr val="182D86"/>
                </a:solidFill>
                <a:latin typeface="Arial"/>
                <a:ea typeface="Arial"/>
                <a:cs typeface="Arial"/>
              </a:defRPr>
            </a:pPr>
            <a:r>
              <a:rPr sz="1350" b="1">
                <a:solidFill>
                  <a:srgbClr val="182D86"/>
                </a:solidFill>
                <a:latin typeface="Arial"/>
                <a:ea typeface="Arial"/>
                <a:cs typeface="Arial"/>
              </a:rPr>
              <a:t>Raspberry Pi Connect</a:t>
            </a:r>
          </a:p>
        </p:txBody>
      </p:sp>
      <p:sp>
        <p:nvSpPr>
          <p:cNvPr id="20" name="sensor-wire-label">
            <a:extLst>
              <a:ext uri="{FF2B5EF4-FFF2-40B4-BE49-F238E27FC236}">
                <a16:creationId xmlns:a16="http://schemas.microsoft.com/office/drawing/2014/main" id="{7AA55D15-C522-4F25-B2A0-91E989BDAC33}"/>
              </a:ext>
            </a:extLst>
          </p:cNvPr>
          <p:cNvSpPr>
            <a:spLocks noGrp="1"/>
          </p:cNvSpPr>
          <p:nvPr/>
        </p:nvSpPr>
        <p:spPr>
          <a:xfrm>
            <a:off x="6762750" y="2886075"/>
            <a:ext cx="1428750" cy="257175"/>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Power + I²C</a:t>
            </a:r>
          </a:p>
        </p:txBody>
      </p:sp>
      <p:sp>
        <p:nvSpPr>
          <p:cNvPr id="21" name="led-wire-label">
            <a:extLst>
              <a:ext uri="{FF2B5EF4-FFF2-40B4-BE49-F238E27FC236}">
                <a16:creationId xmlns:a16="http://schemas.microsoft.com/office/drawing/2014/main" id="{1E6B12AB-174E-4615-86C5-1E31C24D806A}"/>
              </a:ext>
            </a:extLst>
          </p:cNvPr>
          <p:cNvSpPr>
            <a:spLocks noGrp="1"/>
          </p:cNvSpPr>
          <p:nvPr/>
        </p:nvSpPr>
        <p:spPr>
          <a:xfrm>
            <a:off x="6753225" y="4543425"/>
            <a:ext cx="1524000" cy="257175"/>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Wires + resistor</a:t>
            </a:r>
          </a:p>
        </p:txBody>
      </p:sp>
      <p:sp>
        <p:nvSpPr>
          <p:cNvPr id="22" name="gpio-wire-label">
            <a:extLst>
              <a:ext uri="{FF2B5EF4-FFF2-40B4-BE49-F238E27FC236}">
                <a16:creationId xmlns:a16="http://schemas.microsoft.com/office/drawing/2014/main" id="{7DAD0533-600B-459C-B7D5-63E1589229AD}"/>
              </a:ext>
            </a:extLst>
          </p:cNvPr>
          <p:cNvSpPr>
            <a:spLocks noGrp="1"/>
          </p:cNvSpPr>
          <p:nvPr/>
        </p:nvSpPr>
        <p:spPr>
          <a:xfrm>
            <a:off x="9305925" y="3124200"/>
            <a:ext cx="1095375" cy="247650"/>
          </a:xfrm>
          <a:prstGeom prst="rect">
            <a:avLst/>
          </a:prstGeom>
          <a:noFill/>
          <a:ln w="0">
            <a:noFill/>
          </a:ln>
        </p:spPr>
        <p:txBody>
          <a:bodyPr anchor="ctr"/>
          <a:lstStyle>
            <a:defPPr>
              <a:defRPr sz="1125" b="0">
                <a:solidFill>
                  <a:srgbClr val="5D647A"/>
                </a:solidFill>
                <a:latin typeface="Arial"/>
                <a:ea typeface="Arial"/>
                <a:cs typeface="Arial"/>
              </a:defRPr>
            </a:defPPr>
          </a:lstStyle>
          <a:p>
            <a:pPr>
              <a:defRPr sz="1125" b="0">
                <a:solidFill>
                  <a:srgbClr val="5D647A"/>
                </a:solidFill>
                <a:latin typeface="Arial"/>
                <a:ea typeface="Arial"/>
                <a:cs typeface="Arial"/>
              </a:defRPr>
            </a:pPr>
            <a:r>
              <a:rPr sz="1125" b="0">
                <a:solidFill>
                  <a:srgbClr val="5D647A"/>
                </a:solidFill>
                <a:latin typeface="Arial"/>
                <a:ea typeface="Arial"/>
                <a:cs typeface="Arial"/>
              </a:rPr>
              <a:t>Jumper wires</a:t>
            </a:r>
          </a:p>
        </p:txBody>
      </p:sp>
      <p:sp>
        <p:nvSpPr>
          <p:cNvPr id="23" name="wifi-label">
            <a:extLst>
              <a:ext uri="{FF2B5EF4-FFF2-40B4-BE49-F238E27FC236}">
                <a16:creationId xmlns:a16="http://schemas.microsoft.com/office/drawing/2014/main" id="{BFAA3AA4-5B78-4B6B-9BD2-B26B54301612}"/>
              </a:ext>
            </a:extLst>
          </p:cNvPr>
          <p:cNvSpPr>
            <a:spLocks noGrp="1"/>
          </p:cNvSpPr>
          <p:nvPr/>
        </p:nvSpPr>
        <p:spPr>
          <a:xfrm>
            <a:off x="9544050" y="4601441"/>
            <a:ext cx="1714500" cy="24765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dirty="0">
                <a:solidFill>
                  <a:srgbClr val="5D647A"/>
                </a:solidFill>
                <a:latin typeface="Arial"/>
                <a:ea typeface="Arial"/>
                <a:cs typeface="Arial"/>
              </a:rPr>
              <a:t>Wi-Fi / Internet</a:t>
            </a:r>
          </a:p>
        </p:txBody>
      </p:sp>
      <p:sp>
        <p:nvSpPr>
          <p:cNvPr id="25" name="shannon-journey-background">
            <a:extLst>
              <a:ext uri="{FF2B5EF4-FFF2-40B4-BE49-F238E27FC236}">
                <a16:creationId xmlns:a16="http://schemas.microsoft.com/office/drawing/2014/main" id="{E1D149FE-4703-4AE7-AAB1-CD16EC967EAE}"/>
              </a:ext>
            </a:extLst>
          </p:cNvPr>
          <p:cNvSpPr>
            <a:spLocks noGrp="1"/>
          </p:cNvSpPr>
          <p:nvPr/>
        </p:nvSpPr>
        <p:spPr>
          <a:xfrm>
            <a:off x="400050" y="1000125"/>
            <a:ext cx="11430000" cy="638175"/>
          </a:xfrm>
          <a:prstGeom prst="roundRect">
            <a:avLst>
              <a:gd name="adj" fmla="val 11940"/>
            </a:avLst>
          </a:prstGeom>
          <a:solidFill>
            <a:srgbClr val="FFF4DE"/>
          </a:solidFill>
          <a:ln w="0">
            <a:noFill/>
          </a:ln>
        </p:spPr>
        <p:txBody>
          <a:bodyPr/>
          <a:lstStyle/>
          <a:p>
            <a:endParaRPr lang="en-IE"/>
          </a:p>
        </p:txBody>
      </p:sp>
      <p:sp>
        <p:nvSpPr>
          <p:cNvPr id="26" name="use-case-label">
            <a:extLst>
              <a:ext uri="{FF2B5EF4-FFF2-40B4-BE49-F238E27FC236}">
                <a16:creationId xmlns:a16="http://schemas.microsoft.com/office/drawing/2014/main" id="{8F1215DA-97D6-4E0F-A0B0-008CADEACC3D}"/>
              </a:ext>
            </a:extLst>
          </p:cNvPr>
          <p:cNvSpPr>
            <a:spLocks noGrp="1"/>
          </p:cNvSpPr>
          <p:nvPr/>
        </p:nvSpPr>
        <p:spPr>
          <a:xfrm>
            <a:off x="514350" y="1019175"/>
            <a:ext cx="11049000" cy="228600"/>
          </a:xfrm>
          <a:prstGeom prst="rect">
            <a:avLst/>
          </a:prstGeom>
          <a:noFill/>
          <a:ln w="0">
            <a:noFill/>
          </a:ln>
        </p:spPr>
        <p:txBody>
          <a:bodyPr anchor="ctr"/>
          <a:lstStyle>
            <a:defPPr>
              <a:defRPr sz="1200" b="1">
                <a:solidFill>
                  <a:srgbClr val="737B91"/>
                </a:solidFill>
                <a:latin typeface="Arial"/>
                <a:ea typeface="Arial"/>
                <a:cs typeface="Arial"/>
              </a:defRPr>
            </a:defPPr>
          </a:lstStyle>
          <a:p>
            <a:pPr>
              <a:defRPr sz="1200" b="1">
                <a:solidFill>
                  <a:srgbClr val="737B91"/>
                </a:solidFill>
                <a:latin typeface="Arial"/>
                <a:ea typeface="Arial"/>
                <a:cs typeface="Arial"/>
              </a:defRPr>
            </a:pPr>
            <a:r>
              <a:rPr lang="en-IE" sz="1200" b="1" dirty="0">
                <a:solidFill>
                  <a:srgbClr val="737B91"/>
                </a:solidFill>
                <a:latin typeface="Arial"/>
                <a:ea typeface="Arial"/>
                <a:cs typeface="Arial"/>
              </a:rPr>
              <a:t>USER</a:t>
            </a:r>
            <a:r>
              <a:rPr sz="1200" b="1" dirty="0">
                <a:solidFill>
                  <a:srgbClr val="737B91"/>
                </a:solidFill>
                <a:latin typeface="Arial"/>
                <a:ea typeface="Arial"/>
                <a:cs typeface="Arial"/>
              </a:rPr>
              <a:t>'S JOURNEY</a:t>
            </a:r>
          </a:p>
        </p:txBody>
      </p:sp>
      <p:sp>
        <p:nvSpPr>
          <p:cNvPr id="27" name="journey-number-0">
            <a:extLst>
              <a:ext uri="{FF2B5EF4-FFF2-40B4-BE49-F238E27FC236}">
                <a16:creationId xmlns:a16="http://schemas.microsoft.com/office/drawing/2014/main" id="{78FE1A4F-E8A7-463F-AA7D-916F6A30C63C}"/>
              </a:ext>
            </a:extLst>
          </p:cNvPr>
          <p:cNvSpPr>
            <a:spLocks noGrp="1"/>
          </p:cNvSpPr>
          <p:nvPr/>
        </p:nvSpPr>
        <p:spPr>
          <a:xfrm>
            <a:off x="514350"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dirty="0">
                <a:solidFill>
                  <a:srgbClr val="737B91"/>
                </a:solidFill>
                <a:latin typeface="Arial"/>
                <a:ea typeface="Arial"/>
                <a:cs typeface="Arial"/>
              </a:rPr>
              <a:t>STEP 1</a:t>
            </a:r>
          </a:p>
        </p:txBody>
      </p:sp>
      <p:sp>
        <p:nvSpPr>
          <p:cNvPr id="28" name="journey-action-0">
            <a:extLst>
              <a:ext uri="{FF2B5EF4-FFF2-40B4-BE49-F238E27FC236}">
                <a16:creationId xmlns:a16="http://schemas.microsoft.com/office/drawing/2014/main" id="{E53453AD-90A7-4BE0-BEBF-8FBA2AE31178}"/>
              </a:ext>
            </a:extLst>
          </p:cNvPr>
          <p:cNvSpPr>
            <a:spLocks noGrp="1"/>
          </p:cNvSpPr>
          <p:nvPr/>
        </p:nvSpPr>
        <p:spPr>
          <a:xfrm>
            <a:off x="1276350" y="1257300"/>
            <a:ext cx="2667000" cy="323850"/>
          </a:xfrm>
          <a:prstGeom prst="rect">
            <a:avLst/>
          </a:prstGeom>
          <a:noFill/>
          <a:ln w="0">
            <a:noFill/>
          </a:ln>
        </p:spPr>
        <p:txBody>
          <a:bodyPr anchor="ctr"/>
          <a:lstStyle>
            <a:defPPr>
              <a:defRPr sz="1650" b="1">
                <a:solidFill>
                  <a:srgbClr val="986317"/>
                </a:solidFill>
                <a:latin typeface="Arial"/>
                <a:ea typeface="Arial"/>
                <a:cs typeface="Arial"/>
              </a:defRPr>
            </a:defPPr>
          </a:lstStyle>
          <a:p>
            <a:pPr>
              <a:defRPr sz="1650" b="1">
                <a:solidFill>
                  <a:srgbClr val="986317"/>
                </a:solidFill>
                <a:latin typeface="Arial"/>
                <a:ea typeface="Arial"/>
                <a:cs typeface="Arial"/>
              </a:defRPr>
            </a:pPr>
            <a:r>
              <a:rPr sz="1650" b="1" dirty="0">
                <a:solidFill>
                  <a:srgbClr val="986317"/>
                </a:solidFill>
                <a:latin typeface="Arial"/>
                <a:ea typeface="Arial"/>
                <a:cs typeface="Arial"/>
              </a:rPr>
              <a:t>Receive an alert</a:t>
            </a:r>
          </a:p>
        </p:txBody>
      </p:sp>
      <p:sp>
        <p:nvSpPr>
          <p:cNvPr id="29" name="journey-number-1">
            <a:extLst>
              <a:ext uri="{FF2B5EF4-FFF2-40B4-BE49-F238E27FC236}">
                <a16:creationId xmlns:a16="http://schemas.microsoft.com/office/drawing/2014/main" id="{4D0284CE-A1A7-4DAB-88F3-D64CBBD74470}"/>
              </a:ext>
            </a:extLst>
          </p:cNvPr>
          <p:cNvSpPr>
            <a:spLocks noGrp="1"/>
          </p:cNvSpPr>
          <p:nvPr/>
        </p:nvSpPr>
        <p:spPr>
          <a:xfrm>
            <a:off x="4543425"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a:solidFill>
                  <a:srgbClr val="737B91"/>
                </a:solidFill>
                <a:latin typeface="Arial"/>
                <a:ea typeface="Arial"/>
                <a:cs typeface="Arial"/>
              </a:rPr>
              <a:t>STEP 2</a:t>
            </a:r>
          </a:p>
        </p:txBody>
      </p:sp>
      <p:sp>
        <p:nvSpPr>
          <p:cNvPr id="30" name="journey-action-1">
            <a:extLst>
              <a:ext uri="{FF2B5EF4-FFF2-40B4-BE49-F238E27FC236}">
                <a16:creationId xmlns:a16="http://schemas.microsoft.com/office/drawing/2014/main" id="{580033FB-F99D-40D3-A47B-8DD739DA5EE9}"/>
              </a:ext>
            </a:extLst>
          </p:cNvPr>
          <p:cNvSpPr>
            <a:spLocks noGrp="1"/>
          </p:cNvSpPr>
          <p:nvPr/>
        </p:nvSpPr>
        <p:spPr>
          <a:xfrm>
            <a:off x="5305425" y="1257300"/>
            <a:ext cx="2667000" cy="3238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dirty="0">
                <a:solidFill>
                  <a:srgbClr val="182D86"/>
                </a:solidFill>
                <a:latin typeface="Arial"/>
                <a:ea typeface="Arial"/>
                <a:cs typeface="Arial"/>
              </a:rPr>
              <a:t>Check the app</a:t>
            </a:r>
          </a:p>
        </p:txBody>
      </p:sp>
      <p:sp>
        <p:nvSpPr>
          <p:cNvPr id="31" name="journey-number-2">
            <a:extLst>
              <a:ext uri="{FF2B5EF4-FFF2-40B4-BE49-F238E27FC236}">
                <a16:creationId xmlns:a16="http://schemas.microsoft.com/office/drawing/2014/main" id="{31399E21-F546-4A4A-BB46-06210EB76640}"/>
              </a:ext>
            </a:extLst>
          </p:cNvPr>
          <p:cNvSpPr>
            <a:spLocks noGrp="1"/>
          </p:cNvSpPr>
          <p:nvPr/>
        </p:nvSpPr>
        <p:spPr>
          <a:xfrm>
            <a:off x="8572500" y="1247775"/>
            <a:ext cx="704850" cy="304800"/>
          </a:xfrm>
          <a:prstGeom prst="rect">
            <a:avLst/>
          </a:prstGeom>
          <a:noFill/>
          <a:ln w="0">
            <a:noFill/>
          </a:ln>
        </p:spPr>
        <p:txBody>
          <a:bodyPr anchor="ctr"/>
          <a:lstStyle>
            <a:defPPr>
              <a:defRPr sz="1125" b="1">
                <a:solidFill>
                  <a:srgbClr val="737B91"/>
                </a:solidFill>
                <a:latin typeface="Arial"/>
                <a:ea typeface="Arial"/>
                <a:cs typeface="Arial"/>
              </a:defRPr>
            </a:defPPr>
          </a:lstStyle>
          <a:p>
            <a:pPr>
              <a:defRPr sz="1125" b="1">
                <a:solidFill>
                  <a:srgbClr val="737B91"/>
                </a:solidFill>
                <a:latin typeface="Arial"/>
                <a:ea typeface="Arial"/>
                <a:cs typeface="Arial"/>
              </a:defRPr>
            </a:pPr>
            <a:r>
              <a:rPr sz="1125" b="1">
                <a:solidFill>
                  <a:srgbClr val="737B91"/>
                </a:solidFill>
                <a:latin typeface="Arial"/>
                <a:ea typeface="Arial"/>
                <a:cs typeface="Arial"/>
              </a:rPr>
              <a:t>STEP 3</a:t>
            </a:r>
          </a:p>
        </p:txBody>
      </p:sp>
      <p:sp>
        <p:nvSpPr>
          <p:cNvPr id="32" name="journey-action-2">
            <a:extLst>
              <a:ext uri="{FF2B5EF4-FFF2-40B4-BE49-F238E27FC236}">
                <a16:creationId xmlns:a16="http://schemas.microsoft.com/office/drawing/2014/main" id="{506BA9C4-AFC3-4A9E-B127-5FA4F1C0B51B}"/>
              </a:ext>
            </a:extLst>
          </p:cNvPr>
          <p:cNvSpPr>
            <a:spLocks noGrp="1"/>
          </p:cNvSpPr>
          <p:nvPr/>
        </p:nvSpPr>
        <p:spPr>
          <a:xfrm>
            <a:off x="9334500" y="1257300"/>
            <a:ext cx="2667000" cy="323850"/>
          </a:xfrm>
          <a:prstGeom prst="rect">
            <a:avLst/>
          </a:prstGeom>
          <a:noFill/>
          <a:ln w="0">
            <a:noFill/>
          </a:ln>
        </p:spPr>
        <p:txBody>
          <a:bodyPr anchor="ctr"/>
          <a:lstStyle>
            <a:defPPr>
              <a:defRPr sz="1650" b="1">
                <a:solidFill>
                  <a:srgbClr val="336B62"/>
                </a:solidFill>
                <a:latin typeface="Arial"/>
                <a:ea typeface="Arial"/>
                <a:cs typeface="Arial"/>
              </a:defRPr>
            </a:defPPr>
          </a:lstStyle>
          <a:p>
            <a:pPr>
              <a:defRPr sz="1650" b="1">
                <a:solidFill>
                  <a:srgbClr val="336B62"/>
                </a:solidFill>
                <a:latin typeface="Arial"/>
                <a:ea typeface="Arial"/>
                <a:cs typeface="Arial"/>
              </a:defRPr>
            </a:pPr>
            <a:r>
              <a:rPr sz="1650" b="1">
                <a:solidFill>
                  <a:srgbClr val="336B62"/>
                </a:solidFill>
                <a:latin typeface="Arial"/>
                <a:ea typeface="Arial"/>
                <a:cs typeface="Arial"/>
              </a:rPr>
              <a:t>Review the box history</a:t>
            </a:r>
          </a:p>
        </p:txBody>
      </p:sp>
      <p:sp>
        <p:nvSpPr>
          <p:cNvPr id="33" name="data-flow-0">
            <a:extLst>
              <a:ext uri="{FF2B5EF4-FFF2-40B4-BE49-F238E27FC236}">
                <a16:creationId xmlns:a16="http://schemas.microsoft.com/office/drawing/2014/main" id="{B685F9C1-9169-43A7-9050-AD5843B04FCB}"/>
              </a:ext>
            </a:extLst>
          </p:cNvPr>
          <p:cNvSpPr>
            <a:spLocks noGrp="1"/>
          </p:cNvSpPr>
          <p:nvPr/>
        </p:nvSpPr>
        <p:spPr>
          <a:xfrm>
            <a:off x="476251"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a:solidFill>
                  <a:srgbClr val="182D86"/>
                </a:solidFill>
                <a:latin typeface="Arial"/>
                <a:ea typeface="Arial"/>
                <a:cs typeface="Arial"/>
              </a:rPr>
              <a:t>SCD-41 → Pi 400</a:t>
            </a:r>
          </a:p>
        </p:txBody>
      </p:sp>
      <p:sp>
        <p:nvSpPr>
          <p:cNvPr id="34" name="data-detail-0">
            <a:extLst>
              <a:ext uri="{FF2B5EF4-FFF2-40B4-BE49-F238E27FC236}">
                <a16:creationId xmlns:a16="http://schemas.microsoft.com/office/drawing/2014/main" id="{0339BD15-0320-4193-BECF-31F72C1C6CF1}"/>
              </a:ext>
            </a:extLst>
          </p:cNvPr>
          <p:cNvSpPr>
            <a:spLocks noGrp="1"/>
          </p:cNvSpPr>
          <p:nvPr/>
        </p:nvSpPr>
        <p:spPr>
          <a:xfrm>
            <a:off x="476251"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Temperature samples + local LED</a:t>
            </a:r>
          </a:p>
        </p:txBody>
      </p:sp>
      <p:sp>
        <p:nvSpPr>
          <p:cNvPr id="35" name="data-arrow-0">
            <a:extLst>
              <a:ext uri="{FF2B5EF4-FFF2-40B4-BE49-F238E27FC236}">
                <a16:creationId xmlns:a16="http://schemas.microsoft.com/office/drawing/2014/main" id="{8018479F-C83C-4923-9DF1-C3D51E9A6ECF}"/>
              </a:ext>
            </a:extLst>
          </p:cNvPr>
          <p:cNvSpPr>
            <a:spLocks noGrp="1"/>
          </p:cNvSpPr>
          <p:nvPr/>
        </p:nvSpPr>
        <p:spPr>
          <a:xfrm>
            <a:off x="3429001" y="5681663"/>
            <a:ext cx="381000" cy="285750"/>
          </a:xfrm>
          <a:prstGeom prst="rect">
            <a:avLst/>
          </a:prstGeom>
          <a:noFill/>
          <a:ln w="0">
            <a:noFill/>
          </a:ln>
        </p:spPr>
        <p:txBody>
          <a:bodyPr anchor="ctr"/>
          <a:lstStyle>
            <a:defPPr>
              <a:defRPr sz="1950" b="0">
                <a:solidFill>
                  <a:srgbClr val="8A7AB7"/>
                </a:solidFill>
                <a:latin typeface="Arial"/>
                <a:ea typeface="Arial"/>
                <a:cs typeface="Arial"/>
              </a:defRPr>
            </a:defPPr>
          </a:lstStyle>
          <a:p>
            <a:pPr>
              <a:defRPr sz="1950" b="0">
                <a:solidFill>
                  <a:srgbClr val="8A7AB7"/>
                </a:solidFill>
                <a:latin typeface="Arial"/>
                <a:ea typeface="Arial"/>
                <a:cs typeface="Arial"/>
              </a:defRPr>
            </a:pPr>
            <a:r>
              <a:rPr sz="1950" b="0" dirty="0">
                <a:solidFill>
                  <a:srgbClr val="8A7AB7"/>
                </a:solidFill>
                <a:latin typeface="Arial"/>
                <a:ea typeface="Arial"/>
                <a:cs typeface="Arial"/>
              </a:rPr>
              <a:t>→</a:t>
            </a:r>
          </a:p>
        </p:txBody>
      </p:sp>
      <p:sp>
        <p:nvSpPr>
          <p:cNvPr id="36" name="data-flow-1">
            <a:extLst>
              <a:ext uri="{FF2B5EF4-FFF2-40B4-BE49-F238E27FC236}">
                <a16:creationId xmlns:a16="http://schemas.microsoft.com/office/drawing/2014/main" id="{F3C7C80D-1D1B-4A1E-A3DB-A71D50ED26BD}"/>
              </a:ext>
            </a:extLst>
          </p:cNvPr>
          <p:cNvSpPr>
            <a:spLocks noGrp="1"/>
          </p:cNvSpPr>
          <p:nvPr/>
        </p:nvSpPr>
        <p:spPr>
          <a:xfrm>
            <a:off x="4505326"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sz="1650" b="1">
                <a:solidFill>
                  <a:srgbClr val="182D86"/>
                </a:solidFill>
                <a:latin typeface="Arial"/>
                <a:ea typeface="Arial"/>
                <a:cs typeface="Arial"/>
              </a:rPr>
              <a:t>MQTT over TLS</a:t>
            </a:r>
          </a:p>
        </p:txBody>
      </p:sp>
      <p:sp>
        <p:nvSpPr>
          <p:cNvPr id="37" name="data-detail-1">
            <a:extLst>
              <a:ext uri="{FF2B5EF4-FFF2-40B4-BE49-F238E27FC236}">
                <a16:creationId xmlns:a16="http://schemas.microsoft.com/office/drawing/2014/main" id="{4DBF7D4A-038C-430E-B479-B3178E2F45C7}"/>
              </a:ext>
            </a:extLst>
          </p:cNvPr>
          <p:cNvSpPr>
            <a:spLocks noGrp="1"/>
          </p:cNvSpPr>
          <p:nvPr/>
        </p:nvSpPr>
        <p:spPr>
          <a:xfrm>
            <a:off x="4505326"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a:solidFill>
                  <a:srgbClr val="5D647A"/>
                </a:solidFill>
                <a:latin typeface="Arial"/>
                <a:ea typeface="Arial"/>
                <a:cs typeface="Arial"/>
              </a:rPr>
              <a:t>Broker → backend + MySQL</a:t>
            </a:r>
          </a:p>
        </p:txBody>
      </p:sp>
      <p:sp>
        <p:nvSpPr>
          <p:cNvPr id="38" name="data-arrow-1">
            <a:extLst>
              <a:ext uri="{FF2B5EF4-FFF2-40B4-BE49-F238E27FC236}">
                <a16:creationId xmlns:a16="http://schemas.microsoft.com/office/drawing/2014/main" id="{A9665AA6-4BE3-4701-9F52-B22896B5B65D}"/>
              </a:ext>
            </a:extLst>
          </p:cNvPr>
          <p:cNvSpPr>
            <a:spLocks noGrp="1"/>
          </p:cNvSpPr>
          <p:nvPr/>
        </p:nvSpPr>
        <p:spPr>
          <a:xfrm>
            <a:off x="6448425" y="5657850"/>
            <a:ext cx="381000" cy="285750"/>
          </a:xfrm>
          <a:prstGeom prst="rect">
            <a:avLst/>
          </a:prstGeom>
          <a:noFill/>
          <a:ln w="0">
            <a:noFill/>
          </a:ln>
        </p:spPr>
        <p:txBody>
          <a:bodyPr anchor="ctr"/>
          <a:lstStyle>
            <a:defPPr>
              <a:defRPr sz="1950" b="0">
                <a:solidFill>
                  <a:srgbClr val="8A7AB7"/>
                </a:solidFill>
                <a:latin typeface="Arial"/>
                <a:ea typeface="Arial"/>
                <a:cs typeface="Arial"/>
              </a:defRPr>
            </a:defPPr>
          </a:lstStyle>
          <a:p>
            <a:pPr>
              <a:defRPr sz="1950" b="0">
                <a:solidFill>
                  <a:srgbClr val="8A7AB7"/>
                </a:solidFill>
                <a:latin typeface="Arial"/>
                <a:ea typeface="Arial"/>
                <a:cs typeface="Arial"/>
              </a:defRPr>
            </a:pPr>
            <a:r>
              <a:rPr sz="1950" b="0" dirty="0">
                <a:solidFill>
                  <a:srgbClr val="8A7AB7"/>
                </a:solidFill>
                <a:latin typeface="Arial"/>
                <a:ea typeface="Arial"/>
                <a:cs typeface="Arial"/>
              </a:rPr>
              <a:t>→</a:t>
            </a:r>
          </a:p>
        </p:txBody>
      </p:sp>
      <p:sp>
        <p:nvSpPr>
          <p:cNvPr id="39" name="data-flow-2">
            <a:extLst>
              <a:ext uri="{FF2B5EF4-FFF2-40B4-BE49-F238E27FC236}">
                <a16:creationId xmlns:a16="http://schemas.microsoft.com/office/drawing/2014/main" id="{DA561F34-FA83-43B2-A9D8-19A0DCC6CD42}"/>
              </a:ext>
            </a:extLst>
          </p:cNvPr>
          <p:cNvSpPr>
            <a:spLocks noGrp="1"/>
          </p:cNvSpPr>
          <p:nvPr/>
        </p:nvSpPr>
        <p:spPr>
          <a:xfrm>
            <a:off x="7429501" y="5638800"/>
            <a:ext cx="3143250" cy="285750"/>
          </a:xfrm>
          <a:prstGeom prst="rect">
            <a:avLst/>
          </a:prstGeom>
          <a:noFill/>
          <a:ln w="0">
            <a:noFill/>
          </a:ln>
        </p:spPr>
        <p:txBody>
          <a:bodyPr anchor="ctr"/>
          <a:lstStyle>
            <a:defPPr>
              <a:defRPr sz="1650" b="1">
                <a:solidFill>
                  <a:srgbClr val="182D86"/>
                </a:solidFill>
                <a:latin typeface="Arial"/>
                <a:ea typeface="Arial"/>
                <a:cs typeface="Arial"/>
              </a:defRPr>
            </a:defPPr>
          </a:lstStyle>
          <a:p>
            <a:pPr>
              <a:defRPr sz="1650" b="1">
                <a:solidFill>
                  <a:srgbClr val="182D86"/>
                </a:solidFill>
                <a:latin typeface="Arial"/>
                <a:ea typeface="Arial"/>
                <a:cs typeface="Arial"/>
              </a:defRPr>
            </a:pPr>
            <a:r>
              <a:rPr lang="en-IE" sz="1650" b="1" dirty="0">
                <a:solidFill>
                  <a:srgbClr val="182D86"/>
                </a:solidFill>
                <a:latin typeface="Arial"/>
                <a:ea typeface="Arial"/>
                <a:cs typeface="Arial"/>
              </a:rPr>
              <a:t>Mobile</a:t>
            </a:r>
            <a:r>
              <a:rPr sz="1650" b="1" dirty="0">
                <a:solidFill>
                  <a:srgbClr val="182D86"/>
                </a:solidFill>
                <a:latin typeface="Arial"/>
                <a:ea typeface="Arial"/>
                <a:cs typeface="Arial"/>
              </a:rPr>
              <a:t> application</a:t>
            </a:r>
          </a:p>
        </p:txBody>
      </p:sp>
      <p:sp>
        <p:nvSpPr>
          <p:cNvPr id="40" name="data-detail-2">
            <a:extLst>
              <a:ext uri="{FF2B5EF4-FFF2-40B4-BE49-F238E27FC236}">
                <a16:creationId xmlns:a16="http://schemas.microsoft.com/office/drawing/2014/main" id="{6DAF5155-A84B-4FA1-80E7-A6FAEC267FBB}"/>
              </a:ext>
            </a:extLst>
          </p:cNvPr>
          <p:cNvSpPr>
            <a:spLocks noGrp="1"/>
          </p:cNvSpPr>
          <p:nvPr/>
        </p:nvSpPr>
        <p:spPr>
          <a:xfrm>
            <a:off x="7305675" y="6010275"/>
            <a:ext cx="3238500" cy="228600"/>
          </a:xfrm>
          <a:prstGeom prst="rect">
            <a:avLst/>
          </a:prstGeom>
          <a:noFill/>
          <a:ln w="0">
            <a:noFill/>
          </a:ln>
        </p:spPr>
        <p:txBody>
          <a:bodyPr anchor="ctr"/>
          <a:lstStyle>
            <a:defPPr>
              <a:defRPr sz="1200" b="0">
                <a:solidFill>
                  <a:srgbClr val="5D647A"/>
                </a:solidFill>
                <a:latin typeface="Arial"/>
                <a:ea typeface="Arial"/>
                <a:cs typeface="Arial"/>
              </a:defRPr>
            </a:defPPr>
          </a:lstStyle>
          <a:p>
            <a:pPr>
              <a:defRPr sz="1200" b="0">
                <a:solidFill>
                  <a:srgbClr val="5D647A"/>
                </a:solidFill>
                <a:latin typeface="Arial"/>
                <a:ea typeface="Arial"/>
                <a:cs typeface="Arial"/>
              </a:defRPr>
            </a:pPr>
            <a:r>
              <a:rPr sz="1200" b="0" dirty="0">
                <a:solidFill>
                  <a:srgbClr val="5D647A"/>
                </a:solidFill>
                <a:latin typeface="Arial"/>
                <a:ea typeface="Arial"/>
                <a:cs typeface="Arial"/>
              </a:rPr>
              <a:t>Status + history + phone alerts</a:t>
            </a:r>
          </a:p>
        </p:txBody>
      </p:sp>
    </p:spTree>
    <p:extLst>
      <p:ext uri="{BB962C8B-B14F-4D97-AF65-F5344CB8AC3E}">
        <p14:creationId xmlns:p14="http://schemas.microsoft.com/office/powerpoint/2010/main" val="39040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P spid="10" grpId="0" animBg="1"/>
      <p:bldP spid="11" grpId="0" animBg="1"/>
      <p:bldP spid="12" grpId="0" animBg="1"/>
      <p:bldP spid="13" grpId="0" animBg="1"/>
      <p:bldP spid="14" grpId="0" animBg="1"/>
      <p:bldP spid="20" grpId="0"/>
      <p:bldP spid="21" grpId="0"/>
      <p:bldP spid="22" grpId="0"/>
      <p:bldP spid="23" grpId="0"/>
      <p:bldP spid="25" grpId="0" animBg="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9728" y="91440"/>
            <a:ext cx="11969496" cy="6675120"/>
          </a:xfrm>
          <a:prstGeom prst="roundRect">
            <a:avLst>
              <a:gd name="adj" fmla="val 1644"/>
            </a:avLst>
          </a:prstGeom>
          <a:solidFill>
            <a:srgbClr val="FFFFFF"/>
          </a:solidFill>
          <a:ln w="12700">
            <a:solidFill>
              <a:srgbClr val="E3DDF0"/>
            </a:solidFill>
            <a:prstDash val="solid"/>
          </a:ln>
        </p:spPr>
        <p:txBody>
          <a:bodyPr/>
          <a:lstStyle/>
          <a:p>
            <a:endParaRPr lang="en-IE"/>
          </a:p>
        </p:txBody>
      </p:sp>
      <p:sp>
        <p:nvSpPr>
          <p:cNvPr id="3" name="Text 1"/>
          <p:cNvSpPr txBox="1"/>
          <p:nvPr/>
        </p:nvSpPr>
        <p:spPr>
          <a:xfrm>
            <a:off x="502920" y="320040"/>
            <a:ext cx="8229600" cy="685800"/>
          </a:xfrm>
          <a:prstGeom prst="rect">
            <a:avLst/>
          </a:prstGeom>
          <a:noFill/>
          <a:ln/>
        </p:spPr>
        <p:txBody>
          <a:bodyPr wrap="square" lIns="0" tIns="0" rIns="0" bIns="0" rtlCol="0" anchor="ctr"/>
          <a:lstStyle/>
          <a:p>
            <a:pPr marL="0" indent="0">
              <a:buNone/>
            </a:pPr>
            <a:r>
              <a:rPr lang="en-US" sz="3800" b="1" dirty="0">
                <a:solidFill>
                  <a:srgbClr val="142C86"/>
                </a:solidFill>
                <a:latin typeface="Aptos Display" pitchFamily="34" charset="0"/>
                <a:ea typeface="Aptos Display" pitchFamily="34" charset="-122"/>
                <a:cs typeface="Aptos Display" pitchFamily="34" charset="-120"/>
              </a:rPr>
              <a:t>Shannon's Dashboard</a:t>
            </a:r>
            <a:endParaRPr lang="en-US" sz="3800" dirty="0"/>
          </a:p>
        </p:txBody>
      </p:sp>
      <p:sp>
        <p:nvSpPr>
          <p:cNvPr id="4" name="Text 2"/>
          <p:cNvSpPr txBox="1"/>
          <p:nvPr/>
        </p:nvSpPr>
        <p:spPr>
          <a:xfrm>
            <a:off x="502920" y="987552"/>
            <a:ext cx="9144000" cy="411480"/>
          </a:xfrm>
          <a:prstGeom prst="rect">
            <a:avLst/>
          </a:prstGeom>
          <a:noFill/>
          <a:ln/>
        </p:spPr>
        <p:txBody>
          <a:bodyPr wrap="square" lIns="0" tIns="0" rIns="0" bIns="0" rtlCol="0" anchor="ctr"/>
          <a:lstStyle/>
          <a:p>
            <a:pPr marL="0" indent="0">
              <a:buNone/>
            </a:pPr>
            <a:r>
              <a:rPr lang="en-US" sz="1800" b="1" dirty="0">
                <a:solidFill>
                  <a:srgbClr val="1D3D9C"/>
                </a:solidFill>
                <a:latin typeface="Aptos" pitchFamily="34" charset="0"/>
                <a:ea typeface="Aptos" pitchFamily="34" charset="-122"/>
                <a:cs typeface="Aptos" pitchFamily="34" charset="-120"/>
              </a:rPr>
              <a:t>Early UI concepts: optional summaries; red LED wording superseded</a:t>
            </a:r>
            <a:endParaRPr lang="en-US" sz="1800" dirty="0"/>
          </a:p>
        </p:txBody>
      </p:sp>
      <p:sp>
        <p:nvSpPr>
          <p:cNvPr id="5" name="Shape 3"/>
          <p:cNvSpPr/>
          <p:nvPr/>
        </p:nvSpPr>
        <p:spPr>
          <a:xfrm>
            <a:off x="548640" y="1600200"/>
            <a:ext cx="384048" cy="384048"/>
          </a:xfrm>
          <a:prstGeom prst="ellipse">
            <a:avLst/>
          </a:prstGeom>
          <a:solidFill>
            <a:srgbClr val="142C86"/>
          </a:solidFill>
          <a:ln w="12700">
            <a:solidFill>
              <a:srgbClr val="142C86"/>
            </a:solidFill>
            <a:prstDash val="solid"/>
          </a:ln>
        </p:spPr>
        <p:txBody>
          <a:bodyPr/>
          <a:lstStyle/>
          <a:p>
            <a:endParaRPr lang="en-IE"/>
          </a:p>
        </p:txBody>
      </p:sp>
      <p:sp>
        <p:nvSpPr>
          <p:cNvPr id="6" name="Text 4"/>
          <p:cNvSpPr txBox="1"/>
          <p:nvPr/>
        </p:nvSpPr>
        <p:spPr>
          <a:xfrm>
            <a:off x="548640"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7" name="Text 5"/>
          <p:cNvSpPr txBox="1"/>
          <p:nvPr/>
        </p:nvSpPr>
        <p:spPr>
          <a:xfrm>
            <a:off x="1024128" y="1536192"/>
            <a:ext cx="2377440" cy="530352"/>
          </a:xfrm>
          <a:prstGeom prst="rect">
            <a:avLst/>
          </a:prstGeom>
          <a:noFill/>
          <a:ln/>
        </p:spPr>
        <p:txBody>
          <a:bodyPr wrap="square" lIns="0" tIns="0" rIns="0" bIns="0" rtlCol="0" anchor="ctr"/>
          <a:lstStyle/>
          <a:p>
            <a:pPr marL="0" indent="0">
              <a:buNone/>
            </a:pPr>
            <a:r>
              <a:rPr lang="en-US" sz="1000" b="1" kern="0" spc="100" dirty="0">
                <a:solidFill>
                  <a:srgbClr val="7B6FA8"/>
                </a:solidFill>
                <a:latin typeface="Aptos" pitchFamily="34" charset="0"/>
                <a:ea typeface="Aptos" pitchFamily="34" charset="-122"/>
                <a:cs typeface="Aptos" pitchFamily="34" charset="-120"/>
              </a:rPr>
              <a:t>DURING THE CALL</a:t>
            </a:r>
            <a:endParaRPr lang="en-US" sz="1000" dirty="0"/>
          </a:p>
          <a:p>
            <a:pPr marL="0" indent="0">
              <a:buNone/>
            </a:pPr>
            <a:r>
              <a:rPr lang="en-US" sz="1400" b="1" dirty="0">
                <a:solidFill>
                  <a:srgbClr val="142C86"/>
                </a:solidFill>
                <a:latin typeface="Aptos" pitchFamily="34" charset="0"/>
                <a:ea typeface="Aptos" pitchFamily="34" charset="-122"/>
                <a:cs typeface="Aptos" pitchFamily="34" charset="-120"/>
              </a:rPr>
              <a:t>The alert reaches her</a:t>
            </a:r>
            <a:endParaRPr lang="en-US" sz="1000" dirty="0"/>
          </a:p>
        </p:txBody>
      </p:sp>
      <p:sp>
        <p:nvSpPr>
          <p:cNvPr id="8" name="Shape 6"/>
          <p:cNvSpPr/>
          <p:nvPr/>
        </p:nvSpPr>
        <p:spPr>
          <a:xfrm>
            <a:off x="3310128" y="1600200"/>
            <a:ext cx="384048" cy="384048"/>
          </a:xfrm>
          <a:prstGeom prst="ellipse">
            <a:avLst/>
          </a:prstGeom>
          <a:solidFill>
            <a:srgbClr val="142C86"/>
          </a:solidFill>
          <a:ln w="12700">
            <a:solidFill>
              <a:srgbClr val="142C86"/>
            </a:solidFill>
            <a:prstDash val="solid"/>
          </a:ln>
        </p:spPr>
        <p:txBody>
          <a:bodyPr/>
          <a:lstStyle/>
          <a:p>
            <a:endParaRPr lang="en-IE"/>
          </a:p>
        </p:txBody>
      </p:sp>
      <p:sp>
        <p:nvSpPr>
          <p:cNvPr id="9" name="Text 7"/>
          <p:cNvSpPr txBox="1"/>
          <p:nvPr/>
        </p:nvSpPr>
        <p:spPr>
          <a:xfrm>
            <a:off x="3310128"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0" name="Text 8"/>
          <p:cNvSpPr txBox="1"/>
          <p:nvPr/>
        </p:nvSpPr>
        <p:spPr>
          <a:xfrm>
            <a:off x="3785616" y="1536192"/>
            <a:ext cx="2377440" cy="530352"/>
          </a:xfrm>
          <a:prstGeom prst="rect">
            <a:avLst/>
          </a:prstGeom>
          <a:noFill/>
          <a:ln/>
        </p:spPr>
        <p:txBody>
          <a:bodyPr wrap="square" lIns="0" tIns="0" rIns="0" bIns="0" rtlCol="0" anchor="ctr"/>
          <a:lstStyle/>
          <a:p>
            <a:pPr marL="0" indent="0">
              <a:buNone/>
            </a:pPr>
            <a:r>
              <a:rPr lang="en-US" sz="1000" b="1" kern="0" spc="100" dirty="0">
                <a:solidFill>
                  <a:srgbClr val="7B6FA8"/>
                </a:solidFill>
                <a:latin typeface="Aptos" pitchFamily="34" charset="0"/>
                <a:ea typeface="Aptos" pitchFamily="34" charset="-122"/>
                <a:cs typeface="Aptos" pitchFamily="34" charset="-120"/>
              </a:rPr>
              <a:t>ONE GLANCE</a:t>
            </a:r>
            <a:endParaRPr lang="en-US" sz="1000" dirty="0"/>
          </a:p>
          <a:p>
            <a:pPr marL="0" indent="0">
              <a:buNone/>
            </a:pPr>
            <a:r>
              <a:rPr lang="en-US" sz="1400" b="1" dirty="0">
                <a:solidFill>
                  <a:srgbClr val="142C86"/>
                </a:solidFill>
                <a:latin typeface="Aptos" pitchFamily="34" charset="0"/>
                <a:ea typeface="Aptos" pitchFamily="34" charset="-122"/>
                <a:cs typeface="Aptos" pitchFamily="34" charset="-120"/>
              </a:rPr>
              <a:t>Status + optional estimate</a:t>
            </a:r>
            <a:endParaRPr lang="en-US" sz="1000" dirty="0"/>
          </a:p>
        </p:txBody>
      </p:sp>
      <p:sp>
        <p:nvSpPr>
          <p:cNvPr id="11" name="Shape 9"/>
          <p:cNvSpPr/>
          <p:nvPr/>
        </p:nvSpPr>
        <p:spPr>
          <a:xfrm>
            <a:off x="6172200" y="1600200"/>
            <a:ext cx="384048" cy="384048"/>
          </a:xfrm>
          <a:prstGeom prst="ellipse">
            <a:avLst/>
          </a:prstGeom>
          <a:solidFill>
            <a:srgbClr val="142C86"/>
          </a:solidFill>
          <a:ln w="12700">
            <a:solidFill>
              <a:srgbClr val="142C86"/>
            </a:solidFill>
            <a:prstDash val="solid"/>
          </a:ln>
        </p:spPr>
        <p:txBody>
          <a:bodyPr/>
          <a:lstStyle/>
          <a:p>
            <a:endParaRPr lang="en-IE"/>
          </a:p>
        </p:txBody>
      </p:sp>
      <p:sp>
        <p:nvSpPr>
          <p:cNvPr id="12" name="Text 10"/>
          <p:cNvSpPr txBox="1"/>
          <p:nvPr/>
        </p:nvSpPr>
        <p:spPr>
          <a:xfrm>
            <a:off x="6172200"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3" name="Text 11"/>
          <p:cNvSpPr txBox="1"/>
          <p:nvPr/>
        </p:nvSpPr>
        <p:spPr>
          <a:xfrm>
            <a:off x="6647688" y="1536192"/>
            <a:ext cx="2377440" cy="530352"/>
          </a:xfrm>
          <a:prstGeom prst="rect">
            <a:avLst/>
          </a:prstGeom>
          <a:noFill/>
          <a:ln/>
        </p:spPr>
        <p:txBody>
          <a:bodyPr wrap="square" lIns="0" tIns="0" rIns="0" bIns="0" rtlCol="0" anchor="ctr"/>
          <a:lstStyle/>
          <a:p>
            <a:pPr marL="0" indent="0">
              <a:buNone/>
            </a:pPr>
            <a:r>
              <a:rPr lang="en-US" sz="1000" b="1" kern="0" spc="100" dirty="0">
                <a:solidFill>
                  <a:srgbClr val="7B6FA8"/>
                </a:solidFill>
                <a:latin typeface="Aptos" pitchFamily="34" charset="0"/>
                <a:ea typeface="Aptos" pitchFamily="34" charset="-122"/>
                <a:cs typeface="Aptos" pitchFamily="34" charset="-120"/>
              </a:rPr>
              <a:t>AFTER THE CALL</a:t>
            </a:r>
            <a:endParaRPr lang="en-US" sz="1000" dirty="0"/>
          </a:p>
          <a:p>
            <a:pPr marL="0" indent="0">
              <a:buNone/>
            </a:pPr>
            <a:r>
              <a:rPr lang="en-US" sz="1400" b="1" dirty="0">
                <a:solidFill>
                  <a:srgbClr val="142C86"/>
                </a:solidFill>
                <a:latin typeface="Aptos" pitchFamily="34" charset="0"/>
                <a:ea typeface="Aptos" pitchFamily="34" charset="-122"/>
                <a:cs typeface="Aptos" pitchFamily="34" charset="-120"/>
              </a:rPr>
              <a:t>The full record</a:t>
            </a:r>
            <a:endParaRPr lang="en-US" sz="1000" dirty="0"/>
          </a:p>
        </p:txBody>
      </p:sp>
      <p:pic>
        <p:nvPicPr>
          <p:cNvPr id="14" name="Image 0" descr="Phone lock screen with TempSafe urgent and warning notifications"/>
          <p:cNvPicPr>
            <a:picLocks noChangeAspect="1"/>
          </p:cNvPicPr>
          <p:nvPr/>
        </p:nvPicPr>
        <p:blipFill>
          <a:blip r:embed="rId3"/>
          <a:stretch>
            <a:fillRect/>
          </a:stretch>
        </p:blipFill>
        <p:spPr>
          <a:xfrm>
            <a:off x="548640" y="2148840"/>
            <a:ext cx="2487168" cy="4319818"/>
          </a:xfrm>
          <a:prstGeom prst="rect">
            <a:avLst/>
          </a:prstGeom>
        </p:spPr>
      </p:pic>
      <p:pic>
        <p:nvPicPr>
          <p:cNvPr id="15" name="Image 1" descr="TempSafe phone app showing EXCURSION status and 12 minute exposure timer"/>
          <p:cNvPicPr>
            <a:picLocks noChangeAspect="1"/>
          </p:cNvPicPr>
          <p:nvPr/>
        </p:nvPicPr>
        <p:blipFill>
          <a:blip r:embed="rId4"/>
          <a:stretch>
            <a:fillRect/>
          </a:stretch>
        </p:blipFill>
        <p:spPr>
          <a:xfrm>
            <a:off x="3310128" y="2148840"/>
            <a:ext cx="2487168" cy="4319818"/>
          </a:xfrm>
          <a:prstGeom prst="rect">
            <a:avLst/>
          </a:prstGeom>
        </p:spPr>
      </p:pic>
      <p:pic>
        <p:nvPicPr>
          <p:cNvPr id="16" name="Image 2" descr="Web dashboard with temperature over time chart and recorded excursion 14:05 to 14:23, 18 min, max 27.4°C"/>
          <p:cNvPicPr>
            <a:picLocks noChangeAspect="1"/>
          </p:cNvPicPr>
          <p:nvPr/>
        </p:nvPicPr>
        <p:blipFill>
          <a:blip r:embed="rId5"/>
          <a:stretch>
            <a:fillRect/>
          </a:stretch>
        </p:blipFill>
        <p:spPr>
          <a:xfrm>
            <a:off x="6172200" y="2148840"/>
            <a:ext cx="5440680" cy="3025684"/>
          </a:xfrm>
          <a:prstGeom prst="rect">
            <a:avLst/>
          </a:prstGeom>
        </p:spPr>
      </p:pic>
      <p:sp>
        <p:nvSpPr>
          <p:cNvPr id="17" name="Shape 12"/>
          <p:cNvSpPr/>
          <p:nvPr/>
        </p:nvSpPr>
        <p:spPr>
          <a:xfrm>
            <a:off x="6172200" y="5403124"/>
            <a:ext cx="5440680" cy="1065534"/>
          </a:xfrm>
          <a:prstGeom prst="roundRect">
            <a:avLst>
              <a:gd name="adj" fmla="val 8582"/>
            </a:avLst>
          </a:prstGeom>
          <a:solidFill>
            <a:srgbClr val="F7F5FC"/>
          </a:solidFill>
          <a:ln w="12700">
            <a:solidFill>
              <a:srgbClr val="E3DDF0"/>
            </a:solidFill>
            <a:prstDash val="solid"/>
          </a:ln>
        </p:spPr>
        <p:txBody>
          <a:bodyPr/>
          <a:lstStyle/>
          <a:p>
            <a:endParaRPr lang="en-IE"/>
          </a:p>
        </p:txBody>
      </p:sp>
      <p:sp>
        <p:nvSpPr>
          <p:cNvPr id="18" name="Shape 13"/>
          <p:cNvSpPr/>
          <p:nvPr/>
        </p:nvSpPr>
        <p:spPr>
          <a:xfrm>
            <a:off x="6355080" y="5707291"/>
            <a:ext cx="457200" cy="457200"/>
          </a:xfrm>
          <a:prstGeom prst="ellipse">
            <a:avLst/>
          </a:prstGeom>
          <a:solidFill>
            <a:srgbClr val="ECEBFF"/>
          </a:solidFill>
          <a:ln w="12700">
            <a:solidFill>
              <a:srgbClr val="ECEBFF"/>
            </a:solidFill>
            <a:prstDash val="solid"/>
          </a:ln>
        </p:spPr>
        <p:txBody>
          <a:bodyPr/>
          <a:lstStyle/>
          <a:p>
            <a:endParaRPr lang="en-IE"/>
          </a:p>
        </p:txBody>
      </p:sp>
      <p:pic>
        <p:nvPicPr>
          <p:cNvPr id="19" name="Image 3" descr="preencoded.png"/>
          <p:cNvPicPr>
            <a:picLocks noChangeAspect="1"/>
          </p:cNvPicPr>
          <p:nvPr/>
        </p:nvPicPr>
        <p:blipFill>
          <a:blip r:embed="rId6"/>
          <a:stretch>
            <a:fillRect/>
          </a:stretch>
        </p:blipFill>
        <p:spPr>
          <a:xfrm>
            <a:off x="6473952" y="5826163"/>
            <a:ext cx="219456" cy="219456"/>
          </a:xfrm>
          <a:prstGeom prst="rect">
            <a:avLst/>
          </a:prstGeom>
        </p:spPr>
      </p:pic>
      <p:sp>
        <p:nvSpPr>
          <p:cNvPr id="20" name="Text 14"/>
          <p:cNvSpPr txBox="1"/>
          <p:nvPr/>
        </p:nvSpPr>
        <p:spPr>
          <a:xfrm>
            <a:off x="6885432" y="5494564"/>
            <a:ext cx="1124712" cy="882654"/>
          </a:xfrm>
          <a:prstGeom prst="rect">
            <a:avLst/>
          </a:prstGeom>
          <a:noFill/>
          <a:ln/>
        </p:spPr>
        <p:txBody>
          <a:bodyPr wrap="square" lIns="0" tIns="0" rIns="0" bIns="0" rtlCol="0" anchor="ctr"/>
          <a:lstStyle/>
          <a:p>
            <a:pPr marL="0" indent="0">
              <a:buNone/>
            </a:pPr>
            <a:r>
              <a:rPr lang="en-US" sz="1250" b="1" dirty="0">
                <a:solidFill>
                  <a:srgbClr val="142C86"/>
                </a:solidFill>
                <a:latin typeface="Aptos" pitchFamily="34" charset="0"/>
                <a:ea typeface="Aptos" pitchFamily="34" charset="-122"/>
                <a:cs typeface="Aptos" pitchFamily="34" charset="-120"/>
              </a:rPr>
              <a:t>Not colour alone</a:t>
            </a:r>
            <a:endParaRPr lang="en-US" sz="1250" dirty="0"/>
          </a:p>
          <a:p>
            <a:pPr marL="0" indent="0">
              <a:buNone/>
            </a:pPr>
            <a:r>
              <a:rPr lang="en-US" sz="1100" dirty="0">
                <a:solidFill>
                  <a:srgbClr val="5E6373"/>
                </a:solidFill>
                <a:latin typeface="Aptos" pitchFamily="34" charset="0"/>
                <a:ea typeface="Aptos" pitchFamily="34" charset="-122"/>
                <a:cs typeface="Aptos" pitchFamily="34" charset="-120"/>
              </a:rPr>
              <a:t>icon + word + °C</a:t>
            </a:r>
            <a:endParaRPr lang="en-US" sz="1250" dirty="0"/>
          </a:p>
        </p:txBody>
      </p:sp>
      <p:sp>
        <p:nvSpPr>
          <p:cNvPr id="21" name="Shape 15"/>
          <p:cNvSpPr/>
          <p:nvPr/>
        </p:nvSpPr>
        <p:spPr>
          <a:xfrm>
            <a:off x="8046720" y="5707291"/>
            <a:ext cx="457200" cy="457200"/>
          </a:xfrm>
          <a:prstGeom prst="ellipse">
            <a:avLst/>
          </a:prstGeom>
          <a:solidFill>
            <a:srgbClr val="ECEBFF"/>
          </a:solidFill>
          <a:ln w="12700">
            <a:solidFill>
              <a:srgbClr val="ECEBFF"/>
            </a:solidFill>
            <a:prstDash val="solid"/>
          </a:ln>
        </p:spPr>
        <p:txBody>
          <a:bodyPr/>
          <a:lstStyle/>
          <a:p>
            <a:endParaRPr lang="en-IE"/>
          </a:p>
        </p:txBody>
      </p:sp>
      <p:pic>
        <p:nvPicPr>
          <p:cNvPr id="22" name="Image 4" descr="preencoded.png"/>
          <p:cNvPicPr>
            <a:picLocks noChangeAspect="1"/>
          </p:cNvPicPr>
          <p:nvPr/>
        </p:nvPicPr>
        <p:blipFill>
          <a:blip r:embed="rId7"/>
          <a:stretch>
            <a:fillRect/>
          </a:stretch>
        </p:blipFill>
        <p:spPr>
          <a:xfrm>
            <a:off x="8165592" y="5826163"/>
            <a:ext cx="219456" cy="219456"/>
          </a:xfrm>
          <a:prstGeom prst="rect">
            <a:avLst/>
          </a:prstGeom>
        </p:spPr>
      </p:pic>
      <p:sp>
        <p:nvSpPr>
          <p:cNvPr id="23" name="Text 16"/>
          <p:cNvSpPr txBox="1"/>
          <p:nvPr/>
        </p:nvSpPr>
        <p:spPr>
          <a:xfrm>
            <a:off x="8577072" y="5494564"/>
            <a:ext cx="1124712" cy="882654"/>
          </a:xfrm>
          <a:prstGeom prst="rect">
            <a:avLst/>
          </a:prstGeom>
          <a:noFill/>
          <a:ln/>
        </p:spPr>
        <p:txBody>
          <a:bodyPr wrap="square" lIns="0" tIns="0" rIns="0" bIns="0" rtlCol="0" anchor="ctr"/>
          <a:lstStyle/>
          <a:p>
            <a:pPr marL="0" indent="0">
              <a:buNone/>
            </a:pPr>
            <a:r>
              <a:rPr lang="en-US" sz="1250" b="1" dirty="0">
                <a:solidFill>
                  <a:srgbClr val="142C86"/>
                </a:solidFill>
                <a:latin typeface="Aptos" pitchFamily="34" charset="0"/>
                <a:ea typeface="Aptos" pitchFamily="34" charset="-122"/>
                <a:cs typeface="Aptos" pitchFamily="34" charset="-120"/>
              </a:rPr>
              <a:t>State-change alerts</a:t>
            </a:r>
            <a:endParaRPr lang="en-US" sz="1250" dirty="0"/>
          </a:p>
          <a:p>
            <a:pPr marL="0" indent="0">
              <a:buNone/>
            </a:pPr>
            <a:r>
              <a:rPr lang="en-US" sz="1100" dirty="0">
                <a:solidFill>
                  <a:srgbClr val="5E6373"/>
                </a:solidFill>
                <a:latin typeface="Aptos" pitchFamily="34" charset="0"/>
                <a:ea typeface="Aptos" pitchFamily="34" charset="-122"/>
                <a:cs typeface="Aptos" pitchFamily="34" charset="-120"/>
              </a:rPr>
              <a:t>warning → urgent</a:t>
            </a:r>
            <a:endParaRPr lang="en-US" sz="1250" dirty="0"/>
          </a:p>
        </p:txBody>
      </p:sp>
      <p:sp>
        <p:nvSpPr>
          <p:cNvPr id="24" name="Shape 17"/>
          <p:cNvSpPr/>
          <p:nvPr/>
        </p:nvSpPr>
        <p:spPr>
          <a:xfrm>
            <a:off x="9738360" y="5707291"/>
            <a:ext cx="457200" cy="457200"/>
          </a:xfrm>
          <a:prstGeom prst="ellipse">
            <a:avLst/>
          </a:prstGeom>
          <a:solidFill>
            <a:srgbClr val="ECEBFF"/>
          </a:solidFill>
          <a:ln w="12700">
            <a:solidFill>
              <a:srgbClr val="ECEBFF"/>
            </a:solidFill>
            <a:prstDash val="solid"/>
          </a:ln>
        </p:spPr>
        <p:txBody>
          <a:bodyPr/>
          <a:lstStyle/>
          <a:p>
            <a:endParaRPr lang="en-IE"/>
          </a:p>
        </p:txBody>
      </p:sp>
      <p:pic>
        <p:nvPicPr>
          <p:cNvPr id="25" name="Image 5" descr="preencoded.png"/>
          <p:cNvPicPr>
            <a:picLocks noChangeAspect="1"/>
          </p:cNvPicPr>
          <p:nvPr/>
        </p:nvPicPr>
        <p:blipFill>
          <a:blip r:embed="rId8"/>
          <a:stretch>
            <a:fillRect/>
          </a:stretch>
        </p:blipFill>
        <p:spPr>
          <a:xfrm>
            <a:off x="9857232" y="5826163"/>
            <a:ext cx="219456" cy="219456"/>
          </a:xfrm>
          <a:prstGeom prst="rect">
            <a:avLst/>
          </a:prstGeom>
        </p:spPr>
      </p:pic>
      <p:sp>
        <p:nvSpPr>
          <p:cNvPr id="26" name="Text 18"/>
          <p:cNvSpPr txBox="1"/>
          <p:nvPr/>
        </p:nvSpPr>
        <p:spPr>
          <a:xfrm>
            <a:off x="10268712" y="5494564"/>
            <a:ext cx="1124712" cy="882654"/>
          </a:xfrm>
          <a:prstGeom prst="rect">
            <a:avLst/>
          </a:prstGeom>
          <a:noFill/>
          <a:ln/>
        </p:spPr>
        <p:txBody>
          <a:bodyPr wrap="square" lIns="0" tIns="0" rIns="0" bIns="0" rtlCol="0" anchor="ctr"/>
          <a:lstStyle/>
          <a:p>
            <a:pPr marL="0" indent="0">
              <a:buNone/>
            </a:pPr>
            <a:r>
              <a:rPr lang="en-US" sz="1250" b="1" dirty="0">
                <a:solidFill>
                  <a:srgbClr val="142C86"/>
                </a:solidFill>
                <a:latin typeface="Aptos" pitchFamily="34" charset="0"/>
                <a:ea typeface="Aptos" pitchFamily="34" charset="-122"/>
                <a:cs typeface="Aptos" pitchFamily="34" charset="-120"/>
              </a:rPr>
              <a:t>Recorded observations</a:t>
            </a:r>
            <a:endParaRPr lang="en-US" sz="1250" dirty="0"/>
          </a:p>
          <a:p>
            <a:pPr marL="0" indent="0">
              <a:buNone/>
            </a:pPr>
            <a:r>
              <a:rPr lang="en-US" sz="1100" dirty="0">
                <a:solidFill>
                  <a:srgbClr val="5E6373"/>
                </a:solidFill>
                <a:latin typeface="Aptos" pitchFamily="34" charset="0"/>
                <a:ea typeface="Aptos" pitchFamily="34" charset="-122"/>
                <a:cs typeface="Aptos" pitchFamily="34" charset="-120"/>
              </a:rPr>
              <a:t>gaps shown · estimates optional</a:t>
            </a:r>
            <a:endParaRPr lang="en-US" sz="12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7" grpId="0" animBg="1"/>
      <p:bldP spid="18" grpId="0" animBg="1"/>
      <p:bldP spid="20" grpId="0" animBg="1"/>
      <p:bldP spid="21" grpId="0" animBg="1"/>
      <p:bldP spid="23" grpId="0" animBg="1"/>
      <p:bldP spid="24" grpId="0" animBg="1"/>
      <p:bldP spid="2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8890">
          <a:solidFill>
            <a:srgbClr val="FFFFFF"/>
          </a:solidFill>
          <a:prstDash val="solid"/>
        </a:ln>
        <a:effectLst>
          <a:outerShdw blurRad="25400" dist="50800" dir="2700000" algn="bl" rotWithShape="0">
            <a:srgbClr val="B7AACD">
              <a:alpha val="28000"/>
            </a:srgbClr>
          </a:outerShdw>
        </a:effectLst>
      </a:spPr>
      <a:bodyP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900</Words>
  <Application>Microsoft Office PowerPoint</Application>
  <PresentationFormat>Widescreen</PresentationFormat>
  <Paragraphs>105</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TempSafe – Problem &amp; Idea</dc:title>
  <dc:subject>TempSafe editable slide</dc:subject>
  <dc:creator>OpenAI</dc:creator>
  <cp:lastModifiedBy>Hanna Bokariuk</cp:lastModifiedBy>
  <cp:revision>6</cp:revision>
  <dcterms:created xsi:type="dcterms:W3CDTF">2026-10-05T21:06:14Z</dcterms:created>
  <dcterms:modified xsi:type="dcterms:W3CDTF">2026-10-09T08:33:30Z</dcterms:modified>
</cp:coreProperties>
</file>