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8"/>
  </p:notesMasterIdLst>
  <p:sldIdLst>
    <p:sldId id="260" r:id="rId3"/>
    <p:sldId id="256" r:id="rId4"/>
    <p:sldId id="257" r:id="rId5"/>
    <p:sldId id="259"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527"/>
    <p:restoredTop sz="94610"/>
  </p:normalViewPr>
  <p:slideViewPr>
    <p:cSldViewPr snapToGrid="0" snapToObjects="1">
      <p:cViewPr varScale="1">
        <p:scale>
          <a:sx n="121" d="100"/>
          <a:sy n="121" d="100"/>
        </p:scale>
        <p:origin x="2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75892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2425243"/>
      </p:ext>
    </p:extLst>
  </p:cSld>
  <p:clrMap bg1="lt1" tx1="dk1" bg2="lt2" tx2="dk2" accent1="accent1" accent2="accent2" accent3="accent3" accent4="accent4" accent5="accent5" accent6="accent6" hlink="hlink" folHlink="folHlink"/>
  <p:sldLayoutIdLst>
    <p:sldLayoutId id="214748365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FF"/>
        </a:solidFill>
        <a:effectLst/>
      </p:bgPr>
    </p:bg>
    <p:spTree>
      <p:nvGrpSpPr>
        <p:cNvPr id="1" name=""/>
        <p:cNvGrpSpPr/>
        <p:nvPr/>
      </p:nvGrpSpPr>
      <p:grpSpPr>
        <a:xfrm>
          <a:off x="0" y="0"/>
          <a:ext cx="0" cy="0"/>
          <a:chOff x="0" y="0"/>
          <a:chExt cx="0" cy="0"/>
        </a:xfrm>
      </p:grpSpPr>
      <p:sp>
        <p:nvSpPr>
          <p:cNvPr id="2" name="Shape 0"/>
          <p:cNvSpPr/>
          <p:nvPr/>
        </p:nvSpPr>
        <p:spPr>
          <a:xfrm>
            <a:off x="345949" y="283464"/>
            <a:ext cx="11500104" cy="6217920"/>
          </a:xfrm>
          <a:prstGeom prst="roundRect">
            <a:avLst>
              <a:gd name="adj" fmla="val 2222"/>
            </a:avLst>
          </a:prstGeom>
          <a:solidFill>
            <a:srgbClr val="FFFFFF"/>
          </a:solidFill>
          <a:ln w="889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Shape 2"/>
          <p:cNvSpPr/>
          <p:nvPr/>
        </p:nvSpPr>
        <p:spPr>
          <a:xfrm>
            <a:off x="7461227" y="438912"/>
            <a:ext cx="4170218" cy="548640"/>
          </a:xfrm>
          <a:prstGeom prst="roundRect">
            <a:avLst>
              <a:gd name="adj" fmla="val 22222"/>
            </a:avLst>
          </a:prstGeom>
          <a:solidFill>
            <a:srgbClr val="F8F6FE"/>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 name="Text 3"/>
          <p:cNvSpPr/>
          <p:nvPr/>
        </p:nvSpPr>
        <p:spPr>
          <a:xfrm>
            <a:off x="9262872" y="518718"/>
            <a:ext cx="566928" cy="182880"/>
          </a:xfrm>
          <a:prstGeom prst="rect">
            <a:avLst/>
          </a:prstGeom>
          <a:noFill/>
          <a:ln/>
        </p:spPr>
        <p:txBody>
          <a:bodyPr wrap="square" lIns="254" tIns="254" rIns="254" bIns="254"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DkIT</a:t>
            </a:r>
            <a:endParaRPr kumimoji="0" lang="en-US" sz="1700" b="0" i="0" u="none" strike="noStrike" kern="1200" cap="none" spc="0" normalizeH="0" baseline="0" noProof="0" dirty="0">
              <a:ln>
                <a:noFill/>
              </a:ln>
              <a:solidFill>
                <a:prstClr val="black"/>
              </a:solidFill>
              <a:effectLst/>
              <a:uLnTx/>
              <a:uFillTx/>
              <a:latin typeface="Aptos"/>
              <a:ea typeface="+mn-ea"/>
              <a:cs typeface="+mn-cs"/>
            </a:endParaRPr>
          </a:p>
        </p:txBody>
      </p:sp>
      <p:sp>
        <p:nvSpPr>
          <p:cNvPr id="6" name="Text 4"/>
          <p:cNvSpPr/>
          <p:nvPr/>
        </p:nvSpPr>
        <p:spPr>
          <a:xfrm>
            <a:off x="7737645" y="534319"/>
            <a:ext cx="3617382" cy="507562"/>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Dundalk Institute of Technology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8" name="Text 6"/>
          <p:cNvSpPr/>
          <p:nvPr/>
        </p:nvSpPr>
        <p:spPr>
          <a:xfrm>
            <a:off x="2738628" y="1202921"/>
            <a:ext cx="5806440" cy="256032"/>
          </a:xfrm>
          <a:prstGeom prst="rect">
            <a:avLst/>
          </a:prstGeom>
          <a:noFill/>
          <a:ln/>
        </p:spPr>
        <p:txBody>
          <a:bodyPr wrap="square" lIns="254" tIns="254" rIns="254" bIns="254"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7A6"/>
                </a:solidFill>
                <a:effectLst/>
                <a:uLnTx/>
                <a:uFillTx/>
                <a:latin typeface="Aptos" pitchFamily="34" charset="0"/>
                <a:ea typeface="Aptos" pitchFamily="34" charset="-122"/>
                <a:cs typeface="Aptos" pitchFamily="34" charset="-120"/>
              </a:rPr>
              <a:t>Smart Temperature Monitoring for a Controlled Drug Box</a:t>
            </a:r>
            <a:endParaRPr kumimoji="0" lang="en-US"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Shape 7"/>
          <p:cNvSpPr/>
          <p:nvPr/>
        </p:nvSpPr>
        <p:spPr>
          <a:xfrm>
            <a:off x="4100251" y="436949"/>
            <a:ext cx="2761489" cy="546034"/>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Text 8"/>
          <p:cNvSpPr/>
          <p:nvPr/>
        </p:nvSpPr>
        <p:spPr>
          <a:xfrm>
            <a:off x="4480559" y="533731"/>
            <a:ext cx="2041468" cy="34375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Team: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Smart box</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1" name="Shape 9"/>
          <p:cNvSpPr/>
          <p:nvPr/>
        </p:nvSpPr>
        <p:spPr>
          <a:xfrm>
            <a:off x="713231" y="1770215"/>
            <a:ext cx="3497255"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12" name="Shape 10"/>
          <p:cNvSpPr/>
          <p:nvPr/>
        </p:nvSpPr>
        <p:spPr>
          <a:xfrm>
            <a:off x="812815" y="1787118"/>
            <a:ext cx="1381745" cy="2043796"/>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Text 12"/>
          <p:cNvSpPr/>
          <p:nvPr/>
        </p:nvSpPr>
        <p:spPr>
          <a:xfrm>
            <a:off x="2194559" y="2283659"/>
            <a:ext cx="1920239" cy="888953"/>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Nikita Smiichyk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15" name="Text 13"/>
          <p:cNvSpPr/>
          <p:nvPr/>
        </p:nvSpPr>
        <p:spPr>
          <a:xfrm>
            <a:off x="2180012" y="3320866"/>
            <a:ext cx="1920239"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Backend/Database, Testing</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6" name="Shape 14"/>
          <p:cNvSpPr/>
          <p:nvPr/>
        </p:nvSpPr>
        <p:spPr>
          <a:xfrm>
            <a:off x="941832" y="3878650"/>
            <a:ext cx="3158420" cy="2541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7" name="Text 15"/>
          <p:cNvSpPr/>
          <p:nvPr/>
        </p:nvSpPr>
        <p:spPr>
          <a:xfrm>
            <a:off x="877640" y="3948660"/>
            <a:ext cx="3130989" cy="212563"/>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1</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Shape 16"/>
          <p:cNvSpPr/>
          <p:nvPr/>
        </p:nvSpPr>
        <p:spPr>
          <a:xfrm>
            <a:off x="4342801" y="1778310"/>
            <a:ext cx="3320103"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19" name="Shape 17"/>
          <p:cNvSpPr/>
          <p:nvPr/>
        </p:nvSpPr>
        <p:spPr>
          <a:xfrm>
            <a:off x="4434743" y="1809011"/>
            <a:ext cx="1472868" cy="2007104"/>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1" name="Text 19"/>
          <p:cNvSpPr/>
          <p:nvPr/>
        </p:nvSpPr>
        <p:spPr>
          <a:xfrm>
            <a:off x="5850903" y="2368296"/>
            <a:ext cx="1812001" cy="621791"/>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Hanna Bokariuk</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2" name="Text 20"/>
          <p:cNvSpPr/>
          <p:nvPr/>
        </p:nvSpPr>
        <p:spPr>
          <a:xfrm>
            <a:off x="5839039" y="3335662"/>
            <a:ext cx="1781381" cy="365759"/>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Hardware</a:t>
            </a:r>
            <a:r>
              <a:rPr kumimoji="0" lang="ru-RU"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  </a:t>
            </a: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Shape 21"/>
          <p:cNvSpPr/>
          <p:nvPr/>
        </p:nvSpPr>
        <p:spPr>
          <a:xfrm flipV="1">
            <a:off x="4480559" y="3878650"/>
            <a:ext cx="2980667" cy="4798"/>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4" name="Text 22"/>
          <p:cNvSpPr/>
          <p:nvPr/>
        </p:nvSpPr>
        <p:spPr>
          <a:xfrm>
            <a:off x="4676972" y="3980290"/>
            <a:ext cx="2651760" cy="146304"/>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2</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3"/>
          <p:cNvSpPr/>
          <p:nvPr/>
        </p:nvSpPr>
        <p:spPr>
          <a:xfrm>
            <a:off x="7844964" y="1772436"/>
            <a:ext cx="3651538" cy="2473452"/>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Shape 24"/>
          <p:cNvSpPr/>
          <p:nvPr/>
        </p:nvSpPr>
        <p:spPr>
          <a:xfrm>
            <a:off x="7881466" y="1814970"/>
            <a:ext cx="1481329" cy="1984087"/>
          </a:xfrm>
          <a:prstGeom prst="ellipse">
            <a:avLst/>
          </a:prstGeom>
          <a:solidFill>
            <a:srgbClr val="FFFFFF"/>
          </a:solidFill>
          <a:ln w="1778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28" name="Text 26"/>
          <p:cNvSpPr/>
          <p:nvPr/>
        </p:nvSpPr>
        <p:spPr>
          <a:xfrm>
            <a:off x="9221723" y="2178591"/>
            <a:ext cx="2018971" cy="1209226"/>
          </a:xfrm>
          <a:prstGeom prst="rect">
            <a:avLst/>
          </a:prstGeom>
          <a:noFill/>
          <a:ln/>
        </p:spPr>
        <p:txBody>
          <a:bodyPr wrap="square" lIns="254" tIns="254" rIns="254" bIns="254" rtlCol="0" anchor="ctr">
            <a:normAutofit/>
          </a:bodyPr>
          <a:lstStyle/>
          <a:p>
            <a:pPr marL="457200" marR="0" lvl="1"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Maryna Hordiienko</a:t>
            </a:r>
            <a:endParaRPr kumimoji="0" lang="en-US" sz="2400" b="0" i="0" u="none" strike="noStrike" kern="1200" cap="none" spc="0" normalizeH="0" baseline="0" noProof="0" dirty="0">
              <a:ln>
                <a:noFill/>
              </a:ln>
              <a:solidFill>
                <a:prstClr val="black"/>
              </a:solidFill>
              <a:effectLst/>
              <a:uLnTx/>
              <a:uFillTx/>
              <a:latin typeface="Aptos"/>
              <a:ea typeface="+mn-ea"/>
              <a:cs typeface="+mn-cs"/>
            </a:endParaRPr>
          </a:p>
        </p:txBody>
      </p:sp>
      <p:sp>
        <p:nvSpPr>
          <p:cNvPr id="29" name="Text 27"/>
          <p:cNvSpPr/>
          <p:nvPr/>
        </p:nvSpPr>
        <p:spPr>
          <a:xfrm>
            <a:off x="9592056" y="3318614"/>
            <a:ext cx="1883664" cy="365760"/>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Front-End, UI/UX/UD</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30" name="Shape 28"/>
          <p:cNvSpPr/>
          <p:nvPr/>
        </p:nvSpPr>
        <p:spPr>
          <a:xfrm>
            <a:off x="7903031" y="3864067"/>
            <a:ext cx="3493839" cy="29026"/>
          </a:xfrm>
          <a:prstGeom prst="line">
            <a:avLst/>
          </a:prstGeom>
          <a:noFill/>
          <a:ln w="762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1" name="Text 29"/>
          <p:cNvSpPr/>
          <p:nvPr/>
        </p:nvSpPr>
        <p:spPr>
          <a:xfrm>
            <a:off x="7776826" y="3966245"/>
            <a:ext cx="3533030" cy="175987"/>
          </a:xfrm>
          <a:prstGeom prst="rect">
            <a:avLst/>
          </a:prstGeom>
          <a:noFill/>
          <a:ln/>
        </p:spPr>
        <p:txBody>
          <a:bodyPr wrap="square" lIns="254" tIns="254" rIns="254" bIns="254"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Team member 3</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pPr marL="0" marR="0" lvl="0" indent="0"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GROUP</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IE" sz="1600" b="0" i="0" u="none" strike="noStrike" kern="1200" cap="none" spc="0" normalizeH="0" baseline="0" noProof="0" dirty="0">
                <a:ln>
                  <a:noFill/>
                </a:ln>
                <a:solidFill>
                  <a:srgbClr val="53617A"/>
                </a:solidFill>
                <a:effectLst/>
                <a:uLnTx/>
                <a:uFillTx/>
                <a:latin typeface="Aptos" pitchFamily="34" charset="0"/>
                <a:ea typeface="+mn-ea"/>
                <a:cs typeface="+mn-cs"/>
              </a:rPr>
              <a:t>Sd3a</a:t>
            </a:r>
            <a:endParaRPr kumimoji="0" lang="en-US" sz="1600" b="0" i="0" u="none" strike="noStrike" kern="1200" cap="none" spc="0" normalizeH="0" baseline="0" noProof="0" dirty="0">
              <a:ln>
                <a:noFill/>
              </a:ln>
              <a:solidFill>
                <a:prstClr val="black"/>
              </a:solidFill>
              <a:effectLst/>
              <a:uLnTx/>
              <a:uFillTx/>
              <a:latin typeface="Aptos"/>
              <a:ea typeface="+mn-ea"/>
              <a:cs typeface="+mn-cs"/>
            </a:endParaRPr>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COURSE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BSc (Hons) Computing in</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Software Development</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ASSESSMENT THEME</a:t>
            </a:r>
            <a:endParaRPr kumimoji="0" lang="en-US" sz="900" b="0" i="0" u="none" strike="noStrike" kern="1200" cap="none" spc="0" normalizeH="0" baseline="0" noProof="0" dirty="0">
              <a:ln>
                <a:noFill/>
              </a:ln>
              <a:solidFill>
                <a:prstClr val="black"/>
              </a:solidFill>
              <a:effectLst/>
              <a:uLnTx/>
              <a:uFillTx/>
              <a:latin typeface="Aptos"/>
              <a:ea typeface="+mn-ea"/>
              <a:cs typeface="+mn-cs"/>
            </a:endParaRPr>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Smart Temperature Monitoring for</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1340" b="0" i="0" u="none" strike="noStrike" kern="1200" cap="none" spc="0" normalizeH="0" baseline="0" noProof="0" dirty="0">
                <a:ln>
                  <a:noFill/>
                </a:ln>
                <a:solidFill>
                  <a:srgbClr val="53617A"/>
                </a:solidFill>
                <a:effectLst/>
                <a:uLnTx/>
                <a:uFillTx/>
                <a:latin typeface="Aptos" pitchFamily="34" charset="0"/>
                <a:ea typeface="Aptos" pitchFamily="34" charset="-122"/>
                <a:cs typeface="Aptos" pitchFamily="34" charset="-120"/>
              </a:rPr>
              <a:t>a Controlled Drug Box</a:t>
            </a:r>
            <a:endParaRPr kumimoji="0" lang="en-US" sz="1340" b="0" i="0" u="none" strike="noStrike" kern="1200" cap="none" spc="0" normalizeH="0" baseline="0" noProof="0" dirty="0">
              <a:ln>
                <a:noFill/>
              </a:ln>
              <a:solidFill>
                <a:prstClr val="black"/>
              </a:solidFill>
              <a:effectLst/>
              <a:uLnTx/>
              <a:uFillTx/>
              <a:latin typeface="Aptos"/>
              <a:ea typeface="+mn-ea"/>
              <a:cs typeface="+mn-cs"/>
            </a:endParaRPr>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sp>
        <p:nvSpPr>
          <p:cNvPr id="42" name="Text 40"/>
          <p:cNvSpPr/>
          <p:nvPr/>
        </p:nvSpPr>
        <p:spPr>
          <a:xfrm>
            <a:off x="975842" y="6093203"/>
            <a:ext cx="640080" cy="11887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60" b="1"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MODULE</a:t>
            </a:r>
            <a:endParaRPr kumimoji="0" lang="en-US" sz="860" b="0" i="0" u="none" strike="noStrike" kern="1200" cap="none" spc="0" normalizeH="0" baseline="0" noProof="0" dirty="0">
              <a:ln>
                <a:noFill/>
              </a:ln>
              <a:solidFill>
                <a:prstClr val="black"/>
              </a:solidFill>
              <a:effectLst/>
              <a:uLnTx/>
              <a:uFillTx/>
              <a:latin typeface="Aptos"/>
              <a:ea typeface="+mn-ea"/>
              <a:cs typeface="+mn-cs"/>
            </a:endParaRPr>
          </a:p>
        </p:txBody>
      </p:sp>
      <p:sp>
        <p:nvSpPr>
          <p:cNvPr id="43" name="Text 41"/>
          <p:cNvSpPr/>
          <p:nvPr/>
        </p:nvSpPr>
        <p:spPr>
          <a:xfrm>
            <a:off x="1901952" y="6044184"/>
            <a:ext cx="3337560" cy="210312"/>
          </a:xfrm>
          <a:prstGeom prst="rect">
            <a:avLst/>
          </a:prstGeom>
          <a:noFill/>
          <a:ln/>
        </p:spPr>
        <p:txBody>
          <a:bodyPr wrap="square" lIns="254" tIns="254" rIns="254" bIns="254"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2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Universal Design Project</a:t>
            </a:r>
            <a:endParaRPr kumimoji="0" lang="en-US" sz="1520" b="0" i="0" u="none" strike="noStrike" kern="1200" cap="none" spc="0" normalizeH="0" baseline="0" noProof="0" dirty="0">
              <a:ln>
                <a:noFill/>
              </a:ln>
              <a:solidFill>
                <a:prstClr val="black"/>
              </a:solidFill>
              <a:effectLst/>
              <a:uLnTx/>
              <a:uFillTx/>
              <a:latin typeface="Aptos"/>
              <a:ea typeface="+mn-ea"/>
              <a:cs typeface="+mn-cs"/>
            </a:endParaRPr>
          </a:p>
        </p:txBody>
      </p:sp>
      <p:sp>
        <p:nvSpPr>
          <p:cNvPr id="44" name="Text 42"/>
          <p:cNvSpPr/>
          <p:nvPr/>
        </p:nvSpPr>
        <p:spPr>
          <a:xfrm>
            <a:off x="10086453" y="6034030"/>
            <a:ext cx="886347" cy="210312"/>
          </a:xfrm>
          <a:prstGeom prst="rect">
            <a:avLst/>
          </a:prstGeom>
          <a:noFill/>
          <a:ln/>
        </p:spPr>
        <p:txBody>
          <a:bodyPr wrap="square" lIns="254" tIns="254" rIns="254" bIns="254"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758198"/>
                </a:solidFill>
                <a:effectLst/>
                <a:uLnTx/>
                <a:uFillTx/>
                <a:latin typeface="Aptos" pitchFamily="34" charset="0"/>
                <a:ea typeface="Aptos" pitchFamily="34" charset="-122"/>
                <a:cs typeface="Aptos" pitchFamily="34" charset="-120"/>
              </a:rPr>
              <a:t>09/10/2026</a:t>
            </a:r>
            <a:endParaRPr kumimoji="0" lang="en-US" sz="1150" b="0" i="0" u="none" strike="noStrike" kern="1200" cap="none" spc="0" normalizeH="0" baseline="0" noProof="0" dirty="0">
              <a:ln>
                <a:noFill/>
              </a:ln>
              <a:solidFill>
                <a:prstClr val="black"/>
              </a:solidFill>
              <a:effectLst/>
              <a:uLnTx/>
              <a:uFillTx/>
              <a:latin typeface="Aptos"/>
              <a:ea typeface="+mn-ea"/>
              <a:cs typeface="+mn-cs"/>
            </a:endParaRPr>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a:ln>
                <a:noFill/>
              </a:ln>
              <a:solidFill>
                <a:prstClr val="black"/>
              </a:solidFill>
              <a:effectLst/>
              <a:uLnTx/>
              <a:uFillTx/>
              <a:latin typeface="Aptos"/>
              <a:ea typeface="+mn-ea"/>
              <a:cs typeface="+mn-cs"/>
            </a:endParaRPr>
          </a:p>
        </p:txBody>
      </p:sp>
      <p:pic>
        <p:nvPicPr>
          <p:cNvPr id="47" name="Picture 46">
            <a:extLst>
              <a:ext uri="{FF2B5EF4-FFF2-40B4-BE49-F238E27FC236}">
                <a16:creationId xmlns:a16="http://schemas.microsoft.com/office/drawing/2014/main" id="{3E8DA742-7331-1CE7-DB6C-96EB7B267FBE}"/>
              </a:ext>
            </a:extLst>
          </p:cNvPr>
          <p:cNvPicPr>
            <a:picLocks noChangeAspect="1"/>
          </p:cNvPicPr>
          <p:nvPr/>
        </p:nvPicPr>
        <p:blipFill>
          <a:blip r:embed="rId3"/>
          <a:stretch>
            <a:fillRect/>
          </a:stretch>
        </p:blipFill>
        <p:spPr>
          <a:xfrm>
            <a:off x="8194685" y="2018839"/>
            <a:ext cx="932948" cy="1658574"/>
          </a:xfrm>
          <a:prstGeom prst="rect">
            <a:avLst/>
          </a:prstGeom>
          <a:effectLst>
            <a:softEdge rad="63500"/>
          </a:effectLst>
        </p:spPr>
      </p:pic>
      <p:pic>
        <p:nvPicPr>
          <p:cNvPr id="51" name="Picture 50">
            <a:extLst>
              <a:ext uri="{FF2B5EF4-FFF2-40B4-BE49-F238E27FC236}">
                <a16:creationId xmlns:a16="http://schemas.microsoft.com/office/drawing/2014/main" id="{839B47B3-859B-B5F3-7353-D96C9996B338}"/>
              </a:ext>
            </a:extLst>
          </p:cNvPr>
          <p:cNvPicPr>
            <a:picLocks noChangeAspect="1"/>
          </p:cNvPicPr>
          <p:nvPr/>
        </p:nvPicPr>
        <p:blipFill>
          <a:blip r:embed="rId4"/>
          <a:stretch>
            <a:fillRect/>
          </a:stretch>
        </p:blipFill>
        <p:spPr>
          <a:xfrm>
            <a:off x="4734399" y="2035648"/>
            <a:ext cx="972325" cy="1650978"/>
          </a:xfrm>
          <a:prstGeom prst="rect">
            <a:avLst/>
          </a:prstGeom>
          <a:effectLst>
            <a:softEdge rad="63500"/>
          </a:effectLst>
        </p:spPr>
      </p:pic>
      <p:sp>
        <p:nvSpPr>
          <p:cNvPr id="53" name="Shape 7">
            <a:extLst>
              <a:ext uri="{FF2B5EF4-FFF2-40B4-BE49-F238E27FC236}">
                <a16:creationId xmlns:a16="http://schemas.microsoft.com/office/drawing/2014/main" id="{FFEA8D85-73A5-58CF-8233-C89E1596AD89}"/>
              </a:ext>
            </a:extLst>
          </p:cNvPr>
          <p:cNvSpPr/>
          <p:nvPr/>
        </p:nvSpPr>
        <p:spPr>
          <a:xfrm>
            <a:off x="633965" y="438912"/>
            <a:ext cx="2987059" cy="548640"/>
          </a:xfrm>
          <a:prstGeom prst="roundRect">
            <a:avLst>
              <a:gd name="adj" fmla="val 42857"/>
            </a:avLst>
          </a:prstGeom>
          <a:solidFill>
            <a:srgbClr val="ECE9FB"/>
          </a:solidFill>
          <a:ln w="10160">
            <a:solidFill>
              <a:srgbClr val="DAD3EF"/>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E" sz="1800" b="0" i="0" u="none" strike="noStrike" kern="1200" cap="none" spc="0" normalizeH="0" baseline="0" noProof="0" dirty="0">
              <a:ln>
                <a:noFill/>
              </a:ln>
              <a:solidFill>
                <a:prstClr val="black"/>
              </a:solidFill>
              <a:effectLst/>
              <a:uLnTx/>
              <a:uFillTx/>
              <a:latin typeface="Aptos"/>
              <a:ea typeface="+mn-ea"/>
              <a:cs typeface="+mn-cs"/>
            </a:endParaRPr>
          </a:p>
        </p:txBody>
      </p:sp>
      <p:sp>
        <p:nvSpPr>
          <p:cNvPr id="54" name="Text 8">
            <a:extLst>
              <a:ext uri="{FF2B5EF4-FFF2-40B4-BE49-F238E27FC236}">
                <a16:creationId xmlns:a16="http://schemas.microsoft.com/office/drawing/2014/main" id="{F662F7B4-D230-A756-54BF-36F899ED1EB6}"/>
              </a:ext>
            </a:extLst>
          </p:cNvPr>
          <p:cNvSpPr/>
          <p:nvPr/>
        </p:nvSpPr>
        <p:spPr>
          <a:xfrm>
            <a:off x="1190527" y="511537"/>
            <a:ext cx="2041468" cy="380122"/>
          </a:xfrm>
          <a:prstGeom prst="rect">
            <a:avLst/>
          </a:prstGeom>
          <a:noFill/>
          <a:ln/>
        </p:spPr>
        <p:txBody>
          <a:bodyPr wrap="square" lIns="254" tIns="254" rIns="254" bIns="254"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App: </a:t>
            </a:r>
            <a:r>
              <a:rPr kumimoji="0" lang="en-US" sz="2000" b="0" i="0" u="none" strike="noStrike" kern="1200" cap="none" spc="0" normalizeH="0" baseline="0" noProof="0" dirty="0">
                <a:ln>
                  <a:noFill/>
                </a:ln>
                <a:solidFill>
                  <a:srgbClr val="143A9D"/>
                </a:solidFill>
                <a:effectLst/>
                <a:uLnTx/>
                <a:uFillTx/>
                <a:latin typeface="Aptos" pitchFamily="34" charset="0"/>
                <a:ea typeface="Aptos" pitchFamily="34" charset="-122"/>
                <a:cs typeface="Aptos" pitchFamily="34" charset="-120"/>
              </a:rPr>
              <a:t>TempSafe</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3" name="Picture 12">
            <a:extLst>
              <a:ext uri="{FF2B5EF4-FFF2-40B4-BE49-F238E27FC236}">
                <a16:creationId xmlns:a16="http://schemas.microsoft.com/office/drawing/2014/main" id="{2A2F1614-3928-E6A8-30CD-6AD0AD3A05C1}"/>
              </a:ext>
            </a:extLst>
          </p:cNvPr>
          <p:cNvPicPr>
            <a:picLocks noChangeAspect="1"/>
          </p:cNvPicPr>
          <p:nvPr/>
        </p:nvPicPr>
        <p:blipFill>
          <a:blip r:embed="rId5"/>
          <a:stretch>
            <a:fillRect/>
          </a:stretch>
        </p:blipFill>
        <p:spPr>
          <a:xfrm>
            <a:off x="1112897" y="2004653"/>
            <a:ext cx="880775" cy="1596544"/>
          </a:xfrm>
          <a:prstGeom prst="rect">
            <a:avLst/>
          </a:prstGeom>
          <a:effectLst>
            <a:softEdge rad="6350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1225" y="98503"/>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21891" y="419816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5" name="Text 12"/>
            <p:cNvSpPr/>
            <p:nvPr/>
          </p:nvSpPr>
          <p:spPr>
            <a:xfrm>
              <a:off x="681522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423160" cy="1691640"/>
            <a:chOff x="9400032" y="4040241"/>
            <a:chExt cx="242316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00499" y="4179617"/>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1" y="4790223"/>
              <a:ext cx="2240281"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Check the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A</a:t>
            </a:r>
            <a:r>
              <a:rPr sz="1650" b="1" dirty="0" err="1">
                <a:solidFill>
                  <a:srgbClr val="182D86"/>
                </a:solidFill>
                <a:latin typeface="Arial"/>
                <a:ea typeface="Arial"/>
                <a:cs typeface="Arial"/>
              </a:rPr>
              <a:t>pplication</a:t>
            </a:r>
            <a:endParaRPr sz="1650" b="1" dirty="0">
              <a:solidFill>
                <a:srgbClr val="182D86"/>
              </a:solidFill>
              <a:latin typeface="Arial"/>
              <a:ea typeface="Arial"/>
              <a:cs typeface="Arial"/>
            </a:endParaRP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Early UI concepts: optional summaries; red LED wording superseded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54FFD8F9-D07A-4A27-AAE1-D9C6D1D32800}"/>
              </a:ext>
            </a:extLst>
          </p:cNvPr>
          <p:cNvSpPr>
            <a:spLocks noGrp="1"/>
          </p:cNvSpPr>
          <p:nvPr/>
        </p:nvSpPr>
        <p:spPr>
          <a:xfrm>
            <a:off x="109728" y="91440"/>
            <a:ext cx="11969496" cy="6675120"/>
          </a:xfrm>
          <a:prstGeom prst="roundRect">
            <a:avLst>
              <a:gd name="adj" fmla="val 1712"/>
            </a:avLst>
          </a:prstGeom>
          <a:solidFill>
            <a:srgbClr val="FFFFFF"/>
          </a:solidFill>
          <a:ln w="12668">
            <a:solidFill>
              <a:srgbClr val="E3DDF0"/>
            </a:solidFill>
          </a:ln>
        </p:spPr>
        <p:txBody>
          <a:bodyPr/>
          <a:lstStyle/>
          <a:p>
            <a:endParaRPr lang="en-IE"/>
          </a:p>
        </p:txBody>
      </p:sp>
      <p:sp>
        <p:nvSpPr>
          <p:cNvPr id="2" name="Brand">
            <a:extLst>
              <a:ext uri="{FF2B5EF4-FFF2-40B4-BE49-F238E27FC236}">
                <a16:creationId xmlns:a16="http://schemas.microsoft.com/office/drawing/2014/main" id="{E2A86228-6B54-4D27-892B-E5ED2828B8BA}"/>
              </a:ext>
            </a:extLst>
          </p:cNvPr>
          <p:cNvSpPr>
            <a:spLocks noGrp="1"/>
          </p:cNvSpPr>
          <p:nvPr/>
        </p:nvSpPr>
        <p:spPr>
          <a:xfrm>
            <a:off x="1333500" y="1323975"/>
            <a:ext cx="9525000" cy="457200"/>
          </a:xfrm>
          <a:prstGeom prst="rect">
            <a:avLst/>
          </a:prstGeom>
          <a:noFill/>
          <a:ln w="0">
            <a:noFill/>
          </a:ln>
        </p:spPr>
        <p:txBody>
          <a:bodyPr anchor="ctr"/>
          <a:lstStyle>
            <a:defPPr algn="ctr">
              <a:defRPr lang="en-GB" sz="2250" b="1">
                <a:solidFill>
                  <a:srgbClr val="7B6FA8"/>
                </a:solidFill>
                <a:latin typeface="Aptos Display"/>
              </a:defRPr>
            </a:defPPr>
          </a:lstStyle>
          <a:p>
            <a:pPr algn="ctr">
              <a:defRPr lang="en-GB" sz="2250" b="1">
                <a:solidFill>
                  <a:srgbClr val="7B6FA8"/>
                </a:solidFill>
                <a:latin typeface="Aptos Display"/>
              </a:defRPr>
            </a:pPr>
            <a:r>
              <a:rPr lang="en-GB" sz="2250" b="1">
                <a:solidFill>
                  <a:srgbClr val="7B6FA8"/>
                </a:solidFill>
                <a:latin typeface="Aptos Display"/>
              </a:rPr>
              <a:t>TempSafe</a:t>
            </a:r>
          </a:p>
        </p:txBody>
      </p:sp>
      <p:sp>
        <p:nvSpPr>
          <p:cNvPr id="3" name="Thank you">
            <a:extLst>
              <a:ext uri="{FF2B5EF4-FFF2-40B4-BE49-F238E27FC236}">
                <a16:creationId xmlns:a16="http://schemas.microsoft.com/office/drawing/2014/main" id="{665B4FB2-C55F-4976-A6B7-51C5B2B06E12}"/>
              </a:ext>
            </a:extLst>
          </p:cNvPr>
          <p:cNvSpPr>
            <a:spLocks noGrp="1"/>
          </p:cNvSpPr>
          <p:nvPr/>
        </p:nvSpPr>
        <p:spPr>
          <a:xfrm>
            <a:off x="1143000" y="2209800"/>
            <a:ext cx="9906000" cy="1638300"/>
          </a:xfrm>
          <a:prstGeom prst="rect">
            <a:avLst/>
          </a:prstGeom>
          <a:noFill/>
          <a:ln w="0">
            <a:noFill/>
          </a:ln>
        </p:spPr>
        <p:txBody>
          <a:bodyPr anchor="ctr"/>
          <a:lstStyle>
            <a:defPPr algn="ctr">
              <a:defRPr lang="en-GB" sz="5100" b="1">
                <a:solidFill>
                  <a:srgbClr val="142C86"/>
                </a:solidFill>
                <a:latin typeface="Aptos Display"/>
              </a:defRPr>
            </a:defPPr>
          </a:lstStyle>
          <a:p>
            <a:pPr algn="ctr">
              <a:defRPr lang="en-GB" sz="5100" b="1">
                <a:solidFill>
                  <a:srgbClr val="142C86"/>
                </a:solidFill>
                <a:latin typeface="Aptos Display"/>
              </a:defRPr>
            </a:pPr>
            <a:r>
              <a:rPr lang="en-GB" sz="5100" b="1">
                <a:solidFill>
                  <a:srgbClr val="142C86"/>
                </a:solidFill>
                <a:latin typeface="Aptos Display"/>
              </a:rPr>
              <a:t>Thank you for</a:t>
            </a:r>
          </a:p>
          <a:p>
            <a:pPr algn="ctr">
              <a:defRPr lang="en-GB" sz="5100" b="1">
                <a:solidFill>
                  <a:srgbClr val="142C86"/>
                </a:solidFill>
                <a:latin typeface="Aptos Display"/>
              </a:defRPr>
            </a:pPr>
            <a:r>
              <a:rPr lang="en-GB" sz="5100" b="1">
                <a:solidFill>
                  <a:srgbClr val="142C86"/>
                </a:solidFill>
                <a:latin typeface="Aptos Display"/>
              </a:rPr>
              <a:t>your attention</a:t>
            </a:r>
          </a:p>
        </p:txBody>
      </p:sp>
      <p:sp>
        <p:nvSpPr>
          <p:cNvPr id="4" name="Questions">
            <a:extLst>
              <a:ext uri="{FF2B5EF4-FFF2-40B4-BE49-F238E27FC236}">
                <a16:creationId xmlns:a16="http://schemas.microsoft.com/office/drawing/2014/main" id="{6BA01AB6-26EF-45DD-8071-791BC100B912}"/>
              </a:ext>
            </a:extLst>
          </p:cNvPr>
          <p:cNvSpPr>
            <a:spLocks noGrp="1"/>
          </p:cNvSpPr>
          <p:nvPr/>
        </p:nvSpPr>
        <p:spPr>
          <a:xfrm>
            <a:off x="1905000" y="4324350"/>
            <a:ext cx="8382000" cy="542925"/>
          </a:xfrm>
          <a:prstGeom prst="rect">
            <a:avLst/>
          </a:prstGeom>
          <a:noFill/>
          <a:ln w="0">
            <a:noFill/>
          </a:ln>
        </p:spPr>
        <p:txBody>
          <a:bodyPr anchor="ctr"/>
          <a:lstStyle>
            <a:defPPr algn="ctr">
              <a:defRPr lang="en-GB" sz="2550" b="1">
                <a:solidFill>
                  <a:srgbClr val="1D3D9C"/>
                </a:solidFill>
                <a:latin typeface="Aptos"/>
              </a:defRPr>
            </a:defPPr>
          </a:lstStyle>
          <a:p>
            <a:pPr algn="ctr">
              <a:defRPr lang="en-GB" sz="2550" b="1">
                <a:solidFill>
                  <a:srgbClr val="1D3D9C"/>
                </a:solidFill>
                <a:latin typeface="Aptos"/>
              </a:defRPr>
            </a:pPr>
            <a:r>
              <a:rPr lang="en-GB" sz="2550" b="1">
                <a:solidFill>
                  <a:srgbClr val="1D3D9C"/>
                </a:solidFill>
                <a:latin typeface="Aptos"/>
              </a:rPr>
              <a:t>Any questions?</a:t>
            </a:r>
          </a:p>
        </p:txBody>
      </p:sp>
      <p:sp>
        <p:nvSpPr>
          <p:cNvPr id="5" name="Invitation">
            <a:extLst>
              <a:ext uri="{FF2B5EF4-FFF2-40B4-BE49-F238E27FC236}">
                <a16:creationId xmlns:a16="http://schemas.microsoft.com/office/drawing/2014/main" id="{22D2E916-FE63-4445-BE90-23EB325E5F22}"/>
              </a:ext>
            </a:extLst>
          </p:cNvPr>
          <p:cNvSpPr>
            <a:spLocks noGrp="1"/>
          </p:cNvSpPr>
          <p:nvPr/>
        </p:nvSpPr>
        <p:spPr>
          <a:xfrm>
            <a:off x="1905000" y="4924425"/>
            <a:ext cx="8382000" cy="428625"/>
          </a:xfrm>
          <a:prstGeom prst="rect">
            <a:avLst/>
          </a:prstGeom>
          <a:noFill/>
          <a:ln w="0">
            <a:noFill/>
          </a:ln>
        </p:spPr>
        <p:txBody>
          <a:bodyPr anchor="ctr"/>
          <a:lstStyle>
            <a:defPPr algn="ctr">
              <a:defRPr lang="en-GB" sz="1800" b="0">
                <a:solidFill>
                  <a:srgbClr val="5E6373"/>
                </a:solidFill>
                <a:latin typeface="Aptos"/>
              </a:defRPr>
            </a:defPPr>
          </a:lstStyle>
          <a:p>
            <a:pPr algn="ctr">
              <a:defRPr lang="en-GB" sz="1800" b="0">
                <a:solidFill>
                  <a:srgbClr val="5E6373"/>
                </a:solidFill>
                <a:latin typeface="Aptos"/>
              </a:defRPr>
            </a:pPr>
            <a:r>
              <a:rPr lang="en-GB" sz="1800" b="0">
                <a:solidFill>
                  <a:srgbClr val="5E6373"/>
                </a:solidFill>
                <a:latin typeface="Aptos"/>
              </a:rPr>
              <a:t>We’re happy to answer them.</a:t>
            </a:r>
          </a:p>
        </p:txBody>
      </p:sp>
    </p:spTree>
    <p:extLst>
      <p:ext uri="{BB962C8B-B14F-4D97-AF65-F5344CB8AC3E}">
        <p14:creationId xmlns:p14="http://schemas.microsoft.com/office/powerpoint/2010/main" val="11559917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TotalTime>
  <Words>915</Words>
  <Application>Microsoft Macintosh PowerPoint</Application>
  <PresentationFormat>Widescreen</PresentationFormat>
  <Paragraphs>110</Paragraphs>
  <Slides>5</Slides>
  <Notes>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5</vt:i4>
      </vt:variant>
    </vt:vector>
  </HeadingPairs>
  <TitlesOfParts>
    <vt:vector size="10" baseType="lpstr">
      <vt:lpstr>Aptos</vt:lpstr>
      <vt:lpstr>Aptos Display</vt:lpstr>
      <vt:lpstr>Arial</vt:lpstr>
      <vt:lpstr>Office Theme</vt:lpstr>
      <vt:lpstr>1_Office Theme</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Nikita Smiichyk</cp:lastModifiedBy>
  <cp:revision>7</cp:revision>
  <dcterms:created xsi:type="dcterms:W3CDTF">2026-10-05T21:06:14Z</dcterms:created>
  <dcterms:modified xsi:type="dcterms:W3CDTF">2026-10-09T12:59:13Z</dcterms:modified>
</cp:coreProperties>
</file>